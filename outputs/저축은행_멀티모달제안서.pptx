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4" r:id="rId8"/>
    <p:sldId id="266" r:id="rId9"/>
    <p:sldId id="265" r:id="rId10"/>
    <p:sldId id="263" r:id="rId11"/>
    <p:sldId id="262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7316"/>
    <a:srgbClr val="10B981"/>
    <a:srgbClr val="8B5CF6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80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25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 userDrawn="1"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2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2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0" Type="http://schemas.openxmlformats.org/officeDocument/2006/relationships/image" Target="../media/image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5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2095805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17" r="-217"/>
          <a:stretch/>
        </p:blipFill>
        <p:spPr>
          <a:xfrm>
            <a:off x="952805" y="759866"/>
            <a:ext cx="952805" cy="758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805" y="1217066"/>
            <a:ext cx="10458907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35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</a:t>
            </a:r>
            <a:r>
              <a:rPr lang="en-US" sz="5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상담 솔루션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35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r>
              <a:rPr lang="en-US" sz="5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제안서 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952805" y="5784494"/>
            <a:ext cx="10287000" cy="91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52805" y="6098134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6365138"/>
            <a:ext cx="162123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2026. 03. 10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093769"/>
            <a:ext cx="1039489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저축은행 대출 상담 혁신을 위한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멀티모달 플랫폼 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02025"/>
            <a:ext cx="45153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프로젝트 개요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31729" y="247802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j-ea"/>
                <a:ea typeface="+mj-ea"/>
                <a:cs typeface="Noto Sans KR" pitchFamily="34" charset="-120"/>
              </a:rPr>
              <a:t>PROJECT OVERVIEW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631729" y="400507"/>
            <a:ext cx="1181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01</a:t>
            </a:r>
            <a:endParaRPr lang="en-US" sz="1800" dirty="0">
              <a:latin typeface="+mj-ea"/>
              <a:ea typeface="+mj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저축은행 대출 상담 멀티모달 솔루션 구축의 목적, 범위, 비전 및 핵심 성과 지표</a:t>
            </a:r>
            <a:endParaRPr lang="en-US" sz="1300" b="1" dirty="0">
              <a:latin typeface="+mj-ea"/>
              <a:ea typeface="+mj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1305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1305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51" y="2095805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90549" y="2052828"/>
            <a:ext cx="185897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구축 목적 (Purpose)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29107" y="2533802"/>
            <a:ext cx="32671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복잡한 대출 상담 프로세스를 직관적인 시각 정보와 음성 안내로 결합하여, </a:t>
            </a:r>
            <a:r>
              <a:rPr lang="en-US" sz="1000" b="1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저축은행 고객의 대출 편의성</a:t>
            </a:r>
            <a:r>
              <a:rPr lang="en-US" sz="1000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을 극대화합니다.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71754" y="3268980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멀티모달 UI를 통한 대출 조건 비교 용이성 확보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71754" y="3524098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끊김 없는 옴니채널 상담 환경 제공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771754" y="377921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디지털 소외 계층을 위한 쉬운 대출 안내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254703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254703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502506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4616806" y="2095805"/>
            <a:ext cx="190195" cy="1719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63947" y="2052828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수행 범위 (Scope)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4502506" y="2652334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기존 콜 인프라와 최신 AI 기술을 융합하여 대출 상담에 특화된 시스템을 고도화합니다.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4645152" y="3174457"/>
            <a:ext cx="3354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Call Infra:</a:t>
            </a: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 대출 전용 CTI, IVR, 녹취 시스템 연동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4645152" y="3429574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AI Engine:</a:t>
            </a: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 금융 용어 특화 STT/NLU 도입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4645152" y="3684692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Platform:</a:t>
            </a: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 여신 계정계 연동 및 전용 관리 포털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128102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8128102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8375904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8518550" y="2095805"/>
            <a:ext cx="133502" cy="1719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937346" y="2052828"/>
            <a:ext cx="1201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비전 (Vision)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8375904" y="2652334"/>
            <a:ext cx="3305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"Easy &amp; Fast Loan Service"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8375904" y="2942199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 err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ko-KR" altLang="en-US" sz="1000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 서비스를</a:t>
            </a:r>
            <a:r>
              <a:rPr lang="en-US" sz="1000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 통해 대기 시간 없이 한도 조회부터 신청까지 </a:t>
            </a:r>
            <a:r>
              <a:rPr lang="en-US" sz="1000" b="1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완결형 셀프서비스</a:t>
            </a:r>
            <a:r>
              <a:rPr lang="en-US" sz="1000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를 실현합니다.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8518550" y="3464322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고객 주도형 대출 상담 프로세스 정착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8518550" y="3719439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데이터 기반의 맞춤형 금융 상품 추천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590702" y="4693615"/>
            <a:ext cx="11334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핵심 성과 지표 (Key Performance Indicators) </a:t>
            </a:r>
            <a:endParaRPr lang="en-US" sz="1000" dirty="0">
              <a:latin typeface="+mj-ea"/>
              <a:ea typeface="+mj-ea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4727448"/>
            <a:ext cx="133502" cy="133502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381305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36" r="-36"/>
          <a:stretch/>
        </p:blipFill>
        <p:spPr>
          <a:xfrm>
            <a:off x="2229307" y="5896051"/>
            <a:ext cx="952805" cy="76169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201522" y="5457139"/>
            <a:ext cx="10835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대출 상담 포기율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45413" y="5737860"/>
            <a:ext cx="142646" cy="19019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464869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Drop Rate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48" name="Text 39"/>
          <p:cNvSpPr txBox="1"/>
          <p:nvPr/>
        </p:nvSpPr>
        <p:spPr>
          <a:xfrm>
            <a:off x="766267" y="5994806"/>
            <a:ext cx="1951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복잡한 메뉴로 인한 상담 이탈 최소화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3286354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 l="-9" r="-9"/>
          <a:stretch/>
        </p:blipFill>
        <p:spPr>
          <a:xfrm>
            <a:off x="5419649" y="5896051"/>
            <a:ext cx="666598" cy="7616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3973068" y="5457139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평균 처리 시간 (AHT)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9547" y="5737860"/>
            <a:ext cx="142646" cy="1901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369003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Time Cost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3724351" y="5994806"/>
            <a:ext cx="18443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직관적 금리/한도 안내로 시간 단축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6191402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/>
          <a:stretch/>
        </p:blipFill>
        <p:spPr>
          <a:xfrm>
            <a:off x="8229600" y="5896051"/>
            <a:ext cx="761695" cy="76169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180783" y="5457139"/>
            <a:ext cx="739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셀프 완결률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76872" y="5737860"/>
            <a:ext cx="142646" cy="190195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195414" y="5718658"/>
            <a:ext cx="1110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Self-Service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0" name="Text 47"/>
          <p:cNvSpPr txBox="1"/>
          <p:nvPr/>
        </p:nvSpPr>
        <p:spPr>
          <a:xfrm>
            <a:off x="6631229" y="5994806"/>
            <a:ext cx="1843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상담사 연결 없는 단순 조회 자동화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9096451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3">
            <a:alphaModFix amt="5000"/>
          </a:blip>
          <a:srcRect/>
          <a:stretch/>
        </p:blipFill>
        <p:spPr>
          <a:xfrm>
            <a:off x="11134649" y="5896051"/>
            <a:ext cx="761695" cy="76169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982505" y="5457139"/>
            <a:ext cx="951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심사 전환 효율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908438" y="5737860"/>
            <a:ext cx="142646" cy="19019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10126980" y="5718658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Conversion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6" name="Text 51"/>
          <p:cNvSpPr txBox="1"/>
          <p:nvPr/>
        </p:nvSpPr>
        <p:spPr>
          <a:xfrm>
            <a:off x="9586570" y="5994806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실제 대출 심사 고객 선별적 연결</a:t>
            </a:r>
            <a:endParaRPr 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381305" y="277771"/>
            <a:ext cx="476402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챗봇 &amp; 멀티모달 시스템 구성도</a:t>
            </a:r>
            <a:endParaRPr lang="en-US" sz="24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030691" y="268535"/>
            <a:ext cx="1787015" cy="14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SYSTEM CONFIGURATION</a:t>
            </a:r>
            <a:endParaRPr lang="en-US" sz="9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360152" y="417580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02</a:t>
            </a:r>
            <a:endParaRPr lang="en-US" sz="1800" dirty="0">
              <a:latin typeface="+mn-ea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4D26F56-929E-6F57-CFF2-3013EBDF3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1713F2B5-F8CB-41BC-737A-2B586DE30DB0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Bot Platform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기반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챗봇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및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시스템의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전체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구성도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및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레이어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구조</a:t>
            </a:r>
            <a:endParaRPr lang="en-US" altLang="ko-KR" sz="1300" b="1" dirty="0">
              <a:latin typeface="+mj-ea"/>
              <a:ea typeface="+mj-ea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1722AA9-52EC-0BFA-E251-5400E6CACB44}"/>
              </a:ext>
            </a:extLst>
          </p:cNvPr>
          <p:cNvSpPr/>
          <p:nvPr/>
        </p:nvSpPr>
        <p:spPr>
          <a:xfrm>
            <a:off x="1768124" y="1707920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1B96955-E410-C4F6-C997-294E1C381385}"/>
              </a:ext>
            </a:extLst>
          </p:cNvPr>
          <p:cNvSpPr txBox="1"/>
          <p:nvPr/>
        </p:nvSpPr>
        <p:spPr>
          <a:xfrm>
            <a:off x="463589" y="1927880"/>
            <a:ext cx="93399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1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Channel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9A2448D-C178-13DC-B9CA-2994060B5976}"/>
              </a:ext>
            </a:extLst>
          </p:cNvPr>
          <p:cNvSpPr/>
          <p:nvPr/>
        </p:nvSpPr>
        <p:spPr>
          <a:xfrm>
            <a:off x="1905065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4EEC9E3-BCEA-A545-C29E-E124C01410B3}"/>
              </a:ext>
            </a:extLst>
          </p:cNvPr>
          <p:cNvSpPr txBox="1"/>
          <p:nvPr/>
        </p:nvSpPr>
        <p:spPr>
          <a:xfrm>
            <a:off x="3996085" y="1917022"/>
            <a:ext cx="79458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챗봇 UI (채널)</a:t>
            </a:r>
            <a:endParaRPr lang="en-US" sz="1000" dirty="0">
              <a:latin typeface="+mn-ea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973073CC-055F-62EE-7F00-5C25B185E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3773864" y="1949822"/>
            <a:ext cx="154161" cy="119721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BB19D76C-4B9F-1597-215D-52F75366D142}"/>
              </a:ext>
            </a:extLst>
          </p:cNvPr>
          <p:cNvSpPr/>
          <p:nvPr/>
        </p:nvSpPr>
        <p:spPr>
          <a:xfrm>
            <a:off x="6688173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CB8D7A4-D014-44FB-67EA-6D9DCA4E38CF}"/>
              </a:ext>
            </a:extLst>
          </p:cNvPr>
          <p:cNvSpPr txBox="1"/>
          <p:nvPr/>
        </p:nvSpPr>
        <p:spPr>
          <a:xfrm>
            <a:off x="8638972" y="1917022"/>
            <a:ext cx="103895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멀티모달 UI (채널)</a:t>
            </a:r>
            <a:endParaRPr lang="en-US" sz="1000" dirty="0">
              <a:latin typeface="+mn-ea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8B1A0C8-0ADB-3B74-6715-A57FEE4041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476610" y="1949822"/>
            <a:ext cx="94301" cy="119721"/>
          </a:xfrm>
          <a:prstGeom prst="rect">
            <a:avLst/>
          </a:prstGeom>
        </p:spPr>
      </p:pic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8F9BA725-A543-7988-429C-7332EDC192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2372947"/>
            <a:ext cx="119721" cy="119721"/>
          </a:xfrm>
          <a:prstGeom prst="rect">
            <a:avLst/>
          </a:prstGeom>
        </p:spPr>
      </p:pic>
      <p:sp>
        <p:nvSpPr>
          <p:cNvPr id="18" name="Shape 9">
            <a:extLst>
              <a:ext uri="{FF2B5EF4-FFF2-40B4-BE49-F238E27FC236}">
                <a16:creationId xmlns:a16="http://schemas.microsoft.com/office/drawing/2014/main" id="{07C6753D-962B-C464-0E20-F576C89F5811}"/>
              </a:ext>
            </a:extLst>
          </p:cNvPr>
          <p:cNvSpPr/>
          <p:nvPr/>
        </p:nvSpPr>
        <p:spPr>
          <a:xfrm>
            <a:off x="1768124" y="2559089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8B657FE-E35F-1F91-58C0-63EBCF25364D}"/>
              </a:ext>
            </a:extLst>
          </p:cNvPr>
          <p:cNvSpPr txBox="1"/>
          <p:nvPr/>
        </p:nvSpPr>
        <p:spPr>
          <a:xfrm>
            <a:off x="452064" y="2768191"/>
            <a:ext cx="1207872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2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Bot Platform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38CF7F8F-3375-E15B-DD3A-6D79291EAA5B}"/>
              </a:ext>
            </a:extLst>
          </p:cNvPr>
          <p:cNvSpPr/>
          <p:nvPr/>
        </p:nvSpPr>
        <p:spPr>
          <a:xfrm>
            <a:off x="1905065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A71C89D-628C-775D-0380-9D532769BC5E}"/>
              </a:ext>
            </a:extLst>
          </p:cNvPr>
          <p:cNvSpPr txBox="1"/>
          <p:nvPr/>
        </p:nvSpPr>
        <p:spPr>
          <a:xfrm>
            <a:off x="2276529" y="2768191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Dialog Manager</a:t>
            </a:r>
            <a:endParaRPr lang="en-US" sz="1000" dirty="0">
              <a:latin typeface="+mn-ea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756C23C2-AB12-F3E5-8D22-1E3933D1EB21}"/>
              </a:ext>
            </a:extLst>
          </p:cNvPr>
          <p:cNvSpPr/>
          <p:nvPr/>
        </p:nvSpPr>
        <p:spPr>
          <a:xfrm>
            <a:off x="3818144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82729AF7-C276-79C8-12D9-2F70D0FFC03A}"/>
              </a:ext>
            </a:extLst>
          </p:cNvPr>
          <p:cNvSpPr txBox="1"/>
          <p:nvPr/>
        </p:nvSpPr>
        <p:spPr>
          <a:xfrm>
            <a:off x="4178127" y="2768191"/>
            <a:ext cx="109799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Dialog Designer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A5EC5E05-F456-4813-F0C8-790F5B9BA0DD}"/>
              </a:ext>
            </a:extLst>
          </p:cNvPr>
          <p:cNvSpPr/>
          <p:nvPr/>
        </p:nvSpPr>
        <p:spPr>
          <a:xfrm>
            <a:off x="5732043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637C46A-EA08-0558-415E-5352E8D11825}"/>
              </a:ext>
            </a:extLst>
          </p:cNvPr>
          <p:cNvSpPr txBox="1"/>
          <p:nvPr/>
        </p:nvSpPr>
        <p:spPr>
          <a:xfrm>
            <a:off x="6222408" y="2768191"/>
            <a:ext cx="8339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Service G/W</a:t>
            </a:r>
            <a:endParaRPr lang="en-US" sz="1000" dirty="0">
              <a:latin typeface="+mn-ea"/>
            </a:endParaRP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7376DFD-BE11-5544-E9CE-ABDC0DDD32F5}"/>
              </a:ext>
            </a:extLst>
          </p:cNvPr>
          <p:cNvSpPr/>
          <p:nvPr/>
        </p:nvSpPr>
        <p:spPr>
          <a:xfrm>
            <a:off x="764512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28FFDD7-0136-9A36-E088-CEAB9CDDDDD6}"/>
              </a:ext>
            </a:extLst>
          </p:cNvPr>
          <p:cNvSpPr txBox="1"/>
          <p:nvPr/>
        </p:nvSpPr>
        <p:spPr>
          <a:xfrm>
            <a:off x="8259308" y="2768191"/>
            <a:ext cx="587125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관리 포털</a:t>
            </a:r>
            <a:endParaRPr lang="en-US" sz="1000" dirty="0">
              <a:latin typeface="+mn-ea"/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3E90295-F232-5865-0BA2-CAFF4F8AC482}"/>
              </a:ext>
            </a:extLst>
          </p:cNvPr>
          <p:cNvSpPr/>
          <p:nvPr/>
        </p:nvSpPr>
        <p:spPr>
          <a:xfrm>
            <a:off x="955820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6070DE9-96A8-2D02-92F6-3B4273007574}"/>
              </a:ext>
            </a:extLst>
          </p:cNvPr>
          <p:cNvSpPr txBox="1"/>
          <p:nvPr/>
        </p:nvSpPr>
        <p:spPr>
          <a:xfrm>
            <a:off x="10209288" y="2768191"/>
            <a:ext cx="512505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대시보드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4CA4E2C-1E12-41A6-F475-B441D281E2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223296"/>
            <a:ext cx="119721" cy="119721"/>
          </a:xfrm>
          <a:prstGeom prst="rect">
            <a:avLst/>
          </a:prstGeom>
        </p:spPr>
      </p:pic>
      <p:sp>
        <p:nvSpPr>
          <p:cNvPr id="31" name="Shape 21">
            <a:extLst>
              <a:ext uri="{FF2B5EF4-FFF2-40B4-BE49-F238E27FC236}">
                <a16:creationId xmlns:a16="http://schemas.microsoft.com/office/drawing/2014/main" id="{B7ABBE0A-1C6D-9860-A12D-35C5BEB51C00}"/>
              </a:ext>
            </a:extLst>
          </p:cNvPr>
          <p:cNvSpPr/>
          <p:nvPr/>
        </p:nvSpPr>
        <p:spPr>
          <a:xfrm>
            <a:off x="1768124" y="3409437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4F3D0E6-363C-5AB8-7F7E-37588259365E}"/>
              </a:ext>
            </a:extLst>
          </p:cNvPr>
          <p:cNvSpPr txBox="1"/>
          <p:nvPr/>
        </p:nvSpPr>
        <p:spPr>
          <a:xfrm>
            <a:off x="462500" y="3609147"/>
            <a:ext cx="1481755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3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Voice Gateway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4433306C-1903-1C8F-4FAE-52C11025D11A}"/>
              </a:ext>
            </a:extLst>
          </p:cNvPr>
          <p:cNvSpPr/>
          <p:nvPr/>
        </p:nvSpPr>
        <p:spPr>
          <a:xfrm>
            <a:off x="1905065" y="3486518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5EC5D8DC-B307-8F88-A05E-58C04D355CB2}"/>
              </a:ext>
            </a:extLst>
          </p:cNvPr>
          <p:cNvSpPr txBox="1"/>
          <p:nvPr/>
        </p:nvSpPr>
        <p:spPr>
          <a:xfrm>
            <a:off x="5354839" y="3575899"/>
            <a:ext cx="257236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  <a:latin typeface="+mn-ea"/>
                <a:cs typeface="Noto Sans KR" pitchFamily="34" charset="-120"/>
              </a:rPr>
              <a:t>Open NLU 연계 제어 / 미디어 리소스 처리</a:t>
            </a:r>
            <a:endParaRPr lang="en-US" sz="1000" dirty="0">
              <a:latin typeface="+mn-ea"/>
            </a:endParaRPr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6D591188-80F4-D20F-6717-37A2D16DC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989183"/>
            <a:ext cx="119721" cy="119721"/>
          </a:xfrm>
          <a:prstGeom prst="rect">
            <a:avLst/>
          </a:prstGeom>
        </p:spPr>
      </p:pic>
      <p:sp>
        <p:nvSpPr>
          <p:cNvPr id="36" name="Shape 25">
            <a:extLst>
              <a:ext uri="{FF2B5EF4-FFF2-40B4-BE49-F238E27FC236}">
                <a16:creationId xmlns:a16="http://schemas.microsoft.com/office/drawing/2014/main" id="{07768ADE-BECD-1B6D-D5E5-5F1092D8D00C}"/>
              </a:ext>
            </a:extLst>
          </p:cNvPr>
          <p:cNvSpPr/>
          <p:nvPr/>
        </p:nvSpPr>
        <p:spPr>
          <a:xfrm>
            <a:off x="1768124" y="4175325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68F28A63-8ECE-6992-D8B1-D945F21E9C1B}"/>
              </a:ext>
            </a:extLst>
          </p:cNvPr>
          <p:cNvSpPr txBox="1"/>
          <p:nvPr/>
        </p:nvSpPr>
        <p:spPr>
          <a:xfrm>
            <a:off x="452064" y="4413742"/>
            <a:ext cx="100697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4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 AI Engine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F3DC966E-5E97-65B9-059E-99F5F9B46A9F}"/>
              </a:ext>
            </a:extLst>
          </p:cNvPr>
          <p:cNvSpPr/>
          <p:nvPr/>
        </p:nvSpPr>
        <p:spPr>
          <a:xfrm>
            <a:off x="1905065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433E535A-6739-9D1B-3FE7-0F6244BAAC8C}"/>
              </a:ext>
            </a:extLst>
          </p:cNvPr>
          <p:cNvSpPr txBox="1"/>
          <p:nvPr/>
        </p:nvSpPr>
        <p:spPr>
          <a:xfrm>
            <a:off x="2864474" y="4384427"/>
            <a:ext cx="116933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E75"/>
                </a:solidFill>
                <a:latin typeface="+mn-ea"/>
                <a:cs typeface="Noto Sans KR" pitchFamily="34" charset="-120"/>
              </a:rPr>
              <a:t>STT / TTS Engine</a:t>
            </a:r>
            <a:endParaRPr lang="en-US" sz="1000" dirty="0">
              <a:latin typeface="+mn-ea"/>
            </a:endParaRP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8923930F-DA58-BC67-F6F2-EE0C21BCD5AC}"/>
              </a:ext>
            </a:extLst>
          </p:cNvPr>
          <p:cNvSpPr/>
          <p:nvPr/>
        </p:nvSpPr>
        <p:spPr>
          <a:xfrm>
            <a:off x="5094077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14F72911-F092-2D22-348C-C54533B0D077}"/>
              </a:ext>
            </a:extLst>
          </p:cNvPr>
          <p:cNvSpPr txBox="1"/>
          <p:nvPr/>
        </p:nvSpPr>
        <p:spPr>
          <a:xfrm>
            <a:off x="6064967" y="4384427"/>
            <a:ext cx="115375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E75"/>
                </a:solidFill>
                <a:latin typeface="+mn-ea"/>
                <a:cs typeface="Noto Sans KR" pitchFamily="34" charset="-120"/>
              </a:rPr>
              <a:t>Open NLU Engine</a:t>
            </a:r>
            <a:endParaRPr lang="en-US" sz="1000" dirty="0">
              <a:latin typeface="+mn-ea"/>
            </a:endParaRPr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7A465F73-B794-B45E-262B-62E26E474555}"/>
              </a:ext>
            </a:extLst>
          </p:cNvPr>
          <p:cNvSpPr/>
          <p:nvPr/>
        </p:nvSpPr>
        <p:spPr>
          <a:xfrm>
            <a:off x="8283089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A93C9270-6BC0-6E1C-DF60-44175DCC78DD}"/>
              </a:ext>
            </a:extLst>
          </p:cNvPr>
          <p:cNvSpPr txBox="1"/>
          <p:nvPr/>
        </p:nvSpPr>
        <p:spPr>
          <a:xfrm>
            <a:off x="9190837" y="4384427"/>
            <a:ext cx="1271013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E75"/>
                </a:solidFill>
                <a:latin typeface="+mn-ea"/>
                <a:cs typeface="Noto Sans KR" pitchFamily="34" charset="-120"/>
              </a:rPr>
              <a:t>TA / STS (Analysis)</a:t>
            </a:r>
            <a:endParaRPr lang="en-US" sz="1000" dirty="0">
              <a:latin typeface="+mn-ea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EE04A327-FA5E-3A97-D514-707842C8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4839532"/>
            <a:ext cx="119721" cy="119721"/>
          </a:xfrm>
          <a:prstGeom prst="rect">
            <a:avLst/>
          </a:prstGeom>
        </p:spPr>
      </p:pic>
      <p:sp>
        <p:nvSpPr>
          <p:cNvPr id="45" name="Shape 33">
            <a:extLst>
              <a:ext uri="{FF2B5EF4-FFF2-40B4-BE49-F238E27FC236}">
                <a16:creationId xmlns:a16="http://schemas.microsoft.com/office/drawing/2014/main" id="{141E16DA-90DF-A983-0FA5-F67AAEF0EC52}"/>
              </a:ext>
            </a:extLst>
          </p:cNvPr>
          <p:cNvSpPr/>
          <p:nvPr/>
        </p:nvSpPr>
        <p:spPr>
          <a:xfrm>
            <a:off x="1768124" y="5025674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AB33BC4B-A0BA-8309-B1BA-8EEDA23C3B07}"/>
              </a:ext>
            </a:extLst>
          </p:cNvPr>
          <p:cNvSpPr txBox="1"/>
          <p:nvPr/>
        </p:nvSpPr>
        <p:spPr>
          <a:xfrm>
            <a:off x="461211" y="5260196"/>
            <a:ext cx="1077491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5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Call Infra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ED4A959E-B1F5-7EB3-3D7C-8F39B18228CA}"/>
              </a:ext>
            </a:extLst>
          </p:cNvPr>
          <p:cNvSpPr/>
          <p:nvPr/>
        </p:nvSpPr>
        <p:spPr>
          <a:xfrm>
            <a:off x="1905065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B6923E3F-B422-4688-3198-24B3F6E664AB}"/>
              </a:ext>
            </a:extLst>
          </p:cNvPr>
          <p:cNvSpPr txBox="1"/>
          <p:nvPr/>
        </p:nvSpPr>
        <p:spPr>
          <a:xfrm>
            <a:off x="2404450" y="5234776"/>
            <a:ext cx="8134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PBX (교환기)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7">
            <a:extLst>
              <a:ext uri="{FF2B5EF4-FFF2-40B4-BE49-F238E27FC236}">
                <a16:creationId xmlns:a16="http://schemas.microsoft.com/office/drawing/2014/main" id="{BDB0A0B5-C89E-0771-3273-6D0FDC038829}"/>
              </a:ext>
            </a:extLst>
          </p:cNvPr>
          <p:cNvSpPr/>
          <p:nvPr/>
        </p:nvSpPr>
        <p:spPr>
          <a:xfrm>
            <a:off x="3818144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B06E0FA1-98AC-272A-E5A4-44CA6C36D900}"/>
              </a:ext>
            </a:extLst>
          </p:cNvPr>
          <p:cNvSpPr txBox="1"/>
          <p:nvPr/>
        </p:nvSpPr>
        <p:spPr>
          <a:xfrm>
            <a:off x="4278169" y="5234776"/>
            <a:ext cx="894629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CTI (미들웨어)</a:t>
            </a:r>
            <a:endParaRPr lang="en-US" sz="1000" dirty="0">
              <a:latin typeface="+mn-ea"/>
            </a:endParaRPr>
          </a:p>
        </p:txBody>
      </p:sp>
      <p:sp>
        <p:nvSpPr>
          <p:cNvPr id="51" name="Shape 39">
            <a:extLst>
              <a:ext uri="{FF2B5EF4-FFF2-40B4-BE49-F238E27FC236}">
                <a16:creationId xmlns:a16="http://schemas.microsoft.com/office/drawing/2014/main" id="{71CDB710-CB28-8E86-4FB8-3E84E47D351F}"/>
              </a:ext>
            </a:extLst>
          </p:cNvPr>
          <p:cNvSpPr/>
          <p:nvPr/>
        </p:nvSpPr>
        <p:spPr>
          <a:xfrm>
            <a:off x="5732043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DD51D306-96E2-B70B-E521-DF3CD82ED38F}"/>
              </a:ext>
            </a:extLst>
          </p:cNvPr>
          <p:cNvSpPr txBox="1"/>
          <p:nvPr/>
        </p:nvSpPr>
        <p:spPr>
          <a:xfrm>
            <a:off x="6124007" y="5234776"/>
            <a:ext cx="102665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IVR (응답시스템)</a:t>
            </a:r>
            <a:endParaRPr lang="en-US" sz="1000" dirty="0">
              <a:latin typeface="+mn-ea"/>
            </a:endParaRPr>
          </a:p>
        </p:txBody>
      </p:sp>
      <p:sp>
        <p:nvSpPr>
          <p:cNvPr id="53" name="Shape 41">
            <a:extLst>
              <a:ext uri="{FF2B5EF4-FFF2-40B4-BE49-F238E27FC236}">
                <a16:creationId xmlns:a16="http://schemas.microsoft.com/office/drawing/2014/main" id="{20A12BEE-9130-8C61-D697-E36B2D37876F}"/>
              </a:ext>
            </a:extLst>
          </p:cNvPr>
          <p:cNvSpPr/>
          <p:nvPr/>
        </p:nvSpPr>
        <p:spPr>
          <a:xfrm>
            <a:off x="764512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0EBB7A20-E51D-D3B3-CD66-77475A2F0A57}"/>
              </a:ext>
            </a:extLst>
          </p:cNvPr>
          <p:cNvSpPr txBox="1"/>
          <p:nvPr/>
        </p:nvSpPr>
        <p:spPr>
          <a:xfrm>
            <a:off x="8015766" y="5234776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PDS (아웃바운드)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9E29749E-3C74-0263-C157-1C9BCF8DDD7A}"/>
              </a:ext>
            </a:extLst>
          </p:cNvPr>
          <p:cNvSpPr/>
          <p:nvPr/>
        </p:nvSpPr>
        <p:spPr>
          <a:xfrm>
            <a:off x="955820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275B6DC9-141E-E22E-F968-2333C98C510C}"/>
              </a:ext>
            </a:extLst>
          </p:cNvPr>
          <p:cNvSpPr txBox="1"/>
          <p:nvPr/>
        </p:nvSpPr>
        <p:spPr>
          <a:xfrm>
            <a:off x="10123187" y="5234776"/>
            <a:ext cx="68142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REC (녹취)</a:t>
            </a:r>
            <a:endParaRPr lang="en-US" sz="1000" dirty="0">
              <a:latin typeface="+mn-ea"/>
            </a:endParaRPr>
          </a:p>
        </p:txBody>
      </p:sp>
      <p:pic>
        <p:nvPicPr>
          <p:cNvPr id="57" name="Image 6" descr="preencoded.png">
            <a:extLst>
              <a:ext uri="{FF2B5EF4-FFF2-40B4-BE49-F238E27FC236}">
                <a16:creationId xmlns:a16="http://schemas.microsoft.com/office/drawing/2014/main" id="{AAD77228-4680-EC4F-06F4-39FF2F4C19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5690700"/>
            <a:ext cx="119721" cy="119721"/>
          </a:xfrm>
          <a:prstGeom prst="rect">
            <a:avLst/>
          </a:prstGeom>
        </p:spPr>
      </p:pic>
      <p:sp>
        <p:nvSpPr>
          <p:cNvPr id="58" name="Shape 45">
            <a:extLst>
              <a:ext uri="{FF2B5EF4-FFF2-40B4-BE49-F238E27FC236}">
                <a16:creationId xmlns:a16="http://schemas.microsoft.com/office/drawing/2014/main" id="{333EB1BF-38F0-B4BE-26F6-FF94468EF90D}"/>
              </a:ext>
            </a:extLst>
          </p:cNvPr>
          <p:cNvSpPr/>
          <p:nvPr/>
        </p:nvSpPr>
        <p:spPr>
          <a:xfrm>
            <a:off x="1768124" y="5876842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6E0F9E0F-0A18-1EE7-0B50-02932E7059C4}"/>
              </a:ext>
            </a:extLst>
          </p:cNvPr>
          <p:cNvSpPr txBox="1"/>
          <p:nvPr/>
        </p:nvSpPr>
        <p:spPr>
          <a:xfrm>
            <a:off x="461211" y="6056918"/>
            <a:ext cx="1464534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6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Legacy System I/F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60" name="Shape 47">
            <a:extLst>
              <a:ext uri="{FF2B5EF4-FFF2-40B4-BE49-F238E27FC236}">
                <a16:creationId xmlns:a16="http://schemas.microsoft.com/office/drawing/2014/main" id="{DA9D5409-F01F-B8C5-B419-0B431425858B}"/>
              </a:ext>
            </a:extLst>
          </p:cNvPr>
          <p:cNvSpPr/>
          <p:nvPr/>
        </p:nvSpPr>
        <p:spPr>
          <a:xfrm>
            <a:off x="1905065" y="5953102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F3F4F6"/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F55702D6-4648-C1C1-F001-BE061EE028FD}"/>
              </a:ext>
            </a:extLst>
          </p:cNvPr>
          <p:cNvSpPr txBox="1"/>
          <p:nvPr/>
        </p:nvSpPr>
        <p:spPr>
          <a:xfrm>
            <a:off x="5119497" y="6043303"/>
            <a:ext cx="303977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기간계 시스템 연동 / 대외계 인터페이스 (EAI/FEP)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921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81305" y="1714500"/>
            <a:ext cx="11430000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85387" y="1962302"/>
            <a:ext cx="4839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대출 상담 메시지 플로우 (Service Message Flow)</a:t>
            </a:r>
            <a:endParaRPr lang="en-US" sz="1500" dirty="0">
              <a:latin typeface="+mn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2014423"/>
            <a:ext cx="190195" cy="19019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152144" y="2723998"/>
            <a:ext cx="9887407" cy="384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048" y="3954780"/>
            <a:ext cx="4305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주요 연계 포인트 (Key Integration Points)</a:t>
            </a:r>
            <a:endParaRPr lang="en-US" sz="1500" dirty="0">
              <a:latin typeface="+mn-ea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4006901"/>
            <a:ext cx="237744" cy="1901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1305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81305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580644" y="458388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Bot Platform ↔ MCP</a:t>
            </a:r>
            <a:endParaRPr lang="en-US" sz="1200" dirty="0">
              <a:latin typeface="+mn-ea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80644" y="4869180"/>
            <a:ext cx="790956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580644" y="4869180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REST / gRPC</a:t>
            </a:r>
            <a:endParaRPr lang="en-US" sz="800" dirty="0">
              <a:latin typeface="+mn-ea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580644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대출 시나리오 제어 및 미디어 리소스 요청 처리, 실시간 상태 동기화</a:t>
            </a:r>
            <a:endParaRPr lang="en-US" sz="1000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286354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3286354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3486607" y="4583887"/>
            <a:ext cx="2129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MCP ↔ AI Engine</a:t>
            </a:r>
            <a:endParaRPr lang="en-US" sz="1200" dirty="0">
              <a:latin typeface="+mn-ea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486607" y="4869180"/>
            <a:ext cx="819302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3486607" y="4869180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MRCP / gRPC</a:t>
            </a:r>
            <a:endParaRPr lang="en-US" sz="800" dirty="0">
              <a:latin typeface="+mn-ea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3486607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음성 데이터 스트리밍(STT) 및 합성음 생성 요청(TTS), NLU 분석</a:t>
            </a:r>
            <a:endParaRPr lang="en-US" sz="1000" dirty="0">
              <a:latin typeface="+mn-ea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191402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191402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391656" y="4583887"/>
            <a:ext cx="1451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Call Infra ↔ MCP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391656" y="4869180"/>
            <a:ext cx="629107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391656" y="4869180"/>
            <a:ext cx="6858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SIP / RTP</a:t>
            </a:r>
            <a:endParaRPr lang="en-US" sz="800" dirty="0">
              <a:latin typeface="+mn-ea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6391656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표준 SIP 프로토콜을 통한 호 제어 및 음성 패킷(RTP) 송수신 처리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9096451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9096451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9296705" y="4583887"/>
            <a:ext cx="1663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Platform ↔ Legacy</a:t>
            </a:r>
            <a:endParaRPr lang="en-US" sz="1200" dirty="0">
              <a:latin typeface="+mn-ea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9296705" y="4869180"/>
            <a:ext cx="619049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 txBox="1"/>
          <p:nvPr/>
        </p:nvSpPr>
        <p:spPr>
          <a:xfrm>
            <a:off x="9296705" y="4869180"/>
            <a:ext cx="6766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REST API</a:t>
            </a:r>
            <a:endParaRPr lang="en-US" sz="800" dirty="0">
              <a:latin typeface="+mn-ea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9296705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식별, 대출 한도/금리 조회, 심사 결과 업데이트를 위한 API 연동</a:t>
            </a:r>
            <a:endParaRPr lang="en-US" sz="1000" dirty="0">
              <a:latin typeface="+mn-ea"/>
            </a:endParaRPr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046" y="2438705"/>
            <a:ext cx="571500" cy="571500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242670" y="2609698"/>
            <a:ext cx="200254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18642" y="3105302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대출 문의</a:t>
            </a:r>
            <a:endParaRPr lang="en-US" sz="1000" dirty="0">
              <a:latin typeface="+mn-ea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919886" y="3297326"/>
            <a:ext cx="853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음성/터치 입력</a:t>
            </a:r>
            <a:endParaRPr lang="en-US" sz="900" dirty="0">
              <a:latin typeface="+mn-ea"/>
            </a:endParaRPr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58084" y="2438705"/>
            <a:ext cx="571500" cy="571500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158338" y="2609698"/>
            <a:ext cx="171907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2937967" y="3105302"/>
            <a:ext cx="6172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STT 변환</a:t>
            </a:r>
            <a:endParaRPr lang="en-US" sz="1000" dirty="0">
              <a:latin typeface="+mn-ea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2776118" y="3297326"/>
            <a:ext cx="9409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Speech to Text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0036" y="2438705"/>
            <a:ext cx="571500" cy="571500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31029" y="2609698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820717" y="3105302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의도 파악</a:t>
            </a:r>
            <a:endParaRPr lang="en-US" sz="1000" dirty="0">
              <a:latin typeface="+mn-ea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4766767" y="3297326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NLU/DM 엔진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1074" y="2438705"/>
            <a:ext cx="571500" cy="571500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32066" y="2609698"/>
            <a:ext cx="228600" cy="22860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719011" y="3105302"/>
            <a:ext cx="6556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심사/조회</a:t>
            </a:r>
            <a:endParaRPr lang="en-US" sz="1000" dirty="0">
              <a:latin typeface="+mn-ea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6685178" y="3297326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Legacy 연동</a:t>
            </a:r>
            <a:endParaRPr lang="en-US" sz="900" dirty="0">
              <a:latin typeface="+mn-ea"/>
            </a:endParaRPr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2111" y="2438705"/>
            <a:ext cx="571500" cy="571500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3104" y="2609698"/>
            <a:ext cx="228600" cy="2286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622792" y="3105302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응답 생성</a:t>
            </a:r>
            <a:endParaRPr lang="en-US" sz="1000" dirty="0">
              <a:latin typeface="+mn-ea"/>
            </a:endParaRPr>
          </a:p>
        </p:txBody>
      </p:sp>
      <p:sp>
        <p:nvSpPr>
          <p:cNvPr id="57" name="Text 42"/>
          <p:cNvSpPr txBox="1"/>
          <p:nvPr/>
        </p:nvSpPr>
        <p:spPr>
          <a:xfrm>
            <a:off x="8631022" y="3297326"/>
            <a:ext cx="6400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NLG + TTS</a:t>
            </a:r>
            <a:endParaRPr lang="en-US" sz="900" dirty="0">
              <a:latin typeface="+mn-ea"/>
            </a:endParaRPr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63149" y="2438705"/>
            <a:ext cx="571500" cy="571500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10763402" y="2609698"/>
            <a:ext cx="171907" cy="2286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10383012" y="3105302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멀티모달 출력</a:t>
            </a:r>
            <a:endParaRPr lang="en-US" sz="1000" dirty="0">
              <a:latin typeface="+mn-ea"/>
            </a:endParaRPr>
          </a:p>
        </p:txBody>
      </p:sp>
      <p:sp>
        <p:nvSpPr>
          <p:cNvPr id="61" name="Text 44"/>
          <p:cNvSpPr txBox="1"/>
          <p:nvPr/>
        </p:nvSpPr>
        <p:spPr>
          <a:xfrm>
            <a:off x="10506456" y="3297326"/>
            <a:ext cx="689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음성 + 화면</a:t>
            </a:r>
            <a:endParaRPr lang="en-US" sz="900" dirty="0">
              <a:latin typeface="+mn-ea"/>
            </a:endParaRPr>
          </a:p>
        </p:txBody>
      </p:sp>
      <p:sp>
        <p:nvSpPr>
          <p:cNvPr id="63" name="Text 46"/>
          <p:cNvSpPr txBox="1"/>
          <p:nvPr/>
        </p:nvSpPr>
        <p:spPr>
          <a:xfrm>
            <a:off x="381305" y="297730"/>
            <a:ext cx="4877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멀티모달</a:t>
            </a:r>
            <a:r>
              <a:rPr 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아키텍처 상세 연계 구조</a:t>
            </a:r>
            <a:endParaRPr lang="en-US" sz="2400" dirty="0">
              <a:latin typeface="+mn-ea"/>
            </a:endParaRPr>
          </a:p>
        </p:txBody>
      </p:sp>
      <p:sp>
        <p:nvSpPr>
          <p:cNvPr id="64" name="Text 47"/>
          <p:cNvSpPr txBox="1"/>
          <p:nvPr/>
        </p:nvSpPr>
        <p:spPr>
          <a:xfrm>
            <a:off x="10462565" y="261246"/>
            <a:ext cx="1354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ARCHITECTURE DETAIL</a:t>
            </a:r>
            <a:endParaRPr lang="en-US" sz="900" dirty="0">
              <a:latin typeface="+mn-ea"/>
            </a:endParaRPr>
          </a:p>
        </p:txBody>
      </p:sp>
      <p:sp>
        <p:nvSpPr>
          <p:cNvPr id="65" name="Text 48"/>
          <p:cNvSpPr txBox="1"/>
          <p:nvPr/>
        </p:nvSpPr>
        <p:spPr>
          <a:xfrm>
            <a:off x="10472623" y="413036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03</a:t>
            </a:r>
            <a:endParaRPr lang="en-US" sz="1800" dirty="0">
              <a:latin typeface="+mn-ea"/>
            </a:endParaRPr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561DFDB6-AFAB-230C-D67C-E5008EB1167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9" name="Text 8">
            <a:extLst>
              <a:ext uri="{FF2B5EF4-FFF2-40B4-BE49-F238E27FC236}">
                <a16:creationId xmlns:a16="http://schemas.microsoft.com/office/drawing/2014/main" id="{3EEE5491-2127-4B15-7969-190BB82F64F1}"/>
              </a:ext>
            </a:extLst>
          </p:cNvPr>
          <p:cNvSpPr txBox="1"/>
          <p:nvPr/>
        </p:nvSpPr>
        <p:spPr>
          <a:xfrm>
            <a:off x="562355" y="1095451"/>
            <a:ext cx="75564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채널부터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레거시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시스템까지의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계층별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연계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구조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및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대출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상담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메시지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처리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흐름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F35C04D9-396F-4992-24D4-EF2584EC2ED8}"/>
              </a:ext>
            </a:extLst>
          </p:cNvPr>
          <p:cNvSpPr txBox="1"/>
          <p:nvPr/>
        </p:nvSpPr>
        <p:spPr>
          <a:xfrm>
            <a:off x="9249156" y="408488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MCP</a:t>
            </a:r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: </a:t>
            </a:r>
            <a:r>
              <a:rPr lang="en-US" altLang="ko-KR" sz="1200" dirty="0">
                <a:latin typeface="+mn-ea"/>
              </a:rPr>
              <a:t>Media Control Platform</a:t>
            </a:r>
            <a:endParaRPr lang="en-US" sz="12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276060"/>
            <a:ext cx="540684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보이는 ARS vs 멀티모달 상담 비교</a:t>
            </a:r>
            <a:endParaRPr lang="en-US" sz="24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95660" y="258048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COMPARISON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95660" y="409838"/>
            <a:ext cx="819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04</a:t>
            </a:r>
            <a:endParaRPr lang="en-US" sz="1800" dirty="0">
              <a:latin typeface="+mn-ea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2794406" y="6278633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2918765" y="6392933"/>
            <a:ext cx="133502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290011" y="6297835"/>
            <a:ext cx="1286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고객 조작 부담</a:t>
            </a:r>
            <a:endParaRPr lang="en-US" sz="900" dirty="0">
              <a:latin typeface="+mn-ea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3290011" y="6450540"/>
            <a:ext cx="14173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최소화 (Voice First)</a:t>
            </a:r>
            <a:endParaRPr lang="en-US" sz="1000" dirty="0">
              <a:latin typeface="+mn-ea"/>
            </a:endParaRPr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rcRect t="-2127" b="-2127"/>
          <a:stretch/>
        </p:blipFill>
        <p:spPr>
          <a:xfrm>
            <a:off x="4853635" y="6278633"/>
            <a:ext cx="9144" cy="381305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244998" y="6278633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5377586" y="6392933"/>
            <a:ext cx="114300" cy="15270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739689" y="6297835"/>
            <a:ext cx="13478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정보 탐색 시간</a:t>
            </a:r>
            <a:endParaRPr lang="en-US" sz="900" dirty="0">
              <a:latin typeface="+mn-ea"/>
            </a:endParaRPr>
          </a:p>
        </p:txBody>
      </p:sp>
      <p:sp>
        <p:nvSpPr>
          <p:cNvPr id="41" name="Text 32"/>
          <p:cNvSpPr txBox="1"/>
          <p:nvPr/>
        </p:nvSpPr>
        <p:spPr>
          <a:xfrm>
            <a:off x="5739689" y="6450540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단축 (Direct Access)</a:t>
            </a:r>
            <a:endParaRPr lang="en-US" sz="1000" dirty="0">
              <a:latin typeface="+mn-ea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rcRect t="-2127" b="-2127"/>
          <a:stretch/>
        </p:blipFill>
        <p:spPr>
          <a:xfrm>
            <a:off x="7360920" y="6278633"/>
            <a:ext cx="9144" cy="381305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7751369" y="6278633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7875727" y="6392933"/>
            <a:ext cx="133502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246974" y="6297835"/>
            <a:ext cx="12454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상담 완결성</a:t>
            </a:r>
            <a:endParaRPr lang="en-US" sz="900" dirty="0">
              <a:latin typeface="+mn-ea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8246974" y="6450540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극대화 (Visual Aid)</a:t>
            </a:r>
            <a:endParaRPr lang="en-US" sz="1000" dirty="0">
              <a:latin typeface="+mn-ea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06700962-E466-51BA-93ED-9E9074E90246}"/>
              </a:ext>
            </a:extLst>
          </p:cNvPr>
          <p:cNvGrpSpPr/>
          <p:nvPr/>
        </p:nvGrpSpPr>
        <p:grpSpPr>
          <a:xfrm>
            <a:off x="545214" y="1537483"/>
            <a:ext cx="11136891" cy="4606900"/>
            <a:chOff x="381305" y="1391717"/>
            <a:chExt cx="11485779" cy="4751222"/>
          </a:xfrm>
        </p:grpSpPr>
        <p:sp>
          <p:nvSpPr>
            <p:cNvPr id="12" name="Shape 10"/>
            <p:cNvSpPr/>
            <p:nvPr/>
          </p:nvSpPr>
          <p:spPr>
            <a:xfrm>
              <a:off x="381305" y="1438351"/>
              <a:ext cx="5619902" cy="4657954"/>
            </a:xfrm>
            <a:prstGeom prst="roundRect">
              <a:avLst>
                <a:gd name="adj" fmla="val 1285"/>
              </a:avLst>
            </a:prstGeom>
            <a:solidFill>
              <a:srgbClr val="FFFFFF"/>
            </a:solidFill>
            <a:ln w="12700">
              <a:solidFill>
                <a:srgbClr val="F1F5F9"/>
              </a:solidFill>
              <a:prstDash val="solid"/>
            </a:ln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381305" y="1438351"/>
              <a:ext cx="5619902" cy="57607"/>
            </a:xfrm>
            <a:prstGeom prst="roundRect">
              <a:avLst>
                <a:gd name="adj" fmla="val 103873"/>
              </a:avLst>
            </a:prstGeom>
            <a:solidFill>
              <a:srgbClr val="94A3B8"/>
            </a:solidFill>
            <a:ln w="12700">
              <a:solidFill>
                <a:srgbClr val="94A3B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390449" y="3038551"/>
              <a:ext cx="5600700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2905049" y="1638605"/>
              <a:ext cx="571500" cy="571500"/>
            </a:xfrm>
            <a:prstGeom prst="ellipse">
              <a:avLst/>
            </a:prstGeom>
            <a:solidFill>
              <a:srgbClr val="F1F5F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3076956" y="1809598"/>
              <a:ext cx="228600" cy="228600"/>
            </a:xfrm>
            <a:prstGeom prst="rect">
              <a:avLst/>
            </a:prstGeom>
          </p:spPr>
        </p:pic>
        <p:sp>
          <p:nvSpPr>
            <p:cNvPr id="17" name="Text 14"/>
            <p:cNvSpPr txBox="1"/>
            <p:nvPr/>
          </p:nvSpPr>
          <p:spPr>
            <a:xfrm>
              <a:off x="2623414" y="2286000"/>
              <a:ext cx="129296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보이는 ARS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2402129" y="2667305"/>
              <a:ext cx="18818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기존 메뉴 방식 (Legacy)</a:t>
              </a:r>
              <a:endParaRPr lang="en-US" sz="1200" dirty="0">
                <a:latin typeface="+mn-ea"/>
              </a:endParaRPr>
            </a:p>
          </p:txBody>
        </p:sp>
        <p:pic>
          <p:nvPicPr>
            <p:cNvPr id="19" name="Image 1" descr="preencoded.png"/>
            <p:cNvPicPr>
              <a:picLocks noChangeAspect="1"/>
            </p:cNvPicPr>
            <p:nvPr/>
          </p:nvPicPr>
          <p:blipFill>
            <a:blip r:embed="rId8"/>
            <a:srcRect t="-1100" b="-1100"/>
            <a:stretch/>
          </p:blipFill>
          <p:spPr>
            <a:xfrm>
              <a:off x="676656" y="3276295"/>
              <a:ext cx="114300" cy="133502"/>
            </a:xfrm>
            <a:prstGeom prst="rect">
              <a:avLst/>
            </a:prstGeom>
          </p:spPr>
        </p:pic>
        <p:sp>
          <p:nvSpPr>
            <p:cNvPr id="20" name="Text 16"/>
            <p:cNvSpPr txBox="1"/>
            <p:nvPr/>
          </p:nvSpPr>
          <p:spPr>
            <a:xfrm>
              <a:off x="905256" y="3238805"/>
              <a:ext cx="395295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+mn-ea"/>
                  <a:cs typeface="Noto Sans KR" pitchFamily="34" charset="-120"/>
                </a:rPr>
                <a:t>복잡한 메뉴 탐색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905256" y="3476549"/>
              <a:ext cx="460766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대출 상품 찾기 및 한도 조회를 위해 여러 단계의 메뉴 트리 터치 필요</a:t>
              </a:r>
              <a:endParaRPr lang="en-US" sz="1000" dirty="0">
                <a:latin typeface="+mn-ea"/>
              </a:endParaRPr>
            </a:p>
          </p:txBody>
        </p:sp>
        <p:pic>
          <p:nvPicPr>
            <p:cNvPr id="22" name="Image 2" descr="preencoded.png"/>
            <p:cNvPicPr>
              <a:picLocks noChangeAspect="1"/>
            </p:cNvPicPr>
            <p:nvPr/>
          </p:nvPicPr>
          <p:blipFill>
            <a:blip r:embed="rId8"/>
            <a:srcRect t="-1100" b="-1100"/>
            <a:stretch/>
          </p:blipFill>
          <p:spPr>
            <a:xfrm>
              <a:off x="676656" y="3838651"/>
              <a:ext cx="114300" cy="133502"/>
            </a:xfrm>
            <a:prstGeom prst="rect">
              <a:avLst/>
            </a:prstGeom>
          </p:spPr>
        </p:pic>
        <p:sp>
          <p:nvSpPr>
            <p:cNvPr id="23" name="Text 18"/>
            <p:cNvSpPr txBox="1"/>
            <p:nvPr/>
          </p:nvSpPr>
          <p:spPr>
            <a:xfrm>
              <a:off x="905256" y="3800246"/>
              <a:ext cx="372435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+mn-ea"/>
                  <a:cs typeface="Noto Sans KR" pitchFamily="34" charset="-120"/>
                </a:rPr>
                <a:t>단방향 진행 구조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905256" y="4038905"/>
              <a:ext cx="42391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본인인증, 약관동의 등 정해진 순서로만 대출 심사 프로세스 진행</a:t>
              </a:r>
              <a:endParaRPr lang="en-US" sz="1000" dirty="0">
                <a:latin typeface="+mn-ea"/>
              </a:endParaRPr>
            </a:p>
          </p:txBody>
        </p:sp>
        <p:pic>
          <p:nvPicPr>
            <p:cNvPr id="25" name="Image 3" descr="preencoded.png"/>
            <p:cNvPicPr>
              <a:picLocks noChangeAspect="1"/>
            </p:cNvPicPr>
            <p:nvPr/>
          </p:nvPicPr>
          <p:blipFill>
            <a:blip r:embed="rId8"/>
            <a:srcRect t="-1100" b="-1100"/>
            <a:stretch/>
          </p:blipFill>
          <p:spPr>
            <a:xfrm>
              <a:off x="676656" y="4401007"/>
              <a:ext cx="114300" cy="133502"/>
            </a:xfrm>
            <a:prstGeom prst="rect">
              <a:avLst/>
            </a:prstGeom>
          </p:spPr>
        </p:pic>
        <p:sp>
          <p:nvSpPr>
            <p:cNvPr id="26" name="Text 20"/>
            <p:cNvSpPr txBox="1"/>
            <p:nvPr/>
          </p:nvSpPr>
          <p:spPr>
            <a:xfrm>
              <a:off x="905256" y="4362602"/>
              <a:ext cx="416326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+mn-ea"/>
                  <a:cs typeface="Noto Sans KR" pitchFamily="34" charset="-120"/>
                </a:rPr>
                <a:t>정보 연결성 부족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7" name="Text 21"/>
            <p:cNvSpPr txBox="1"/>
            <p:nvPr/>
          </p:nvSpPr>
          <p:spPr>
            <a:xfrm>
              <a:off x="905256" y="4600346"/>
              <a:ext cx="47676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ARS 음성 안내 청취 중 상세 금리표나 약관을 화면으로 동시 확인 어려움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8" name="Shape 22"/>
            <p:cNvSpPr/>
            <p:nvPr/>
          </p:nvSpPr>
          <p:spPr>
            <a:xfrm>
              <a:off x="676656" y="5281574"/>
              <a:ext cx="5029200" cy="619049"/>
            </a:xfrm>
            <a:prstGeom prst="roundRect">
              <a:avLst>
                <a:gd name="adj" fmla="val 36359"/>
              </a:avLst>
            </a:prstGeom>
            <a:solidFill>
              <a:srgbClr val="F8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676656" y="5376672"/>
              <a:ext cx="50292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주요 한계점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676656" y="5586070"/>
              <a:ext cx="5029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+mn-ea"/>
                  <a:cs typeface="Noto Sans KR" pitchFamily="34" charset="-120"/>
                </a:rPr>
                <a:t>조건부 승인 등 복잡한 결과 확인 한계</a:t>
              </a:r>
              <a:endParaRPr lang="en-US" sz="1100" dirty="0">
                <a:latin typeface="+mn-ea"/>
              </a:endParaRPr>
            </a:p>
          </p:txBody>
        </p:sp>
        <p:pic>
          <p:nvPicPr>
            <p:cNvPr id="47" name="Image 9" descr="preencoded.png"/>
            <p:cNvPicPr>
              <a:picLocks noChangeAspect="1"/>
            </p:cNvPicPr>
            <p:nvPr/>
          </p:nvPicPr>
          <p:blipFill>
            <a:blip r:embed="rId9"/>
            <a:srcRect t="-2" b="-2"/>
            <a:stretch/>
          </p:blipFill>
          <p:spPr>
            <a:xfrm>
              <a:off x="6134710" y="1391717"/>
              <a:ext cx="5732374" cy="4751222"/>
            </a:xfrm>
            <a:prstGeom prst="rect">
              <a:avLst/>
            </a:prstGeom>
          </p:spPr>
        </p:pic>
        <p:sp>
          <p:nvSpPr>
            <p:cNvPr id="48" name="Shape 36"/>
            <p:cNvSpPr/>
            <p:nvPr/>
          </p:nvSpPr>
          <p:spPr>
            <a:xfrm>
              <a:off x="6144768" y="3032150"/>
              <a:ext cx="5715000" cy="914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37"/>
            <p:cNvSpPr/>
            <p:nvPr/>
          </p:nvSpPr>
          <p:spPr>
            <a:xfrm>
              <a:off x="8709660" y="1595628"/>
              <a:ext cx="590702" cy="590702"/>
            </a:xfrm>
            <a:prstGeom prst="ellipse">
              <a:avLst/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0" name="Image 10" descr="preencoded.png"/>
            <p:cNvPicPr>
              <a:picLocks noChangeAspect="1"/>
            </p:cNvPicPr>
            <p:nvPr/>
          </p:nvPicPr>
          <p:blipFill>
            <a:blip r:embed="rId10"/>
            <a:srcRect l="-1231" r="-1231"/>
            <a:stretch/>
          </p:blipFill>
          <p:spPr>
            <a:xfrm>
              <a:off x="8850478" y="1770278"/>
              <a:ext cx="304495" cy="237744"/>
            </a:xfrm>
            <a:prstGeom prst="rect">
              <a:avLst/>
            </a:prstGeom>
          </p:spPr>
        </p:pic>
        <p:sp>
          <p:nvSpPr>
            <p:cNvPr id="51" name="Text 38"/>
            <p:cNvSpPr txBox="1"/>
            <p:nvPr/>
          </p:nvSpPr>
          <p:spPr>
            <a:xfrm>
              <a:off x="8324698" y="2256739"/>
              <a:ext cx="1611173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멀티모달 콜봇</a:t>
              </a:r>
              <a:endParaRPr lang="en-US" sz="1800" dirty="0">
                <a:latin typeface="+mn-ea"/>
              </a:endParaRPr>
            </a:p>
          </p:txBody>
        </p:sp>
        <p:sp>
          <p:nvSpPr>
            <p:cNvPr id="52" name="Text 39"/>
            <p:cNvSpPr txBox="1"/>
            <p:nvPr/>
          </p:nvSpPr>
          <p:spPr>
            <a:xfrm>
              <a:off x="7979054" y="2645359"/>
              <a:ext cx="2437790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B82F6"/>
                  </a:solidFill>
                  <a:latin typeface="+mn-ea"/>
                  <a:cs typeface="Noto Sans KR" pitchFamily="34" charset="-120"/>
                </a:rPr>
                <a:t>지능형 대화 방식 (Innovation)</a:t>
              </a:r>
              <a:endParaRPr lang="en-US" sz="1200" dirty="0">
                <a:latin typeface="+mn-ea"/>
              </a:endParaRPr>
            </a:p>
          </p:txBody>
        </p:sp>
        <p:pic>
          <p:nvPicPr>
            <p:cNvPr id="53" name="Image 11" descr="preencoded.png"/>
            <p:cNvPicPr>
              <a:picLocks noChangeAspect="1"/>
            </p:cNvPicPr>
            <p:nvPr/>
          </p:nvPicPr>
          <p:blipFill>
            <a:blip r:embed="rId11"/>
            <a:srcRect t="-556" b="-556"/>
            <a:stretch/>
          </p:blipFill>
          <p:spPr>
            <a:xfrm>
              <a:off x="6436462" y="3267151"/>
              <a:ext cx="123444" cy="142646"/>
            </a:xfrm>
            <a:prstGeom prst="rect">
              <a:avLst/>
            </a:prstGeom>
          </p:spPr>
        </p:pic>
        <p:sp>
          <p:nvSpPr>
            <p:cNvPr id="54" name="Text 40"/>
            <p:cNvSpPr txBox="1"/>
            <p:nvPr/>
          </p:nvSpPr>
          <p:spPr>
            <a:xfrm>
              <a:off x="6669634" y="3227832"/>
              <a:ext cx="3467405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+mn-ea"/>
                  <a:cs typeface="Noto Sans KR" pitchFamily="34" charset="-120"/>
                </a:rPr>
                <a:t>실시간 동기화 (Dual Interaction)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55" name="Text 41"/>
            <p:cNvSpPr txBox="1"/>
            <p:nvPr/>
          </p:nvSpPr>
          <p:spPr>
            <a:xfrm>
              <a:off x="6669634" y="3471062"/>
              <a:ext cx="401513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음성으로 "대출 한도 조회해줘" 요청 시 즉시 조회 화면 제시</a:t>
              </a:r>
              <a:endParaRPr lang="en-US" sz="1000" dirty="0">
                <a:latin typeface="+mn-ea"/>
              </a:endParaRPr>
            </a:p>
          </p:txBody>
        </p:sp>
        <p:pic>
          <p:nvPicPr>
            <p:cNvPr id="56" name="Image 12" descr="preencoded.png"/>
            <p:cNvPicPr>
              <a:picLocks noChangeAspect="1"/>
            </p:cNvPicPr>
            <p:nvPr/>
          </p:nvPicPr>
          <p:blipFill>
            <a:blip r:embed="rId11"/>
            <a:srcRect t="-556" b="-556"/>
            <a:stretch/>
          </p:blipFill>
          <p:spPr>
            <a:xfrm>
              <a:off x="6436462" y="3839566"/>
              <a:ext cx="123444" cy="142646"/>
            </a:xfrm>
            <a:prstGeom prst="rect">
              <a:avLst/>
            </a:prstGeom>
          </p:spPr>
        </p:pic>
        <p:sp>
          <p:nvSpPr>
            <p:cNvPr id="57" name="Text 42"/>
            <p:cNvSpPr txBox="1"/>
            <p:nvPr/>
          </p:nvSpPr>
          <p:spPr>
            <a:xfrm>
              <a:off x="6669634" y="3801161"/>
              <a:ext cx="429585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+mn-ea"/>
                  <a:cs typeface="Noto Sans KR" pitchFamily="34" charset="-120"/>
                </a:rPr>
                <a:t>의도 기반 직행 (Direct Access)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58" name="Text 43"/>
            <p:cNvSpPr txBox="1"/>
            <p:nvPr/>
          </p:nvSpPr>
          <p:spPr>
            <a:xfrm>
              <a:off x="6669634" y="4044391"/>
              <a:ext cx="494324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"직장인 신용대출" 발화 시 복잡한 메뉴 없이 해당 상품 페이지로 바로 이동</a:t>
              </a:r>
              <a:endParaRPr lang="en-US" sz="1000" dirty="0">
                <a:latin typeface="+mn-ea"/>
              </a:endParaRPr>
            </a:p>
          </p:txBody>
        </p:sp>
        <p:pic>
          <p:nvPicPr>
            <p:cNvPr id="59" name="Image 13" descr="preencoded.png"/>
            <p:cNvPicPr>
              <a:picLocks noChangeAspect="1"/>
            </p:cNvPicPr>
            <p:nvPr/>
          </p:nvPicPr>
          <p:blipFill>
            <a:blip r:embed="rId11"/>
            <a:srcRect t="-556" b="-556"/>
            <a:stretch/>
          </p:blipFill>
          <p:spPr>
            <a:xfrm>
              <a:off x="6436462" y="4412894"/>
              <a:ext cx="123444" cy="142646"/>
            </a:xfrm>
            <a:prstGeom prst="rect">
              <a:avLst/>
            </a:prstGeom>
          </p:spPr>
        </p:pic>
        <p:sp>
          <p:nvSpPr>
            <p:cNvPr id="60" name="Text 44"/>
            <p:cNvSpPr txBox="1"/>
            <p:nvPr/>
          </p:nvSpPr>
          <p:spPr>
            <a:xfrm>
              <a:off x="6669634" y="4374490"/>
              <a:ext cx="4163263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+mn-ea"/>
                  <a:cs typeface="Noto Sans KR" pitchFamily="34" charset="-120"/>
                </a:rPr>
                <a:t>상호 보완적 경험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61" name="Text 45"/>
            <p:cNvSpPr txBox="1"/>
            <p:nvPr/>
          </p:nvSpPr>
          <p:spPr>
            <a:xfrm>
              <a:off x="6669634" y="4616806"/>
              <a:ext cx="462320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+mn-ea"/>
                  <a:cs typeface="Noto Sans KR" pitchFamily="34" charset="-120"/>
                </a:rPr>
                <a:t>발음이 어려운 금융 용어나 복잡한 서류명은 화면 터치로 간편하게 입력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62" name="Shape 46"/>
            <p:cNvSpPr/>
            <p:nvPr/>
          </p:nvSpPr>
          <p:spPr>
            <a:xfrm>
              <a:off x="6436462" y="5311750"/>
              <a:ext cx="5134356" cy="629107"/>
            </a:xfrm>
            <a:prstGeom prst="roundRect">
              <a:avLst>
                <a:gd name="adj" fmla="val 35236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47"/>
            <p:cNvSpPr txBox="1"/>
            <p:nvPr/>
          </p:nvSpPr>
          <p:spPr>
            <a:xfrm>
              <a:off x="6438290" y="5408676"/>
              <a:ext cx="513435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82F6"/>
                  </a:solidFill>
                  <a:latin typeface="+mn-ea"/>
                  <a:cs typeface="Noto Sans KR" pitchFamily="34" charset="-120"/>
                </a:rPr>
                <a:t>기대 효과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64" name="Text 48"/>
            <p:cNvSpPr txBox="1"/>
            <p:nvPr/>
          </p:nvSpPr>
          <p:spPr>
            <a:xfrm>
              <a:off x="6438290" y="5622646"/>
              <a:ext cx="51343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3A8A"/>
                  </a:solidFill>
                  <a:latin typeface="+mn-ea"/>
                  <a:cs typeface="Noto Sans KR" pitchFamily="34" charset="-120"/>
                </a:rPr>
                <a:t>대출 신청 완결률 증대 및 상담 시간 단축</a:t>
              </a:r>
              <a:endParaRPr lang="en-US" sz="1100" dirty="0">
                <a:latin typeface="+mn-ea"/>
              </a:endParaRPr>
            </a:p>
          </p:txBody>
        </p:sp>
        <p:pic>
          <p:nvPicPr>
            <p:cNvPr id="67" name="Image 14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57646" y="3814877"/>
              <a:ext cx="476402" cy="476402"/>
            </a:xfrm>
            <a:prstGeom prst="rect">
              <a:avLst/>
            </a:prstGeom>
          </p:spPr>
        </p:pic>
        <p:sp>
          <p:nvSpPr>
            <p:cNvPr id="68" name="Text 51"/>
            <p:cNvSpPr/>
            <p:nvPr/>
          </p:nvSpPr>
          <p:spPr>
            <a:xfrm>
              <a:off x="5829300" y="3814877"/>
              <a:ext cx="534010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n-ea"/>
                  <a:cs typeface="Noto Sans KR" pitchFamily="34" charset="-120"/>
                </a:rPr>
                <a:t>VS</a:t>
              </a:r>
              <a:endParaRPr lang="en-US" sz="1300" dirty="0">
                <a:latin typeface="+mn-ea"/>
              </a:endParaRPr>
            </a:p>
          </p:txBody>
        </p:sp>
      </p:grpSp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C231AF6F-7E1B-14F9-A738-A967F71FECC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70" name="Text 8">
            <a:extLst>
              <a:ext uri="{FF2B5EF4-FFF2-40B4-BE49-F238E27FC236}">
                <a16:creationId xmlns:a16="http://schemas.microsoft.com/office/drawing/2014/main" id="{CA1DDC3F-52CB-F485-98E0-2B7DD4484044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기존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보이는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ARS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대비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음성과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시각이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결합된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대출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상담의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차별화된</a:t>
            </a:r>
            <a:r>
              <a:rPr lang="en-US" altLang="ko-KR" sz="1300" b="1" kern="0" spc="-13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kern="0" spc="-13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가치</a:t>
            </a:r>
            <a:endParaRPr lang="en-US" altLang="ko-KR" sz="13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13645"/>
            <a:ext cx="455645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멀티모달 상담 솔루션의 주요 장점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32566" y="245065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KEY FEATURES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32566" y="396855"/>
            <a:ext cx="886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05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7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1047902" y="1978949"/>
            <a:ext cx="267005" cy="3044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19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01</a:t>
            </a:r>
            <a:endParaRPr lang="en-US" sz="45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71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47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1047902" y="3721795"/>
            <a:ext cx="267005" cy="304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19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02</a:t>
            </a:r>
            <a:endParaRPr lang="en-US" sz="45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71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71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47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1067105" y="5464642"/>
            <a:ext cx="228600" cy="3044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19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03</a:t>
            </a:r>
            <a:endParaRPr lang="en-US" sz="4500" dirty="0">
              <a:latin typeface="+mn-ea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286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6286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6562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43700" y="1978949"/>
            <a:ext cx="304495" cy="3044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734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04</a:t>
            </a:r>
            <a:endParaRPr lang="en-US" sz="4500" dirty="0">
              <a:latin typeface="+mn-ea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6286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286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562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3700" y="3721795"/>
            <a:ext cx="304495" cy="3044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734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05</a:t>
            </a:r>
            <a:endParaRPr lang="en-US" sz="4500" dirty="0">
              <a:latin typeface="+mn-ea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286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286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562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6724498" y="5464642"/>
            <a:ext cx="342900" cy="30449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734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06</a:t>
            </a:r>
            <a:endParaRPr lang="en-US" sz="4500" dirty="0">
              <a:latin typeface="+mn-ea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752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상담 효율성 증대</a:t>
            </a:r>
            <a:endParaRPr lang="en-US" sz="1500" dirty="0">
              <a:latin typeface="+mn-ea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4858207" y="1824415"/>
            <a:ext cx="8193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/>
          <p:nvPr/>
        </p:nvSpPr>
        <p:spPr>
          <a:xfrm>
            <a:off x="4829861" y="1824415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Time Saving</a:t>
            </a:r>
            <a:endParaRPr lang="en-US" sz="800" dirty="0">
              <a:latin typeface="+mn-ea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1752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음성 안내와 시각적 화면을 동시에 제공하여, 복잡한 대출 상품 설명 시간을 획기적으로 단축하고 상담사의 반복적인 안내 업무를 최소화하여 전반적인 업무 효율을 높입니다.</a:t>
            </a:r>
            <a:endParaRPr lang="en-US" sz="1100" dirty="0">
              <a:latin typeface="+mn-ea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1752905" y="3540744"/>
            <a:ext cx="18699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직관적 조작 편의성</a:t>
            </a:r>
            <a:endParaRPr lang="en-US" sz="1500" dirty="0">
              <a:latin typeface="+mn-ea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4808830" y="3567262"/>
            <a:ext cx="875995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/>
          <p:nvPr/>
        </p:nvSpPr>
        <p:spPr>
          <a:xfrm>
            <a:off x="4780483" y="3567262"/>
            <a:ext cx="9336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User Friendly</a:t>
            </a:r>
            <a:endParaRPr lang="en-US" sz="800" dirty="0">
              <a:latin typeface="+mn-ea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1752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음성 상담 중 실시간으로 연동되는 멀티모달 UI를 통해, 고객은 복잡한 대출 금리와 한도를 한눈에 직관적으로 비교하고 터치 한 번으로 손쉽게 선택할 수 있습니다.</a:t>
            </a:r>
            <a:endParaRPr lang="en-US" sz="1100" dirty="0">
              <a:latin typeface="+mn-ea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1752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상담 완결률 향상</a:t>
            </a:r>
            <a:endParaRPr lang="en-US" sz="1500" dirty="0">
              <a:latin typeface="+mn-ea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4882896" y="5310108"/>
            <a:ext cx="800100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4853635" y="5310108"/>
            <a:ext cx="8577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Self-Service</a:t>
            </a:r>
            <a:endParaRPr lang="en-US" sz="800" dirty="0">
              <a:latin typeface="+mn-ea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1752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서류 제출 및 본인 인증과 같은 복잡한 단계를 시각적으로 가이드하여, 고객의 중도 이탈을 효과적으로 방지하고 대출 신청 프로세스의 완결률을 극대화합니다.</a:t>
            </a:r>
            <a:endParaRPr lang="en-US" sz="1100" dirty="0">
              <a:latin typeface="+mn-ea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7467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채널 전환 연속성</a:t>
            </a:r>
            <a:endParaRPr lang="en-US" sz="1500" dirty="0">
              <a:latin typeface="+mn-ea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10466222" y="1824415"/>
            <a:ext cx="9336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8"/>
          <p:cNvSpPr/>
          <p:nvPr/>
        </p:nvSpPr>
        <p:spPr>
          <a:xfrm>
            <a:off x="10437876" y="1824415"/>
            <a:ext cx="9912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Omni-Channel</a:t>
            </a:r>
            <a:endParaRPr lang="en-US" sz="800" dirty="0">
              <a:latin typeface="+mn-ea"/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7467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챗봇에서 상담사 연결 시, 기존에 조회된 금리 및 한도 정보를 실시간으로 공유하여 고객이 동일한 내용을 반복 설명할 필요 없이 끊김 없는 상담 경험을 제공합니다.</a:t>
            </a:r>
            <a:endParaRPr lang="en-US" sz="1100" dirty="0">
              <a:latin typeface="+mn-ea"/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7467905" y="3540744"/>
            <a:ext cx="1340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인프라 유연성</a:t>
            </a:r>
            <a:endParaRPr lang="en-US" sz="1500" dirty="0">
              <a:latin typeface="+mn-ea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667390" y="3567262"/>
            <a:ext cx="733349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2"/>
          <p:cNvSpPr/>
          <p:nvPr/>
        </p:nvSpPr>
        <p:spPr>
          <a:xfrm>
            <a:off x="10639044" y="3567262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Scalability</a:t>
            </a:r>
            <a:endParaRPr lang="en-US" sz="800" dirty="0">
              <a:latin typeface="+mn-ea"/>
            </a:endParaRPr>
          </a:p>
        </p:txBody>
      </p:sp>
      <p:sp>
        <p:nvSpPr>
          <p:cNvPr id="61" name="Text 53"/>
          <p:cNvSpPr txBox="1"/>
          <p:nvPr/>
        </p:nvSpPr>
        <p:spPr>
          <a:xfrm>
            <a:off x="7467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저축은행의 기존 여신 계정계 및 콜 인프라(PBX, CTI)와 유연하게 연동되어, 시스템 변경을 최소화하면서도 안정적이고 확장 가능한 대출 프로세스를 지원합니다.</a:t>
            </a:r>
            <a:endParaRPr lang="en-US" sz="1100" dirty="0">
              <a:latin typeface="+mn-ea"/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7467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가시성 확보</a:t>
            </a:r>
            <a:endParaRPr lang="en-US" sz="1500" dirty="0">
              <a:latin typeface="+mn-ea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642702" y="5310108"/>
            <a:ext cx="752551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6"/>
          <p:cNvSpPr/>
          <p:nvPr/>
        </p:nvSpPr>
        <p:spPr>
          <a:xfrm>
            <a:off x="10613441" y="5310108"/>
            <a:ext cx="8101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Monitoring</a:t>
            </a:r>
            <a:endParaRPr lang="en-US" sz="800" dirty="0">
              <a:latin typeface="+mn-ea"/>
            </a:endParaRPr>
          </a:p>
        </p:txBody>
      </p:sp>
      <p:sp>
        <p:nvSpPr>
          <p:cNvPr id="65" name="Text 57"/>
          <p:cNvSpPr txBox="1"/>
          <p:nvPr/>
        </p:nvSpPr>
        <p:spPr>
          <a:xfrm>
            <a:off x="7467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대출 심사 단계별 이탈률, 상담 성공률, 폴백 발생 빈도 등을 실시간 대시보드로 제공하여, 데이터 기반의 의사결정을 지원하고 운영 효율을 지속적으로 최적화합니다.</a:t>
            </a:r>
            <a:endParaRPr lang="en-US" sz="11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E90F71B2-4667-B956-082E-44CC053258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63F0685F-0F62-02C3-A006-865AAC75D706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대출 상담 솔루션이 제공하는 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6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가지 핵심 장점 및 비즈니스 가치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68" r="-268"/>
          <a:stretch/>
        </p:blipFill>
        <p:spPr>
          <a:xfrm>
            <a:off x="2548159" y="2915132"/>
            <a:ext cx="666598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49762" y="2915132"/>
            <a:ext cx="5649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+mn-ea"/>
                <a:cs typeface="Noto Sans KR" pitchFamily="34" charset="-120"/>
              </a:rPr>
              <a:t>챗봇 선택</a:t>
            </a:r>
            <a:endParaRPr lang="en-US" sz="900" dirty="0">
              <a:latin typeface="+mn-ea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138" r="-138"/>
          <a:stretch/>
        </p:blipFill>
        <p:spPr>
          <a:xfrm>
            <a:off x="2620130" y="5040673"/>
            <a:ext cx="875995" cy="2670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38666" y="5040673"/>
            <a:ext cx="75745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+mn-ea"/>
                <a:cs typeface="Noto Sans KR" pitchFamily="34" charset="-120"/>
              </a:rPr>
              <a:t>멀티모달 선택</a:t>
            </a:r>
            <a:endParaRPr lang="en-US" sz="900" dirty="0">
              <a:latin typeface="+mn-ea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76402" y="3581730"/>
            <a:ext cx="952805" cy="857707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52221" y="3693287"/>
            <a:ext cx="200254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82726" y="3979494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</a:t>
            </a:r>
            <a:endParaRPr lang="en-US" sz="1100" dirty="0">
              <a:latin typeface="+mn-ea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584302" y="4169689"/>
            <a:ext cx="7370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전화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및 </a:t>
            </a:r>
            <a:br>
              <a:rPr lang="en-US" altLang="ko-KR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</a:br>
            <a:r>
              <a:rPr lang="ko-KR" alt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웹사이트 진입</a:t>
            </a:r>
            <a:endParaRPr lang="en-US" sz="800" dirty="0">
              <a:latin typeface="+mn-ea"/>
            </a:endParaRPr>
          </a:p>
        </p:txBody>
      </p:sp>
      <p:sp>
        <p:nvSpPr>
          <p:cNvPr id="14" name="Shape 8"/>
          <p:cNvSpPr/>
          <p:nvPr/>
        </p:nvSpPr>
        <p:spPr>
          <a:xfrm rot="5400000">
            <a:off x="1708099" y="3336671"/>
            <a:ext cx="1352398" cy="1352398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25400">
            <a:solidFill>
              <a:srgbClr val="94A3B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2295144" y="3724376"/>
            <a:ext cx="171907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155241" y="3952976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서비스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선택</a:t>
            </a:r>
            <a:endParaRPr lang="en-US" sz="1100" dirty="0">
              <a:latin typeface="+mn-ea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7073901" y="2044421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596938" y="2184601"/>
            <a:ext cx="286207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92696" y="2630740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직접 연결</a:t>
            </a:r>
            <a:endParaRPr lang="en-US" sz="800" dirty="0">
              <a:latin typeface="+mn-ea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835096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88308" y="521759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132276" y="5502884"/>
            <a:ext cx="743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Web-Link</a:t>
            </a:r>
            <a:endParaRPr lang="en-US" sz="1100" dirty="0">
              <a:latin typeface="+mn-ea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4248405" y="5693994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SMS 발송</a:t>
            </a:r>
            <a:endParaRPr lang="en-US" sz="800" dirty="0">
              <a:latin typeface="+mn-ea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5454499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021427" y="5217591"/>
            <a:ext cx="200254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773624" y="5502884"/>
            <a:ext cx="7013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링크 클릭</a:t>
            </a:r>
            <a:endParaRPr lang="en-US" sz="11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5874208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접속 시도</a:t>
            </a:r>
            <a:endParaRPr lang="en-US" sz="800" dirty="0">
              <a:latin typeface="+mn-ea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073901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7654545" y="5217591"/>
            <a:ext cx="171907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297015" y="5502884"/>
            <a:ext cx="8906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멀티모달 UI</a:t>
            </a:r>
            <a:endParaRPr lang="en-US" sz="1100" dirty="0">
              <a:latin typeface="+mn-ea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7493611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화면 제공</a:t>
            </a:r>
            <a:endParaRPr lang="en-US" sz="800" dirty="0">
              <a:latin typeface="+mn-ea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7072784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7639712" y="3781069"/>
            <a:ext cx="200254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7316015" y="4067276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로그인 연동</a:t>
            </a:r>
            <a:endParaRPr lang="en-US" sz="1100" dirty="0">
              <a:latin typeface="+mn-ea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8952892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05189" y="3693287"/>
            <a:ext cx="228600" cy="2286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21141" y="3979494"/>
            <a:ext cx="1006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대출 프로세스</a:t>
            </a:r>
            <a:endParaRPr lang="en-US" sz="1100" dirty="0">
              <a:latin typeface="+mn-ea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9485073" y="4169689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진행</a:t>
            </a:r>
            <a:endParaRPr lang="en-US" sz="800" dirty="0">
              <a:latin typeface="+mn-ea"/>
            </a:endParaRPr>
          </a:p>
        </p:txBody>
      </p:sp>
      <p:sp>
        <p:nvSpPr>
          <p:cNvPr id="40" name="Shape 27"/>
          <p:cNvSpPr/>
          <p:nvPr/>
        </p:nvSpPr>
        <p:spPr>
          <a:xfrm>
            <a:off x="10476282" y="3581730"/>
            <a:ext cx="761695" cy="857707"/>
          </a:xfrm>
          <a:prstGeom prst="roundRect">
            <a:avLst>
              <a:gd name="adj" fmla="val 36014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743287" y="3696030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697567" y="3981323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대출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완료</a:t>
            </a:r>
            <a:endParaRPr lang="en-US" sz="1100" dirty="0">
              <a:latin typeface="+mn-ea"/>
            </a:endParaRPr>
          </a:p>
        </p:txBody>
      </p:sp>
      <p:sp>
        <p:nvSpPr>
          <p:cNvPr id="43" name="Shape 29"/>
          <p:cNvSpPr/>
          <p:nvPr/>
        </p:nvSpPr>
        <p:spPr>
          <a:xfrm>
            <a:off x="8952892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9518905" y="5217591"/>
            <a:ext cx="200254" cy="2286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196122" y="5502884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상담원 연결</a:t>
            </a:r>
            <a:endParaRPr lang="en-US" sz="1100" dirty="0">
              <a:latin typeface="+mn-ea"/>
            </a:endParaRPr>
          </a:p>
        </p:txBody>
      </p:sp>
      <p:sp>
        <p:nvSpPr>
          <p:cNvPr id="46" name="Text 31"/>
          <p:cNvSpPr txBox="1"/>
          <p:nvPr/>
        </p:nvSpPr>
        <p:spPr>
          <a:xfrm>
            <a:off x="9283905" y="5693994"/>
            <a:ext cx="672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필요 시 전환</a:t>
            </a:r>
            <a:endParaRPr lang="en-US" sz="800" dirty="0">
              <a:latin typeface="+mn-ea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381305" y="293522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멀티모달 프로세스 플로우</a:t>
            </a:r>
            <a:endParaRPr lang="en-US" sz="2400" dirty="0">
              <a:latin typeface="+mn-ea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10683850" y="247802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PROCESS DIAGRAM</a:t>
            </a:r>
            <a:endParaRPr lang="en-US" sz="900" dirty="0">
              <a:latin typeface="+mn-ea"/>
            </a:endParaRPr>
          </a:p>
        </p:txBody>
      </p:sp>
      <p:sp>
        <p:nvSpPr>
          <p:cNvPr id="53" name="Text 38"/>
          <p:cNvSpPr txBox="1"/>
          <p:nvPr/>
        </p:nvSpPr>
        <p:spPr>
          <a:xfrm>
            <a:off x="10683850" y="400507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06</a:t>
            </a:r>
            <a:endParaRPr lang="en-US" sz="1800" dirty="0">
              <a:latin typeface="+mn-ea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EB8AF3C-15D9-CF9C-11CF-14EE3DC2D8BD}"/>
              </a:ext>
            </a:extLst>
          </p:cNvPr>
          <p:cNvCxnSpPr>
            <a:cxnSpLocks/>
            <a:stCxn id="14" idx="1"/>
            <a:endCxn id="17" idx="1"/>
          </p:cNvCxnSpPr>
          <p:nvPr/>
        </p:nvCxnSpPr>
        <p:spPr>
          <a:xfrm rot="5400000" flipH="1" flipV="1">
            <a:off x="4297401" y="560172"/>
            <a:ext cx="863396" cy="4689603"/>
          </a:xfrm>
          <a:prstGeom prst="bentConnector2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B4779B55-BD60-C314-D6E1-6BBC8F45D8F6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 rot="16200000" flipH="1">
            <a:off x="2687245" y="4386122"/>
            <a:ext cx="844905" cy="1450798"/>
          </a:xfrm>
          <a:prstGeom prst="bentConnector2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594DE75-97AB-6446-1C7A-E3AB1EACDBAB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5168291" y="5533974"/>
            <a:ext cx="286208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0595042-B689-1158-142A-0D8294CEDD53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6787694" y="5533974"/>
            <a:ext cx="286207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287BF78-CF6A-81C0-F3DC-AC012A7748F6}"/>
              </a:ext>
            </a:extLst>
          </p:cNvPr>
          <p:cNvCxnSpPr>
            <a:cxnSpLocks/>
          </p:cNvCxnSpPr>
          <p:nvPr/>
        </p:nvCxnSpPr>
        <p:spPr>
          <a:xfrm flipV="1">
            <a:off x="7676357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3C50F40-17F2-1A5E-2408-698FD95C6448}"/>
              </a:ext>
            </a:extLst>
          </p:cNvPr>
          <p:cNvCxnSpPr>
            <a:cxnSpLocks/>
          </p:cNvCxnSpPr>
          <p:nvPr/>
        </p:nvCxnSpPr>
        <p:spPr>
          <a:xfrm flipV="1">
            <a:off x="7826452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4C819D3-8466-BF4D-421A-13FA51E976E7}"/>
              </a:ext>
            </a:extLst>
          </p:cNvPr>
          <p:cNvCxnSpPr>
            <a:cxnSpLocks/>
          </p:cNvCxnSpPr>
          <p:nvPr/>
        </p:nvCxnSpPr>
        <p:spPr>
          <a:xfrm flipV="1">
            <a:off x="7676357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686F6AE-2DF8-E1DB-70FB-451A44EFB21F}"/>
              </a:ext>
            </a:extLst>
          </p:cNvPr>
          <p:cNvCxnSpPr>
            <a:cxnSpLocks/>
          </p:cNvCxnSpPr>
          <p:nvPr/>
        </p:nvCxnSpPr>
        <p:spPr>
          <a:xfrm flipV="1">
            <a:off x="7826452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11"/>
          <p:cNvSpPr txBox="1"/>
          <p:nvPr/>
        </p:nvSpPr>
        <p:spPr>
          <a:xfrm>
            <a:off x="7468008" y="2470720"/>
            <a:ext cx="5440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챗봇 UI</a:t>
            </a:r>
            <a:endParaRPr lang="en-US" sz="11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3A0FF42-8984-9DCC-7C13-5F99C0BE5EC2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8405979" y="4010584"/>
            <a:ext cx="546913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F8C4E3F-CA9F-F3FB-1893-59910C7F25F9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10286087" y="4010584"/>
            <a:ext cx="190195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771076B-76BA-E0E9-3C4C-16B4CB4A59AD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9619490" y="4439437"/>
            <a:ext cx="0" cy="665683"/>
          </a:xfrm>
          <a:prstGeom prst="straightConnector1">
            <a:avLst/>
          </a:prstGeom>
          <a:ln w="28575">
            <a:solidFill>
              <a:srgbClr val="F973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Image 0" descr="preencoded.png">
            <a:extLst>
              <a:ext uri="{FF2B5EF4-FFF2-40B4-BE49-F238E27FC236}">
                <a16:creationId xmlns:a16="http://schemas.microsoft.com/office/drawing/2014/main" id="{2B0007EA-6672-CEB2-BE36-AA86AE43082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5" name="Text 8">
            <a:extLst>
              <a:ext uri="{FF2B5EF4-FFF2-40B4-BE49-F238E27FC236}">
                <a16:creationId xmlns:a16="http://schemas.microsoft.com/office/drawing/2014/main" id="{BC9F5EDF-88C9-47D6-128D-1C7838DD862B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인입부터 </a:t>
            </a: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챗봇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UI &amp; </a:t>
            </a: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UI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제공까지의 대출 상담 서비스 전체 프로세스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71500" y="5075834"/>
            <a:ext cx="11048695" cy="685800"/>
          </a:xfrm>
          <a:prstGeom prst="roundRect">
            <a:avLst>
              <a:gd name="adj" fmla="val 2963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5075834"/>
            <a:ext cx="38405" cy="685800"/>
          </a:xfrm>
          <a:prstGeom prst="roundRect">
            <a:avLst>
              <a:gd name="adj" fmla="val 5290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7649" y="5323637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5075834"/>
            <a:ext cx="10277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Seamless Fallback: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고객이 멀티모달 UI를 통해 스스로 대출 프로세스를 진행하다가 어려움을 겪거나 중단하는 경우, 즉시 전문 상담원에게 연결되며 고객이 진행하던 단계와 입력 정보가 상담원에게 그대로 전달되어 연속성 있는 상담이 가능합니다. </a:t>
            </a:r>
            <a:endParaRPr lang="en-US" sz="1000" dirty="0">
              <a:latin typeface="+mn-ea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143000" y="3287268"/>
            <a:ext cx="9905695" cy="384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2863" y="3953866"/>
            <a:ext cx="7488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전화 수신</a:t>
            </a:r>
            <a:endParaRPr lang="en-US" sz="12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93953" y="4228186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인입</a:t>
            </a:r>
            <a:endParaRPr lang="en-US" sz="900" dirty="0">
              <a:latin typeface="+mn-ea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810866"/>
            <a:ext cx="952805" cy="95280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2202" y="3115361"/>
            <a:ext cx="342900" cy="342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85900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1457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2210105" y="3516782"/>
            <a:ext cx="123444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491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멀티모달 링크 발송</a:t>
            </a:r>
            <a:endParaRPr lang="en-US" sz="1200" dirty="0">
              <a:latin typeface="+mn-ea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2606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Web-Link 문자</a:t>
            </a:r>
            <a:endParaRPr lang="en-US" sz="900" dirty="0">
              <a:latin typeface="+mn-ea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자동 발송</a:t>
            </a:r>
            <a:endParaRPr lang="en-US" sz="900" dirty="0">
              <a:latin typeface="+mn-ea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62402" y="2810866"/>
            <a:ext cx="952805" cy="95280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6898" y="3115361"/>
            <a:ext cx="342900" cy="3429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390595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/>
          <p:nvPr/>
        </p:nvSpPr>
        <p:spPr>
          <a:xfrm>
            <a:off x="3362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4114800" y="3610051"/>
            <a:ext cx="123444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459529" y="3953866"/>
            <a:ext cx="13734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멀티모달 UI 실행</a:t>
            </a:r>
            <a:endParaRPr lang="en-US" sz="12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4569257" y="4228186"/>
            <a:ext cx="11530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링크 접속 시</a:t>
            </a:r>
            <a:endParaRPr lang="en-US" sz="900" dirty="0">
              <a:latin typeface="+mn-ea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화면 실행</a:t>
            </a:r>
            <a:endParaRPr lang="en-US" sz="900" dirty="0">
              <a:latin typeface="+mn-ea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7098" y="2810866"/>
            <a:ext cx="952805" cy="952805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5014570" y="3115361"/>
            <a:ext cx="256946" cy="3429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296205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0"/>
          <p:cNvSpPr/>
          <p:nvPr/>
        </p:nvSpPr>
        <p:spPr>
          <a:xfrm>
            <a:off x="5266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3</a:t>
            </a:r>
            <a:endParaRPr lang="en-US" sz="1000" dirty="0">
              <a:latin typeface="+mn-ea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6019495" y="3610051"/>
            <a:ext cx="123444" cy="19019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633972" y="3953866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메뉴 선택</a:t>
            </a:r>
            <a:endParaRPr lang="en-US" sz="1200" dirty="0">
              <a:latin typeface="+mn-ea"/>
            </a:endParaRPr>
          </a:p>
        </p:txBody>
      </p:sp>
      <p:sp>
        <p:nvSpPr>
          <p:cNvPr id="35" name="Text 22"/>
          <p:cNvSpPr txBox="1"/>
          <p:nvPr/>
        </p:nvSpPr>
        <p:spPr>
          <a:xfrm>
            <a:off x="6591910" y="4228186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대출 메뉴 선택</a:t>
            </a:r>
            <a:endParaRPr lang="en-US" sz="900" dirty="0">
              <a:latin typeface="+mn-ea"/>
            </a:endParaRPr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72707" y="2810866"/>
            <a:ext cx="952805" cy="952805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1"/>
          <a:srcRect l="-743" r="-743"/>
          <a:stretch/>
        </p:blipFill>
        <p:spPr>
          <a:xfrm>
            <a:off x="6896405" y="3115361"/>
            <a:ext cx="304495" cy="342900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7200900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4"/>
          <p:cNvSpPr/>
          <p:nvPr/>
        </p:nvSpPr>
        <p:spPr>
          <a:xfrm>
            <a:off x="7172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4</a:t>
            </a:r>
            <a:endParaRPr lang="en-US" sz="1000" dirty="0">
              <a:latin typeface="+mn-ea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7925105" y="3516782"/>
            <a:ext cx="123444" cy="19019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206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대출 프로세스 진행</a:t>
            </a:r>
            <a:endParaRPr lang="en-US" sz="1200" dirty="0">
              <a:latin typeface="+mn-ea"/>
            </a:endParaRPr>
          </a:p>
        </p:txBody>
      </p:sp>
      <p:sp>
        <p:nvSpPr>
          <p:cNvPr id="42" name="Text 26"/>
          <p:cNvSpPr txBox="1"/>
          <p:nvPr/>
        </p:nvSpPr>
        <p:spPr>
          <a:xfrm>
            <a:off x="8321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한도/금리 조회 및</a:t>
            </a:r>
            <a:endParaRPr lang="en-US" sz="900" dirty="0">
              <a:latin typeface="+mn-ea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서류 제출 진행</a:t>
            </a:r>
            <a:endParaRPr lang="en-US" sz="900" dirty="0">
              <a:latin typeface="+mn-ea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77402" y="2810866"/>
            <a:ext cx="952805" cy="952805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8824874" y="3115361"/>
            <a:ext cx="256946" cy="342900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9105595" y="2849270"/>
            <a:ext cx="286207" cy="286207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8"/>
          <p:cNvSpPr/>
          <p:nvPr/>
        </p:nvSpPr>
        <p:spPr>
          <a:xfrm>
            <a:off x="9077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5</a:t>
            </a:r>
            <a:endParaRPr lang="en-US" sz="1000" dirty="0">
              <a:latin typeface="+mn-ea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9829800" y="3610051"/>
            <a:ext cx="123444" cy="19019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10309860" y="3953866"/>
            <a:ext cx="1100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상담원 연결</a:t>
            </a:r>
            <a:endParaRPr lang="en-US" sz="1200" dirty="0">
              <a:latin typeface="+mn-ea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10321747" y="4228186"/>
            <a:ext cx="10771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진행 어려움 발생 시</a:t>
            </a:r>
            <a:endParaRPr lang="en-US" sz="900" dirty="0">
              <a:latin typeface="+mn-ea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전문 상담원 연결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382098" y="2810866"/>
            <a:ext cx="952805" cy="952805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687507" y="3115361"/>
            <a:ext cx="342900" cy="342900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11011205" y="2849270"/>
            <a:ext cx="286207" cy="286207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2"/>
          <p:cNvSpPr/>
          <p:nvPr/>
        </p:nvSpPr>
        <p:spPr>
          <a:xfrm>
            <a:off x="10981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6</a:t>
            </a:r>
            <a:endParaRPr lang="en-US" sz="1000" dirty="0">
              <a:latin typeface="+mn-ea"/>
            </a:endParaRPr>
          </a:p>
        </p:txBody>
      </p:sp>
      <p:sp>
        <p:nvSpPr>
          <p:cNvPr id="55" name="Text 34"/>
          <p:cNvSpPr txBox="1"/>
          <p:nvPr/>
        </p:nvSpPr>
        <p:spPr>
          <a:xfrm>
            <a:off x="381305" y="169164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멀티모달 서비스 프로세스</a:t>
            </a:r>
            <a:endParaRPr lang="en-US" sz="2400" dirty="0">
              <a:latin typeface="+mn-ea"/>
            </a:endParaRPr>
          </a:p>
        </p:txBody>
      </p:sp>
      <p:sp>
        <p:nvSpPr>
          <p:cNvPr id="57" name="Text 36"/>
          <p:cNvSpPr txBox="1"/>
          <p:nvPr/>
        </p:nvSpPr>
        <p:spPr>
          <a:xfrm>
            <a:off x="10321748" y="247802"/>
            <a:ext cx="14950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SERVICE PROCESS</a:t>
            </a:r>
            <a:endParaRPr lang="en-US" sz="900" dirty="0">
              <a:latin typeface="+mn-ea"/>
            </a:endParaRPr>
          </a:p>
        </p:txBody>
      </p:sp>
      <p:sp>
        <p:nvSpPr>
          <p:cNvPr id="58" name="Text 37"/>
          <p:cNvSpPr txBox="1"/>
          <p:nvPr/>
        </p:nvSpPr>
        <p:spPr>
          <a:xfrm>
            <a:off x="10730484" y="400507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07</a:t>
            </a:r>
            <a:endParaRPr lang="en-US" sz="1800" dirty="0">
              <a:latin typeface="+mn-ea"/>
            </a:endParaRPr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9289101B-8CFF-AE4C-2BC3-17269336579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0" name="Text 8">
            <a:extLst>
              <a:ext uri="{FF2B5EF4-FFF2-40B4-BE49-F238E27FC236}">
                <a16:creationId xmlns:a16="http://schemas.microsoft.com/office/drawing/2014/main" id="{0CD2B403-EF47-4383-00E5-E7E820EAA8A9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인바운드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콜 접수부터 </a:t>
            </a: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UI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실행 및 상담사 전환까지의 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6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단계 서비스 시나리오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22881"/>
            <a:ext cx="34975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채널 통합 및 로그인 연동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641787" y="254301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INTEGRATION FLOW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41787" y="406091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+mn-ea"/>
              </a:rPr>
              <a:t>08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1305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0644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2020549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90549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Seamless Experience</a:t>
            </a:r>
            <a:endParaRPr lang="en-US" sz="1200" dirty="0">
              <a:latin typeface="+mn-e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90549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챗봇과 콜봇 간 세션 및 인증 정보를 실시간 공유하여 단절 없는 상담 경험 제공</a:t>
            </a:r>
            <a:endParaRPr lang="en-US" sz="9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54703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454042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2020549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63947" y="1822124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인증 체계 단일화</a:t>
            </a:r>
            <a:endParaRPr lang="en-US" sz="1200" dirty="0">
              <a:latin typeface="+mn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5063947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Biz API Hub를 통해 토큰 기반의 통합 인증을 수행하여 채널 이동 시 재로그인 불필요</a:t>
            </a:r>
            <a:endParaRPr lang="en-US" sz="9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28102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328355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0943" y="2020549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37346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상담사 연계 (CTI)</a:t>
            </a:r>
            <a:endParaRPr lang="en-US" sz="1200" dirty="0">
              <a:latin typeface="+mn-ea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937346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고객의 셀프 서비스 이력과 인증 정보를 상담사 화면(Screen Pop)에 자동 전달</a:t>
            </a:r>
            <a:endParaRPr lang="en-US" sz="900" dirty="0">
              <a:latin typeface="+mn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720647" y="3258645"/>
            <a:ext cx="11068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서비스 전환 시나리오 (Service Transition Flow)</a:t>
            </a:r>
            <a:endParaRPr lang="en-US" sz="11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19049" y="3286353"/>
            <a:ext cx="38405" cy="1527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3000146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3332869" y="4354551"/>
            <a:ext cx="1315327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3561470" y="4354551"/>
            <a:ext cx="108672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Deep Link + Token </a:t>
            </a:r>
            <a:endParaRPr lang="en-US" sz="800" dirty="0">
              <a:latin typeface="+mn-ea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3399621" y="4414901"/>
            <a:ext cx="123444" cy="9509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239305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7699248" y="4354551"/>
            <a:ext cx="1238098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65999" y="4414901"/>
            <a:ext cx="95098" cy="9509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884978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096305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10307022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1552651" y="5815032"/>
            <a:ext cx="9089136" cy="476402"/>
          </a:xfrm>
          <a:prstGeom prst="roundRect">
            <a:avLst>
              <a:gd name="adj" fmla="val 7677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34" b="-34"/>
          <a:stretch/>
        </p:blipFill>
        <p:spPr>
          <a:xfrm>
            <a:off x="4972507" y="5929332"/>
            <a:ext cx="2247595" cy="24780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77002" y="5929332"/>
            <a:ext cx="2019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Biz API Hub (통합 인증/데이터 중계) </a:t>
            </a:r>
            <a:endParaRPr lang="en-US" sz="900" dirty="0">
              <a:latin typeface="+mn-ea"/>
            </a:endParaRPr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86807" y="5996083"/>
            <a:ext cx="114300" cy="1143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809244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757477" y="4100169"/>
            <a:ext cx="200254" cy="2670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441094" y="4461357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1. App 챗봇</a:t>
            </a:r>
            <a:endParaRPr lang="en-US" sz="1000" dirty="0">
              <a:latin typeface="+mn-ea"/>
            </a:endParaRPr>
          </a:p>
        </p:txBody>
      </p:sp>
      <p:sp>
        <p:nvSpPr>
          <p:cNvPr id="48" name="Text 38"/>
          <p:cNvSpPr txBox="1"/>
          <p:nvPr/>
        </p:nvSpPr>
        <p:spPr>
          <a:xfrm>
            <a:off x="1254557" y="4700016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로그인 상태에서 상담 진행</a:t>
            </a:r>
            <a:endParaRPr lang="en-US" sz="800" dirty="0">
              <a:latin typeface="+mn-ea"/>
            </a:endParaRPr>
          </a:p>
          <a:p>
            <a:pPr marL="0" indent="0" algn="ctr">
              <a:buNone/>
            </a:pPr>
            <a:r>
              <a:rPr lang="ko-KR" alt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멀티모달</a:t>
            </a:r>
            <a:r>
              <a:rPr lang="ko-KR" alt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요청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523352" y="5029200"/>
            <a:ext cx="672162" cy="171907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5048402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62802" y="4100169"/>
            <a:ext cx="267005" cy="26700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496458" y="4461357"/>
            <a:ext cx="1199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2. 멀티모달 콜봇</a:t>
            </a:r>
            <a:endParaRPr lang="en-US" sz="1000" dirty="0">
              <a:latin typeface="+mn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5526634" y="4700016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링크 클릭 시 앱/웹 실행</a:t>
            </a:r>
            <a:endParaRPr lang="en-US" sz="800" dirty="0">
              <a:latin typeface="+mn-ea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토큰 검증 후 자동 로그인</a:t>
            </a:r>
            <a:endParaRPr lang="en-US" sz="800" dirty="0">
              <a:latin typeface="+mn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5676900" y="5029200"/>
            <a:ext cx="846126" cy="171907"/>
          </a:xfrm>
          <a:prstGeom prst="roundRect">
            <a:avLst>
              <a:gd name="adj" fmla="val 236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6"/>
          <p:cNvSpPr/>
          <p:nvPr/>
        </p:nvSpPr>
        <p:spPr>
          <a:xfrm>
            <a:off x="9286646" y="3923691"/>
            <a:ext cx="2095805" cy="1452066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9809683" y="4328769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3. 전문 상담사</a:t>
            </a:r>
            <a:endParaRPr lang="en-US" sz="1000" dirty="0">
              <a:latin typeface="+mn-ea"/>
            </a:endParaRPr>
          </a:p>
        </p:txBody>
      </p:sp>
      <p:sp>
        <p:nvSpPr>
          <p:cNvPr id="59" name="Text 48"/>
          <p:cNvSpPr txBox="1"/>
          <p:nvPr/>
        </p:nvSpPr>
        <p:spPr>
          <a:xfrm>
            <a:off x="9845345" y="4566513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CTI를 통해 정보 수신</a:t>
            </a:r>
            <a:endParaRPr lang="en-US" sz="800" dirty="0">
              <a:latin typeface="+mn-ea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상담 이력 즉시 확인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9914992" y="4895697"/>
            <a:ext cx="848258" cy="171907"/>
          </a:xfrm>
          <a:prstGeom prst="roundRect">
            <a:avLst>
              <a:gd name="adj" fmla="val 23640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0"/>
          <p:cNvSpPr txBox="1"/>
          <p:nvPr/>
        </p:nvSpPr>
        <p:spPr>
          <a:xfrm>
            <a:off x="1555394" y="5029200"/>
            <a:ext cx="659169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+mn-ea"/>
                <a:cs typeface="Noto Sans KR" pitchFamily="34" charset="-120"/>
              </a:rPr>
              <a:t>Logged In</a:t>
            </a:r>
            <a:endParaRPr lang="en-US" sz="800" dirty="0">
              <a:latin typeface="+mn-ea"/>
            </a:endParaRPr>
          </a:p>
        </p:txBody>
      </p:sp>
      <p:sp>
        <p:nvSpPr>
          <p:cNvPr id="63" name="Text 45"/>
          <p:cNvSpPr txBox="1"/>
          <p:nvPr/>
        </p:nvSpPr>
        <p:spPr>
          <a:xfrm>
            <a:off x="5762317" y="5029200"/>
            <a:ext cx="69086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Auto Auth</a:t>
            </a:r>
            <a:endParaRPr lang="en-US" sz="800" dirty="0">
              <a:latin typeface="+mn-ea"/>
            </a:endParaRPr>
          </a:p>
        </p:txBody>
      </p:sp>
      <p:sp>
        <p:nvSpPr>
          <p:cNvPr id="64" name="Text 30"/>
          <p:cNvSpPr txBox="1"/>
          <p:nvPr/>
        </p:nvSpPr>
        <p:spPr>
          <a:xfrm>
            <a:off x="7899502" y="4354551"/>
            <a:ext cx="103784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Context Transfer </a:t>
            </a:r>
            <a:endParaRPr lang="en-US" sz="800" dirty="0">
              <a:latin typeface="+mn-ea"/>
            </a:endParaRPr>
          </a:p>
        </p:txBody>
      </p:sp>
      <p:sp>
        <p:nvSpPr>
          <p:cNvPr id="65" name="Text 50"/>
          <p:cNvSpPr txBox="1"/>
          <p:nvPr/>
        </p:nvSpPr>
        <p:spPr>
          <a:xfrm>
            <a:off x="9914992" y="4895697"/>
            <a:ext cx="84825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+mn-ea"/>
                <a:cs typeface="Noto Sans KR" pitchFamily="34" charset="-120"/>
              </a:rPr>
              <a:t>Screen Pop</a:t>
            </a:r>
            <a:endParaRPr lang="en-US" sz="8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2489855A-0CE3-CBF2-4D7E-8CF07664982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4FD36F67-E479-360E-45AB-5D59982CEF0C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챗봇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콜봇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상담사 간 끊김 없는 대출 상담 경험을 위한 채널 통합 및 인증 연동 체계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285937"/>
            <a:ext cx="261701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개인화 서비스 전략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03052" y="245065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PERSONALIZATION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03052" y="396855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09</a:t>
            </a:r>
            <a:endParaRPr lang="en-US" sz="18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33095" y="6623914"/>
            <a:ext cx="698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381305" y="1592885"/>
            <a:ext cx="3651199" cy="316108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9049" y="1830629"/>
            <a:ext cx="476402" cy="47640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771754" y="1973275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19049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상황인지형 안내</a:t>
            </a:r>
            <a:endParaRPr lang="en-US" sz="13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19049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고객의 대출 진행 상태(심사 중, 서류 미비, 연체 등)를 실시간으로 파악하여, 가장 시급한 문제 해결을 위한 안내를 최상단에 우선 표출합니다.</a:t>
            </a:r>
            <a:endParaRPr lang="en-US" sz="1000" dirty="0">
              <a:latin typeface="+mn-e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9049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743407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Service Examples</a:t>
            </a:r>
            <a:endParaRPr lang="en-US" sz="800" dirty="0">
              <a:latin typeface="+mn-ea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72210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829360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서류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보완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요청</a:t>
            </a:r>
            <a:endParaRPr lang="en-US" sz="800" dirty="0">
              <a:latin typeface="+mn-ea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723186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784908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심사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중단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안내</a:t>
            </a:r>
            <a:endParaRPr lang="en-US" sz="800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2684221" y="4158691"/>
            <a:ext cx="914400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2741371" y="4158691"/>
            <a:ext cx="8001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연체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알림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/납부</a:t>
            </a:r>
            <a:endParaRPr lang="en-US" sz="800" dirty="0">
              <a:latin typeface="+mn-ea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270248" y="1592885"/>
            <a:ext cx="3651199" cy="3161081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508906" y="1830629"/>
            <a:ext cx="476402" cy="47640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51553" y="1973275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508906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선제 정보 제공</a:t>
            </a:r>
            <a:endParaRPr lang="en-US" sz="1300" dirty="0">
              <a:latin typeface="+mn-ea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4508906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고객이 질문하기 전에 대출 관련 핵심 정보(이번 달 상환액, 적용 금리, 잔액 등)를 상담 시작과 동시에 미리 제시하여 불필요한 탐색을 줄입니다.</a:t>
            </a:r>
            <a:endParaRPr lang="en-US" sz="1000" dirty="0">
              <a:latin typeface="+mn-ea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4508906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4632350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Proactive Data</a:t>
            </a:r>
            <a:endParaRPr lang="en-US" sz="800" dirty="0">
              <a:latin typeface="+mn-ea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4661154" y="4158691"/>
            <a:ext cx="981151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4713274" y="4158691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금월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상환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예정액</a:t>
            </a:r>
            <a:endParaRPr lang="en-US" sz="8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698998" y="4158691"/>
            <a:ext cx="875995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574654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적용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금리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현황</a:t>
            </a:r>
            <a:endParaRPr lang="en-US" sz="800" dirty="0">
              <a:latin typeface="+mn-ea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6631686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668883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대출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잔액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조회</a:t>
            </a:r>
            <a:endParaRPr lang="en-US" sz="800" dirty="0">
              <a:latin typeface="+mn-ea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160106" y="1592885"/>
            <a:ext cx="3651199" cy="3161081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397850" y="1830629"/>
            <a:ext cx="476402" cy="47640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40496" y="1973275"/>
            <a:ext cx="190195" cy="19019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397850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추천형 퀵메뉴</a:t>
            </a:r>
            <a:endParaRPr lang="en-US" sz="13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8397850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최근 상담 이력과 고객 신용 상태를 기반으로 개인별 최적화된 바로가기(Quick Menu)를 동적으로 구성하여 서비스 접근성을 높입니다.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5"/>
          <p:cNvSpPr/>
          <p:nvPr/>
        </p:nvSpPr>
        <p:spPr>
          <a:xfrm>
            <a:off x="8397850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6"/>
          <p:cNvSpPr txBox="1"/>
          <p:nvPr/>
        </p:nvSpPr>
        <p:spPr>
          <a:xfrm>
            <a:off x="8521294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Dynamic UI</a:t>
            </a:r>
            <a:endParaRPr lang="en-US" sz="800" dirty="0">
              <a:latin typeface="+mn-ea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8550097" y="4158691"/>
            <a:ext cx="771754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8"/>
          <p:cNvSpPr txBox="1"/>
          <p:nvPr/>
        </p:nvSpPr>
        <p:spPr>
          <a:xfrm>
            <a:off x="8607247" y="4158691"/>
            <a:ext cx="6574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증명서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발급</a:t>
            </a:r>
            <a:endParaRPr lang="en-US" sz="800" dirty="0">
              <a:latin typeface="+mn-ea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9375800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0"/>
          <p:cNvSpPr txBox="1"/>
          <p:nvPr/>
        </p:nvSpPr>
        <p:spPr>
          <a:xfrm>
            <a:off x="9437522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중도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상환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신청</a:t>
            </a:r>
            <a:endParaRPr lang="en-US" sz="800" dirty="0">
              <a:latin typeface="+mn-ea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10336834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2"/>
          <p:cNvSpPr txBox="1"/>
          <p:nvPr/>
        </p:nvSpPr>
        <p:spPr>
          <a:xfrm>
            <a:off x="10398556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금리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인하</a:t>
            </a:r>
            <a:r>
              <a:rPr lang="en-US" sz="8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요구</a:t>
            </a:r>
            <a:endParaRPr lang="en-US" sz="800" dirty="0">
              <a:latin typeface="+mn-ea"/>
            </a:endParaRPr>
          </a:p>
        </p:txBody>
      </p:sp>
      <p:sp>
        <p:nvSpPr>
          <p:cNvPr id="60" name="Shape 43"/>
          <p:cNvSpPr/>
          <p:nvPr/>
        </p:nvSpPr>
        <p:spPr>
          <a:xfrm>
            <a:off x="381305" y="4991710"/>
            <a:ext cx="7286854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4"/>
          <p:cNvSpPr/>
          <p:nvPr/>
        </p:nvSpPr>
        <p:spPr>
          <a:xfrm>
            <a:off x="381305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57" r="-57"/>
          <a:stretch/>
        </p:blipFill>
        <p:spPr>
          <a:xfrm>
            <a:off x="657454" y="5667451"/>
            <a:ext cx="200254" cy="22860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47902" y="5437022"/>
            <a:ext cx="4715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연동 데이터 소스 (Data Sources)</a:t>
            </a:r>
            <a:endParaRPr lang="en-US" sz="1100" dirty="0">
              <a:latin typeface="+mn-ea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1047902" y="5689397"/>
            <a:ext cx="54068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정확한 개인화를 위해 계정계 및 여신 시스템과 실시간으로 연동하여 데이터를 수집합니다.</a:t>
            </a:r>
            <a:endParaRPr lang="en-US" sz="900" dirty="0">
              <a:latin typeface="+mn-ea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1047902" y="5931713"/>
            <a:ext cx="1238098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/>
          <p:cNvSpPr txBox="1"/>
          <p:nvPr/>
        </p:nvSpPr>
        <p:spPr>
          <a:xfrm>
            <a:off x="1047902" y="5931713"/>
            <a:ext cx="133593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계정계 (Core Banking)</a:t>
            </a:r>
            <a:endParaRPr lang="en-US" sz="8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2355494" y="5931713"/>
            <a:ext cx="12957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0"/>
          <p:cNvSpPr txBox="1"/>
          <p:nvPr/>
        </p:nvSpPr>
        <p:spPr>
          <a:xfrm>
            <a:off x="2355494" y="5931713"/>
            <a:ext cx="137708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여신관리 (Loan System)</a:t>
            </a:r>
            <a:endParaRPr lang="en-US" sz="800" dirty="0">
              <a:latin typeface="+mn-ea"/>
            </a:endParaRPr>
          </a:p>
        </p:txBody>
      </p:sp>
      <p:sp>
        <p:nvSpPr>
          <p:cNvPr id="69" name="Shape 51"/>
          <p:cNvSpPr/>
          <p:nvPr/>
        </p:nvSpPr>
        <p:spPr>
          <a:xfrm>
            <a:off x="3724351" y="5931713"/>
            <a:ext cx="8385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/>
          <p:cNvSpPr txBox="1"/>
          <p:nvPr/>
        </p:nvSpPr>
        <p:spPr>
          <a:xfrm>
            <a:off x="3724351" y="5931713"/>
            <a:ext cx="9144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CSS (신용평가)</a:t>
            </a:r>
            <a:endParaRPr lang="en-US" sz="800" dirty="0">
              <a:latin typeface="+mn-ea"/>
            </a:endParaRPr>
          </a:p>
        </p:txBody>
      </p:sp>
      <p:sp>
        <p:nvSpPr>
          <p:cNvPr id="71" name="Shape 53"/>
          <p:cNvSpPr/>
          <p:nvPr/>
        </p:nvSpPr>
        <p:spPr>
          <a:xfrm>
            <a:off x="4636008" y="5931713"/>
            <a:ext cx="590702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4"/>
          <p:cNvSpPr txBox="1"/>
          <p:nvPr/>
        </p:nvSpPr>
        <p:spPr>
          <a:xfrm>
            <a:off x="4636008" y="5931713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VOC 이력</a:t>
            </a:r>
            <a:endParaRPr lang="en-US" sz="800" dirty="0">
              <a:latin typeface="+mn-ea"/>
            </a:endParaRPr>
          </a:p>
        </p:txBody>
      </p:sp>
      <p:sp>
        <p:nvSpPr>
          <p:cNvPr id="73" name="Shape 55"/>
          <p:cNvSpPr/>
          <p:nvPr/>
        </p:nvSpPr>
        <p:spPr>
          <a:xfrm>
            <a:off x="7905902" y="4991710"/>
            <a:ext cx="3905402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56"/>
          <p:cNvSpPr/>
          <p:nvPr/>
        </p:nvSpPr>
        <p:spPr>
          <a:xfrm>
            <a:off x="7905902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182051" y="5667451"/>
            <a:ext cx="228600" cy="2286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600846" y="5469941"/>
            <a:ext cx="18964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개인정보 보호 (Privacy)</a:t>
            </a:r>
            <a:endParaRPr lang="en-US" sz="1100" dirty="0">
              <a:latin typeface="+mn-ea"/>
            </a:endParaRPr>
          </a:p>
        </p:txBody>
      </p:sp>
      <p:sp>
        <p:nvSpPr>
          <p:cNvPr id="77" name="Text 58"/>
          <p:cNvSpPr txBox="1"/>
          <p:nvPr/>
        </p:nvSpPr>
        <p:spPr>
          <a:xfrm>
            <a:off x="8600846" y="5722315"/>
            <a:ext cx="1843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금융 데이터 마스킹 및 암호화 전송</a:t>
            </a:r>
            <a:endParaRPr lang="en-US" sz="900" dirty="0">
              <a:latin typeface="+mn-ea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마이데이터 최소 수집 원칙 준수</a:t>
            </a:r>
            <a:endParaRPr lang="en-US" sz="900" dirty="0">
              <a:latin typeface="+mn-ea"/>
            </a:endParaRPr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4105662" y="3087014"/>
            <a:ext cx="105156" cy="171907"/>
          </a:xfrm>
          <a:prstGeom prst="rect">
            <a:avLst/>
          </a:prstGeom>
        </p:spPr>
      </p:pic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7985369" y="3087014"/>
            <a:ext cx="105156" cy="171907"/>
          </a:xfrm>
          <a:prstGeom prst="rect">
            <a:avLst/>
          </a:prstGeom>
        </p:spPr>
      </p:pic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AC647B41-C625-0827-F9D7-5A2F06C215F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1" name="Text 8">
            <a:extLst>
              <a:ext uri="{FF2B5EF4-FFF2-40B4-BE49-F238E27FC236}">
                <a16:creationId xmlns:a16="http://schemas.microsoft.com/office/drawing/2014/main" id="{14F64E9E-A43E-50F1-8465-096BD2E0B6A3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대출 고객의 상황과 니즈를 실시간으로 파악하여 맞춤형 상담을 제공하는 개인화 전략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4" y="322881"/>
            <a:ext cx="3239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멀티모달</a:t>
            </a:r>
            <a:r>
              <a:rPr lang="ko-KR" altLang="en-US" sz="21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21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UX/UI 설계 전략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30484" y="254301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DESIGN STRATEGY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30484" y="406091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10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6402" y="1834286"/>
            <a:ext cx="7048195" cy="819302"/>
          </a:xfrm>
          <a:prstGeom prst="roundRect">
            <a:avLst>
              <a:gd name="adj" fmla="val 3114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" y="1976933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898" y="2082089"/>
            <a:ext cx="152705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81405" y="1976933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업무 세분화 UI (Task Breakdown)</a:t>
            </a:r>
            <a:endParaRPr lang="en-US" sz="1200" dirty="0">
              <a:latin typeface="+mn-e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181405" y="2263140"/>
            <a:ext cx="1248156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343254" y="2263140"/>
            <a:ext cx="111878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59669"/>
                </a:solidFill>
                <a:latin typeface="+mn-ea"/>
                <a:cs typeface="Noto Sans KR" pitchFamily="34" charset="-120"/>
              </a:rPr>
              <a:t>단계별</a:t>
            </a:r>
            <a:r>
              <a:rPr lang="en-US" sz="900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간편 진행</a:t>
            </a:r>
            <a:r>
              <a:rPr lang="en-US" sz="900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 </a:t>
            </a:r>
            <a:endParaRPr lang="en-US" sz="900" dirty="0">
              <a:latin typeface="+mn-ea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66444" y="2343607"/>
            <a:ext cx="80047" cy="8595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491372" y="2263140"/>
            <a:ext cx="1446630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2653221" y="2263140"/>
            <a:ext cx="133668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현재 단계 강조 (Focus)</a:t>
            </a:r>
            <a:endParaRPr lang="en-US" sz="900" dirty="0">
              <a:latin typeface="+mn-ea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577326" y="2343607"/>
            <a:ext cx="80047" cy="8595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967765" y="2263140"/>
            <a:ext cx="1114869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4129614" y="2263140"/>
            <a:ext cx="100492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완료 항목 시각화</a:t>
            </a:r>
            <a:endParaRPr lang="en-US" sz="900" dirty="0">
              <a:latin typeface="+mn-ea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4052805" y="2343607"/>
            <a:ext cx="80047" cy="8595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76402" y="27678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476402" y="27678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76656" y="29105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09244" y="3015691"/>
            <a:ext cx="95098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1405" y="2910535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직관적 UI 구성 (Intuitive)</a:t>
            </a:r>
            <a:endParaRPr lang="en-US" sz="1200" dirty="0">
              <a:latin typeface="+mn-ea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1181405" y="3196742"/>
            <a:ext cx="87196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1334109" y="3196742"/>
            <a:ext cx="78728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퀵메뉴 배치</a:t>
            </a:r>
            <a:endParaRPr lang="en-US" sz="900" dirty="0">
              <a:latin typeface="+mn-ea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3268066"/>
            <a:ext cx="83668" cy="8595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2089134" y="3196742"/>
            <a:ext cx="9868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2241837" y="3196742"/>
            <a:ext cx="90321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카드형 선택지</a:t>
            </a:r>
            <a:endParaRPr lang="en-US" sz="900" dirty="0">
              <a:latin typeface="+mn-ea"/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165943" y="3268066"/>
            <a:ext cx="83668" cy="8595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3093696" y="3196742"/>
            <a:ext cx="101812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3246402" y="3196742"/>
            <a:ext cx="9344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높은 명도 대비</a:t>
            </a:r>
            <a:endParaRPr lang="en-US" sz="900" dirty="0">
              <a:latin typeface="+mn-ea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169592" y="3268066"/>
            <a:ext cx="83668" cy="85954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476402" y="36822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476402" y="36822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676656" y="38249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3930091"/>
            <a:ext cx="190195" cy="1527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81405" y="3824935"/>
            <a:ext cx="3439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인터랙티브 대화 (Interactive)</a:t>
            </a:r>
            <a:endParaRPr lang="en-US" sz="1200" dirty="0">
              <a:latin typeface="+mn-ea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1181405" y="4111142"/>
            <a:ext cx="1308707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4"/>
          <p:cNvSpPr txBox="1"/>
          <p:nvPr/>
        </p:nvSpPr>
        <p:spPr>
          <a:xfrm>
            <a:off x="1334110" y="4111142"/>
            <a:ext cx="122848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Typing Motion 적용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4182466"/>
            <a:ext cx="80223" cy="85954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2539018" y="4111142"/>
            <a:ext cx="99651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6"/>
          <p:cNvSpPr txBox="1"/>
          <p:nvPr/>
        </p:nvSpPr>
        <p:spPr>
          <a:xfrm>
            <a:off x="2691724" y="4111142"/>
            <a:ext cx="91628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확인/수정 액션</a:t>
            </a:r>
            <a:endParaRPr lang="en-US" sz="900" dirty="0">
              <a:latin typeface="+mn-ea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614914" y="4182466"/>
            <a:ext cx="80223" cy="85954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3579151" y="4111142"/>
            <a:ext cx="109703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8"/>
          <p:cNvSpPr txBox="1"/>
          <p:nvPr/>
        </p:nvSpPr>
        <p:spPr>
          <a:xfrm>
            <a:off x="3731856" y="4111142"/>
            <a:ext cx="102454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오류 안내 가이드</a:t>
            </a:r>
            <a:endParaRPr lang="en-US" sz="900" dirty="0">
              <a:latin typeface="+mn-ea"/>
            </a:endParaRPr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655046" y="4182466"/>
            <a:ext cx="80223" cy="8595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476402" y="45966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476402" y="45966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676656" y="47393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4844491"/>
            <a:ext cx="152705" cy="15270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181405" y="4739335"/>
            <a:ext cx="2952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진행 과정 시각화 (Visualized)</a:t>
            </a:r>
            <a:endParaRPr lang="en-US" sz="1200" dirty="0">
              <a:latin typeface="+mn-ea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1181405" y="5025542"/>
            <a:ext cx="95780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4"/>
          <p:cNvSpPr txBox="1"/>
          <p:nvPr/>
        </p:nvSpPr>
        <p:spPr>
          <a:xfrm>
            <a:off x="1334110" y="5025542"/>
            <a:ext cx="878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Progress Bar</a:t>
            </a:r>
            <a:endParaRPr lang="en-US" sz="900" dirty="0">
              <a:latin typeface="+mn-ea"/>
            </a:endParaRPr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5096866"/>
            <a:ext cx="79497" cy="85954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2190447" y="5025542"/>
            <a:ext cx="93768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6"/>
          <p:cNvSpPr txBox="1"/>
          <p:nvPr/>
        </p:nvSpPr>
        <p:spPr>
          <a:xfrm>
            <a:off x="2343153" y="5025542"/>
            <a:ext cx="85819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단계별 도움말</a:t>
            </a:r>
            <a:endParaRPr lang="en-US" sz="900" dirty="0">
              <a:latin typeface="+mn-ea"/>
            </a:endParaRPr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67258" y="5096866"/>
            <a:ext cx="79497" cy="8595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3195011" y="5025542"/>
            <a:ext cx="9673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/>
          <p:cNvSpPr txBox="1"/>
          <p:nvPr/>
        </p:nvSpPr>
        <p:spPr>
          <a:xfrm>
            <a:off x="3347716" y="5025542"/>
            <a:ext cx="88788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남은</a:t>
            </a: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단계</a:t>
            </a: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표시</a:t>
            </a:r>
            <a:endParaRPr lang="en-US" sz="900" dirty="0">
              <a:latin typeface="+mn-ea"/>
            </a:endParaRPr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270906" y="5096866"/>
            <a:ext cx="79497" cy="85954"/>
          </a:xfrm>
          <a:prstGeom prst="rect">
            <a:avLst/>
          </a:prstGeom>
        </p:spPr>
      </p:pic>
      <p:sp>
        <p:nvSpPr>
          <p:cNvPr id="67" name="Shape 49"/>
          <p:cNvSpPr/>
          <p:nvPr/>
        </p:nvSpPr>
        <p:spPr>
          <a:xfrm>
            <a:off x="476402" y="55110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0"/>
          <p:cNvSpPr/>
          <p:nvPr/>
        </p:nvSpPr>
        <p:spPr>
          <a:xfrm>
            <a:off x="476402" y="55110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1"/>
          <p:cNvSpPr/>
          <p:nvPr/>
        </p:nvSpPr>
        <p:spPr>
          <a:xfrm>
            <a:off x="676656" y="56537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6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00100" y="5758891"/>
            <a:ext cx="114300" cy="152705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1181405" y="5653735"/>
            <a:ext cx="3391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모바일 최적화 (Optimized)</a:t>
            </a:r>
            <a:endParaRPr lang="en-US" sz="1200" dirty="0">
              <a:latin typeface="+mn-ea"/>
            </a:endParaRPr>
          </a:p>
        </p:txBody>
      </p:sp>
      <p:sp>
        <p:nvSpPr>
          <p:cNvPr id="72" name="Shape 53"/>
          <p:cNvSpPr/>
          <p:nvPr/>
        </p:nvSpPr>
        <p:spPr>
          <a:xfrm>
            <a:off x="1181404" y="5939942"/>
            <a:ext cx="994753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4"/>
          <p:cNvSpPr txBox="1"/>
          <p:nvPr/>
        </p:nvSpPr>
        <p:spPr>
          <a:xfrm>
            <a:off x="1334110" y="5939942"/>
            <a:ext cx="9130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넓은 터치 영역</a:t>
            </a:r>
            <a:endParaRPr lang="en-US" sz="900" dirty="0">
              <a:latin typeface="+mn-ea"/>
            </a:endParaRPr>
          </a:p>
        </p:txBody>
      </p:sp>
      <p:pic>
        <p:nvPicPr>
          <p:cNvPr id="74" name="Image 1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6011266"/>
            <a:ext cx="81747" cy="85954"/>
          </a:xfrm>
          <a:prstGeom prst="rect">
            <a:avLst/>
          </a:prstGeom>
        </p:spPr>
      </p:pic>
      <p:sp>
        <p:nvSpPr>
          <p:cNvPr id="75" name="Shape 55"/>
          <p:cNvSpPr/>
          <p:nvPr/>
        </p:nvSpPr>
        <p:spPr>
          <a:xfrm>
            <a:off x="2217058" y="5939942"/>
            <a:ext cx="1077486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56"/>
          <p:cNvSpPr txBox="1"/>
          <p:nvPr/>
        </p:nvSpPr>
        <p:spPr>
          <a:xfrm>
            <a:off x="2369762" y="5939942"/>
            <a:ext cx="99967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반응형 레이아웃</a:t>
            </a:r>
            <a:endParaRPr lang="en-US" sz="900" dirty="0">
              <a:latin typeface="+mn-ea"/>
            </a:endParaRPr>
          </a:p>
        </p:txBody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93867" y="6011266"/>
            <a:ext cx="81747" cy="85954"/>
          </a:xfrm>
          <a:prstGeom prst="rect">
            <a:avLst/>
          </a:prstGeom>
        </p:spPr>
      </p:pic>
      <p:sp>
        <p:nvSpPr>
          <p:cNvPr id="78" name="Shape 57"/>
          <p:cNvSpPr/>
          <p:nvPr/>
        </p:nvSpPr>
        <p:spPr>
          <a:xfrm>
            <a:off x="3326776" y="5939942"/>
            <a:ext cx="1333561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58"/>
          <p:cNvSpPr txBox="1"/>
          <p:nvPr/>
        </p:nvSpPr>
        <p:spPr>
          <a:xfrm>
            <a:off x="3479481" y="5939942"/>
            <a:ext cx="125181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엄지손가락 존(Zone)</a:t>
            </a:r>
            <a:endParaRPr lang="en-US" sz="900" dirty="0">
              <a:latin typeface="+mn-ea"/>
            </a:endParaRPr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402672" y="6011266"/>
            <a:ext cx="81747" cy="85954"/>
          </a:xfrm>
          <a:prstGeom prst="rect">
            <a:avLst/>
          </a:prstGeom>
        </p:spPr>
      </p:pic>
      <p:pic>
        <p:nvPicPr>
          <p:cNvPr id="81" name="Image 20" descr="preencoded.png"/>
          <p:cNvPicPr>
            <a:picLocks noChangeAspect="1"/>
          </p:cNvPicPr>
          <p:nvPr/>
        </p:nvPicPr>
        <p:blipFill>
          <a:blip r:embed="rId9"/>
          <a:srcRect l="-5" r="-5"/>
          <a:stretch/>
        </p:blipFill>
        <p:spPr>
          <a:xfrm>
            <a:off x="8408822" y="1616364"/>
            <a:ext cx="2878014" cy="5085274"/>
          </a:xfrm>
          <a:prstGeom prst="rect">
            <a:avLst/>
          </a:prstGeom>
        </p:spPr>
      </p:pic>
      <p:sp>
        <p:nvSpPr>
          <p:cNvPr id="82" name="Shape 59"/>
          <p:cNvSpPr/>
          <p:nvPr/>
        </p:nvSpPr>
        <p:spPr>
          <a:xfrm>
            <a:off x="8513977" y="1714648"/>
            <a:ext cx="2668755" cy="4882747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F0272A2-53B0-6538-2F52-8021CEF999F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4" name="Text 8">
            <a:extLst>
              <a:ext uri="{FF2B5EF4-FFF2-40B4-BE49-F238E27FC236}">
                <a16:creationId xmlns:a16="http://schemas.microsoft.com/office/drawing/2014/main" id="{9C7ACBF3-EF6D-C1AB-3A3B-4ECD32A1FE93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대출 고객의 직관적 이해와 편리한 조작을 위한 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UX/UI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설계 원칙 및 구현 전략</a:t>
            </a: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8DBF1D5D-9306-D6E6-58F9-814F60B68E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0170" y="1874687"/>
            <a:ext cx="2597353" cy="43630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대시보드 예시 (Dashboard Example)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1305" y="1869034"/>
            <a:ext cx="4572000" cy="4705502"/>
          </a:xfrm>
          <a:prstGeom prst="roundRect">
            <a:avLst>
              <a:gd name="adj" fmla="val 1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33095" y="2297887"/>
            <a:ext cx="42675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533095" y="2026310"/>
            <a:ext cx="16331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Loan Service Monitoring</a:t>
            </a:r>
            <a:endParaRPr lang="en-US" sz="900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387291" y="2020824"/>
            <a:ext cx="418795" cy="181051"/>
          </a:xfrm>
          <a:prstGeom prst="roundRect">
            <a:avLst>
              <a:gd name="adj" fmla="val 212653"/>
            </a:avLst>
          </a:prstGeom>
          <a:solidFill>
            <a:srgbClr val="FECA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443984" y="2083003"/>
            <a:ext cx="57607" cy="57607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4539082" y="2040026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+mn-ea"/>
                <a:cs typeface="Noto Sans KR" pitchFamily="34" charset="-120"/>
              </a:rPr>
              <a:t>LIVE</a:t>
            </a:r>
            <a:endParaRPr lang="en-US" sz="80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33095" y="2497226"/>
            <a:ext cx="2085746" cy="895198"/>
          </a:xfrm>
          <a:prstGeom prst="roundRect">
            <a:avLst>
              <a:gd name="adj" fmla="val 17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57454" y="2621585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유입 (Active)</a:t>
            </a:r>
            <a:endParaRPr lang="en-US" sz="800" dirty="0">
              <a:latin typeface="+mn-ea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57454" y="2816352"/>
            <a:ext cx="19147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1,245</a:t>
            </a:r>
            <a:endParaRPr lang="en-US" sz="1500" dirty="0">
              <a:latin typeface="+mn-ea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71754" y="3121762"/>
            <a:ext cx="187177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+mn-ea"/>
                <a:cs typeface="Noto Sans KR" pitchFamily="34" charset="-120"/>
              </a:rPr>
              <a:t>접속 증가</a:t>
            </a:r>
            <a:endParaRPr lang="en-US" sz="800" dirty="0">
              <a:latin typeface="+mn-ea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3205" r="-3205"/>
          <a:stretch/>
        </p:blipFill>
        <p:spPr>
          <a:xfrm>
            <a:off x="657454" y="3145536"/>
            <a:ext cx="75895" cy="9509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14854" y="2497226"/>
            <a:ext cx="2085746" cy="895198"/>
          </a:xfrm>
          <a:prstGeom prst="roundRect">
            <a:avLst>
              <a:gd name="adj" fmla="val 17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2838298" y="2621585"/>
            <a:ext cx="1986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대출 심사 성공률</a:t>
            </a:r>
            <a:endParaRPr lang="en-US" sz="800" dirty="0">
              <a:latin typeface="+mn-ea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2838298" y="2816352"/>
            <a:ext cx="19147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82.4%</a:t>
            </a:r>
            <a:endParaRPr lang="en-US" sz="1500" dirty="0">
              <a:latin typeface="+mn-ea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2961742" y="3121762"/>
            <a:ext cx="186263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+mn-ea"/>
                <a:cs typeface="Noto Sans KR" pitchFamily="34" charset="-120"/>
              </a:rPr>
              <a:t>안정적</a:t>
            </a:r>
            <a:endParaRPr lang="en-US" sz="800" dirty="0">
              <a:latin typeface="+mn-ea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2838298" y="3145536"/>
            <a:ext cx="85954" cy="9509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33095" y="3482950"/>
            <a:ext cx="2085746" cy="895198"/>
          </a:xfrm>
          <a:prstGeom prst="roundRect">
            <a:avLst>
              <a:gd name="adj" fmla="val 17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657454" y="360730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폴백 발생 (Fallback)</a:t>
            </a:r>
            <a:endParaRPr lang="en-US" sz="800" dirty="0">
              <a:latin typeface="+mn-ea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657454" y="3802075"/>
            <a:ext cx="19147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145건</a:t>
            </a:r>
            <a:endParaRPr lang="en-US" sz="1500" dirty="0">
              <a:latin typeface="+mn-ea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790956" y="4107485"/>
            <a:ext cx="1852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43F5E"/>
                </a:solidFill>
                <a:latin typeface="+mn-ea"/>
                <a:cs typeface="Noto Sans KR" pitchFamily="34" charset="-120"/>
              </a:rPr>
              <a:t>확인 필요</a:t>
            </a:r>
            <a:endParaRPr lang="en-US" sz="800" dirty="0">
              <a:latin typeface="+mn-ea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454" y="4131259"/>
            <a:ext cx="95098" cy="9509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714854" y="3482950"/>
            <a:ext cx="2085746" cy="895198"/>
          </a:xfrm>
          <a:prstGeom prst="roundRect">
            <a:avLst>
              <a:gd name="adj" fmla="val 17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2838298" y="360730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서비스 이탈률 (Drop)</a:t>
            </a:r>
            <a:endParaRPr lang="en-US" sz="800" dirty="0">
              <a:latin typeface="+mn-ea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2838298" y="3802075"/>
            <a:ext cx="19147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3.5%</a:t>
            </a:r>
            <a:endParaRPr lang="en-US" sz="1500" dirty="0">
              <a:latin typeface="+mn-ea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2961742" y="4107485"/>
            <a:ext cx="186263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Noto Sans KR" pitchFamily="34" charset="-120"/>
              </a:rPr>
              <a:t>유지 중</a:t>
            </a:r>
            <a:endParaRPr lang="en-US" sz="800" dirty="0">
              <a:latin typeface="+mn-ea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838298" y="4131259"/>
            <a:ext cx="85954" cy="9509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3095" y="4517136"/>
            <a:ext cx="4267505" cy="1981505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657454" y="4640580"/>
            <a:ext cx="12444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시나리오별 성공 추이</a:t>
            </a:r>
            <a:endParaRPr lang="en-US" sz="900" dirty="0">
              <a:latin typeface="+mn-ea"/>
            </a:endParaRPr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t="-14" b="-14"/>
          <a:stretch/>
        </p:blipFill>
        <p:spPr>
          <a:xfrm>
            <a:off x="657454" y="4945075"/>
            <a:ext cx="4019702" cy="14292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333695" y="1621231"/>
            <a:ext cx="6667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데이터 기반의 대출 상담 품질 고도화</a:t>
            </a:r>
            <a:endParaRPr lang="en-US" sz="18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333695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5486400" y="201442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상담 과정에서 발생하는 데이터를 실시간으로 분석하여, 고객의 이탈 원인을 파악하고 시나리오를 즉각적으로 개선합니다.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5333695" y="2709367"/>
            <a:ext cx="6476695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5495544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600700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019495" y="2871216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폴백(Fallback) 및 오류 실시간 감지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6019495" y="312359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금리/한도 문의 시 고객의 모호한 발화로 인한 인식 실패나, 소득증명 서류 업로드 실패 등 시스템 오류를 즉시 포착합니다.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6019495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6019495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금리 문의 이해 부족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6963156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6963156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서류 업로드 에러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7791602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7791602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본인인증 실패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5333695" y="4028846"/>
            <a:ext cx="6476695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5495544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5576926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019495" y="4190695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이탈(Drop-off) 지점 분석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6019495" y="444307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대출 한도 조회나 약관 동의 등 특정 단계에서 고객이 상담을 중단하는 지점을 정확히 식별하여 원인을 분석합니다.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6019495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6019495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한도 조회 중단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6761074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6761074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복잡한 약관 절차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7589520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7589520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심사 대기 시간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5333695" y="5347411"/>
            <a:ext cx="6476695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5495544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00700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019495" y="5510174"/>
            <a:ext cx="5820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시나리오 케어 및 완결률 향상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6019495" y="5762549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분석된 데이터를 바탕으로 심사 절차를 단순화하거나 금리 설명을 보완하는 등 시나리오를 개선하여 상담 완결률을 지속적으로 높입니다.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6019495" y="6181344"/>
            <a:ext cx="5806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/>
          <p:cNvSpPr txBox="1"/>
          <p:nvPr/>
        </p:nvSpPr>
        <p:spPr>
          <a:xfrm>
            <a:off x="6019495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절차 단순화</a:t>
            </a:r>
            <a:endParaRPr lang="en-US" sz="800" dirty="0">
              <a:latin typeface="+mn-ea"/>
            </a:endParaRPr>
          </a:p>
        </p:txBody>
      </p:sp>
      <p:sp>
        <p:nvSpPr>
          <p:cNvPr id="71" name="Shape 59"/>
          <p:cNvSpPr/>
          <p:nvPr/>
        </p:nvSpPr>
        <p:spPr>
          <a:xfrm>
            <a:off x="6646774" y="6181344"/>
            <a:ext cx="990295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6646774" y="6181344"/>
            <a:ext cx="110733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서류 안내 가이드 강화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7677302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7677302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용어 설명 보완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통합 운영 관리 및 실시간 대시보드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OPERATION &amp; MONITORING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11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대출 상담 품질 향상을 위한 실시간 모니터링 대시보드 및 </a:t>
            </a: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폴백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오류 케어 체계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71500" y="6696761"/>
            <a:ext cx="73910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1305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305" y="1762049"/>
            <a:ext cx="47549" cy="20766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3359506" y="2009851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9107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대출 상담 처리 시간</a:t>
            </a:r>
            <a:endParaRPr lang="en-US" sz="1200" dirty="0">
              <a:latin typeface="+mn-e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29107" y="2379269"/>
            <a:ext cx="1892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평균 처리 시간</a:t>
            </a:r>
            <a:endParaRPr lang="en-US" sz="2400" dirty="0">
              <a:latin typeface="+mn-ea"/>
            </a:endParaRPr>
          </a:p>
          <a:p>
            <a:pPr marL="0" indent="0" algn="l">
              <a:buNone/>
            </a:pPr>
            <a:r>
              <a:rPr lang="en-US" sz="2400" b="1" kern="0" spc="-37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획기적 단축</a:t>
            </a:r>
            <a:endParaRPr lang="en-US" sz="2400" dirty="0">
              <a:latin typeface="+mn-e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38505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+mn-ea"/>
                <a:cs typeface="Noto Sans KR" pitchFamily="34" charset="-120"/>
              </a:rPr>
              <a:t> 대기 및 심사 시간 최소화 </a:t>
            </a:r>
            <a:endParaRPr lang="en-US" sz="1000" dirty="0">
              <a:latin typeface="+mn-ea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" y="3218688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9107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복잡한 본인인증 및 서류 확인 절차 자동화</a:t>
            </a:r>
            <a:endParaRPr lang="en-US" sz="90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254703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54703" y="1762049"/>
            <a:ext cx="47549" cy="20766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7347204" y="2009851"/>
            <a:ext cx="3429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02506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셀프 서비스 채널</a:t>
            </a:r>
            <a:endParaRPr lang="en-US" sz="1200" dirty="0">
              <a:latin typeface="+mn-ea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4502506" y="2379269"/>
            <a:ext cx="21799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셀프 처리 완결률</a:t>
            </a:r>
            <a:endParaRPr lang="en-US" sz="2400" dirty="0">
              <a:latin typeface="+mn-ea"/>
            </a:endParaRPr>
          </a:p>
          <a:p>
            <a:pPr marL="0" indent="0" algn="l">
              <a:buNone/>
            </a:pPr>
            <a:r>
              <a:rPr lang="en-US" sz="2400" b="1" kern="0" spc="-37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대폭 향상</a:t>
            </a:r>
            <a:endParaRPr lang="en-US" sz="2400" dirty="0">
              <a:latin typeface="+mn-ea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711903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+mn-ea"/>
                <a:cs typeface="Noto Sans KR" pitchFamily="34" charset="-120"/>
              </a:rPr>
              <a:t> 서류 제출 및 한도 조회 자동화 </a:t>
            </a:r>
            <a:endParaRPr lang="en-US" sz="1000" dirty="0">
              <a:latin typeface="+mn-ea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2506" y="3218688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02506" y="3426257"/>
            <a:ext cx="3305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상담사 연결 없는 One-Stop 대출 프로세스</a:t>
            </a:r>
            <a:endParaRPr lang="en-US" sz="900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128102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128102" y="1762049"/>
            <a:ext cx="47549" cy="20766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alphaModFix amt="8000"/>
          </a:blip>
          <a:srcRect/>
          <a:stretch/>
        </p:blipFill>
        <p:spPr>
          <a:xfrm>
            <a:off x="10992002" y="2009851"/>
            <a:ext cx="5715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375904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업무 효율성 및 만족도</a:t>
            </a:r>
            <a:endParaRPr lang="en-US" sz="1200" dirty="0">
              <a:latin typeface="+mn-ea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8375904" y="2379269"/>
            <a:ext cx="21799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상담사 및 고객</a:t>
            </a:r>
            <a:endParaRPr lang="en-US" sz="2400" dirty="0">
              <a:latin typeface="+mn-ea"/>
            </a:endParaRPr>
          </a:p>
          <a:p>
            <a:pPr marL="0" indent="0" algn="l">
              <a:buNone/>
            </a:pPr>
            <a:r>
              <a:rPr lang="en-US" sz="2400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만족도 동반 상승</a:t>
            </a:r>
            <a:endParaRPr lang="en-US" sz="2400" dirty="0">
              <a:latin typeface="+mn-ea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8585302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 단순 반복 업무 제거 및 경험 개선 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75904" y="3218688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75904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고부가가치 상담 집중으로 업무 피로도 경감</a:t>
            </a:r>
            <a:endParaRPr lang="en-US" sz="900" dirty="0">
              <a:latin typeface="+mn-ea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381305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107" y="4203700"/>
            <a:ext cx="514807" cy="514807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898" y="4356405"/>
            <a:ext cx="209398" cy="20939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14907" y="4154322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신속성 확보</a:t>
            </a:r>
            <a:endParaRPr lang="en-US" sz="1200" dirty="0">
              <a:latin typeface="+mn-ea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314907" y="4435043"/>
            <a:ext cx="15124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즉각적인 한도/금리 조회</a:t>
            </a:r>
            <a:endParaRPr lang="en-US" sz="900" dirty="0">
              <a:latin typeface="+mn-ea"/>
            </a:endParaRPr>
          </a:p>
        </p:txBody>
      </p:sp>
      <p:sp>
        <p:nvSpPr>
          <p:cNvPr id="37" name="Text 27"/>
          <p:cNvSpPr txBox="1"/>
          <p:nvPr/>
        </p:nvSpPr>
        <p:spPr>
          <a:xfrm>
            <a:off x="1314907" y="4615180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대기 시간 Zero화 실현</a:t>
            </a:r>
            <a:endParaRPr lang="en-US" sz="9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3274466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22269" y="4203700"/>
            <a:ext cx="514807" cy="514807"/>
          </a:xfrm>
          <a:prstGeom prst="rect">
            <a:avLst/>
          </a:prstGeom>
        </p:spPr>
      </p:pic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l="-1528" r="-1528"/>
          <a:stretch/>
        </p:blipFill>
        <p:spPr>
          <a:xfrm>
            <a:off x="3697834" y="4356405"/>
            <a:ext cx="161849" cy="20939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208069" y="4154322"/>
            <a:ext cx="13889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정확성 제고</a:t>
            </a:r>
            <a:endParaRPr lang="en-US" sz="1200" dirty="0">
              <a:latin typeface="+mn-ea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4208069" y="4435043"/>
            <a:ext cx="15892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오안내 방지 및 규정 준수</a:t>
            </a:r>
            <a:endParaRPr lang="en-US" sz="900" dirty="0">
              <a:latin typeface="+mn-ea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4208069" y="4615180"/>
            <a:ext cx="14063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표준 스크립트 기반 안내</a:t>
            </a:r>
            <a:endParaRPr lang="en-US" sz="900" dirty="0">
              <a:latin typeface="+mn-ea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167628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5430" y="4203700"/>
            <a:ext cx="514807" cy="514807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2"/>
          <a:srcRect l="-461" r="-461"/>
          <a:stretch/>
        </p:blipFill>
        <p:spPr>
          <a:xfrm>
            <a:off x="6553505" y="4356405"/>
            <a:ext cx="237744" cy="20939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101230" y="4154322"/>
            <a:ext cx="129661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심사 편의성</a:t>
            </a:r>
            <a:endParaRPr lang="en-US" sz="12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7101230" y="4435043"/>
            <a:ext cx="1388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모바일 서류 간편 제출</a:t>
            </a:r>
            <a:endParaRPr lang="en-US" sz="900" dirty="0">
              <a:latin typeface="+mn-ea"/>
            </a:endParaRPr>
          </a:p>
        </p:txBody>
      </p:sp>
      <p:sp>
        <p:nvSpPr>
          <p:cNvPr id="49" name="Text 35"/>
          <p:cNvSpPr txBox="1"/>
          <p:nvPr/>
        </p:nvSpPr>
        <p:spPr>
          <a:xfrm>
            <a:off x="7101230" y="4615180"/>
            <a:ext cx="14538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OCR 자동 인식 기술 적용</a:t>
            </a:r>
            <a:endParaRPr lang="en-US" sz="900" dirty="0">
              <a:latin typeface="+mn-ea"/>
            </a:endParaRPr>
          </a:p>
        </p:txBody>
      </p:sp>
      <p:sp>
        <p:nvSpPr>
          <p:cNvPr id="50" name="Shape 36"/>
          <p:cNvSpPr/>
          <p:nvPr/>
        </p:nvSpPr>
        <p:spPr>
          <a:xfrm>
            <a:off x="9060790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08592" y="4203700"/>
            <a:ext cx="514807" cy="514807"/>
          </a:xfrm>
          <a:prstGeom prst="rect">
            <a:avLst/>
          </a:prstGeom>
        </p:spPr>
      </p:pic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460382" y="4356405"/>
            <a:ext cx="209398" cy="209398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9994392" y="4154322"/>
            <a:ext cx="15124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최적화</a:t>
            </a:r>
            <a:endParaRPr lang="en-US" sz="1200" dirty="0">
              <a:latin typeface="+mn-ea"/>
            </a:endParaRPr>
          </a:p>
        </p:txBody>
      </p:sp>
      <p:sp>
        <p:nvSpPr>
          <p:cNvPr id="54" name="Text 38"/>
          <p:cNvSpPr txBox="1"/>
          <p:nvPr/>
        </p:nvSpPr>
        <p:spPr>
          <a:xfrm>
            <a:off x="9994392" y="4435043"/>
            <a:ext cx="17172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데이터 기반 상담 품질 관리</a:t>
            </a:r>
            <a:endParaRPr lang="en-US" sz="900" dirty="0">
              <a:latin typeface="+mn-ea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9994392" y="4615180"/>
            <a:ext cx="15124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모니터링 체계</a:t>
            </a:r>
            <a:endParaRPr lang="en-US" sz="900" dirty="0">
              <a:latin typeface="+mn-ea"/>
            </a:endParaRPr>
          </a:p>
        </p:txBody>
      </p:sp>
      <p:sp>
        <p:nvSpPr>
          <p:cNvPr id="56" name="Shape 40"/>
          <p:cNvSpPr/>
          <p:nvPr/>
        </p:nvSpPr>
        <p:spPr>
          <a:xfrm>
            <a:off x="381305" y="5038954"/>
            <a:ext cx="11430000" cy="1657807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1"/>
          <p:cNvSpPr txBox="1"/>
          <p:nvPr/>
        </p:nvSpPr>
        <p:spPr>
          <a:xfrm>
            <a:off x="676656" y="5239207"/>
            <a:ext cx="10954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추가 기대효과 (Additional Benefits)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676656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4"/>
          <a:srcRect l="-1507" r="-1507"/>
          <a:stretch/>
        </p:blipFill>
        <p:spPr>
          <a:xfrm>
            <a:off x="743407" y="5653430"/>
            <a:ext cx="171907" cy="133502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1095451" y="5567477"/>
            <a:ext cx="2551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고객 이탈률 감소</a:t>
            </a:r>
            <a:endParaRPr lang="en-US" sz="1000" dirty="0">
              <a:latin typeface="+mn-ea"/>
            </a:endParaRPr>
          </a:p>
        </p:txBody>
      </p:sp>
      <p:sp>
        <p:nvSpPr>
          <p:cNvPr id="62" name="Text 45"/>
          <p:cNvSpPr txBox="1"/>
          <p:nvPr/>
        </p:nvSpPr>
        <p:spPr>
          <a:xfrm>
            <a:off x="1095451" y="5796077"/>
            <a:ext cx="2932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상담 중단 및 포기 최소화로 대출 실행 전환율 증대</a:t>
            </a:r>
            <a:endParaRPr lang="en-US" sz="900" dirty="0">
              <a:latin typeface="+mn-ea"/>
            </a:endParaRPr>
          </a:p>
        </p:txBody>
      </p:sp>
      <p:sp>
        <p:nvSpPr>
          <p:cNvPr id="63" name="Shape 46"/>
          <p:cNvSpPr/>
          <p:nvPr/>
        </p:nvSpPr>
        <p:spPr>
          <a:xfrm>
            <a:off x="4384548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70502" y="5653430"/>
            <a:ext cx="133502" cy="133502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4803343" y="5567477"/>
            <a:ext cx="2658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서비스 접근성 향상</a:t>
            </a:r>
            <a:endParaRPr lang="en-US" sz="1000" dirty="0">
              <a:latin typeface="+mn-ea"/>
            </a:endParaRPr>
          </a:p>
        </p:txBody>
      </p:sp>
      <p:sp>
        <p:nvSpPr>
          <p:cNvPr id="66" name="Text 48"/>
          <p:cNvSpPr txBox="1"/>
          <p:nvPr/>
        </p:nvSpPr>
        <p:spPr>
          <a:xfrm>
            <a:off x="4803343" y="5796077"/>
            <a:ext cx="3057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24시간 365일 중단 없는 셀프 대출 상담 서비스 제공</a:t>
            </a:r>
            <a:endParaRPr lang="en-US" sz="9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8093354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178394" y="5653430"/>
            <a:ext cx="133502" cy="133502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8512150" y="5567477"/>
            <a:ext cx="25658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규정 준수(Compliance) 강화</a:t>
            </a:r>
            <a:endParaRPr lang="en-US" sz="1000" dirty="0">
              <a:latin typeface="+mn-ea"/>
            </a:endParaRPr>
          </a:p>
        </p:txBody>
      </p:sp>
      <p:sp>
        <p:nvSpPr>
          <p:cNvPr id="70" name="Text 51"/>
          <p:cNvSpPr txBox="1"/>
          <p:nvPr/>
        </p:nvSpPr>
        <p:spPr>
          <a:xfrm>
            <a:off x="8512150" y="5796077"/>
            <a:ext cx="3044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필수 고지 사항 자동 안내로 불완전 판매 리스크 해소</a:t>
            </a:r>
            <a:endParaRPr lang="en-US" sz="900" dirty="0">
              <a:latin typeface="+mn-ea"/>
            </a:endParaRPr>
          </a:p>
        </p:txBody>
      </p:sp>
      <p:sp>
        <p:nvSpPr>
          <p:cNvPr id="71" name="Shape 52"/>
          <p:cNvSpPr/>
          <p:nvPr/>
        </p:nvSpPr>
        <p:spPr>
          <a:xfrm>
            <a:off x="676656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771754" y="6184697"/>
            <a:ext cx="114300" cy="133502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95451" y="6098743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데이터 활용 극대화</a:t>
            </a:r>
            <a:endParaRPr lang="en-US" sz="1000" dirty="0">
              <a:latin typeface="+mn-ea"/>
            </a:endParaRPr>
          </a:p>
        </p:txBody>
      </p:sp>
      <p:sp>
        <p:nvSpPr>
          <p:cNvPr id="74" name="Text 54"/>
          <p:cNvSpPr txBox="1"/>
          <p:nvPr/>
        </p:nvSpPr>
        <p:spPr>
          <a:xfrm>
            <a:off x="1095451" y="6327343"/>
            <a:ext cx="32223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상담 패턴 및 이탈 지점 분석을 통한 서비스 고도화</a:t>
            </a:r>
            <a:endParaRPr lang="en-US" sz="900" dirty="0">
              <a:latin typeface="+mn-ea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4384548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6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470502" y="6184697"/>
            <a:ext cx="133502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4803343" y="6098743"/>
            <a:ext cx="2839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비용 효율성 제고</a:t>
            </a:r>
            <a:endParaRPr lang="en-US" sz="1000" dirty="0">
              <a:latin typeface="+mn-ea"/>
            </a:endParaRPr>
          </a:p>
        </p:txBody>
      </p:sp>
      <p:sp>
        <p:nvSpPr>
          <p:cNvPr id="78" name="Text 57"/>
          <p:cNvSpPr txBox="1"/>
          <p:nvPr/>
        </p:nvSpPr>
        <p:spPr>
          <a:xfrm>
            <a:off x="4803343" y="6327343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단순 문의 자동화 처리로 인당 상담 처리 비용(CPT) 절감</a:t>
            </a:r>
            <a:endParaRPr lang="en-US" sz="900" dirty="0">
              <a:latin typeface="+mn-ea"/>
            </a:endParaRPr>
          </a:p>
        </p:txBody>
      </p:sp>
      <p:sp>
        <p:nvSpPr>
          <p:cNvPr id="79" name="Shape 58"/>
          <p:cNvSpPr/>
          <p:nvPr/>
        </p:nvSpPr>
        <p:spPr>
          <a:xfrm>
            <a:off x="8093354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178394" y="6184697"/>
            <a:ext cx="133502" cy="133502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8512150" y="6098743"/>
            <a:ext cx="2600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고객 충성도 제고</a:t>
            </a:r>
            <a:endParaRPr lang="en-US" sz="1000" dirty="0">
              <a:latin typeface="+mn-ea"/>
            </a:endParaRPr>
          </a:p>
        </p:txBody>
      </p:sp>
      <p:sp>
        <p:nvSpPr>
          <p:cNvPr id="82" name="Text 60"/>
          <p:cNvSpPr txBox="1"/>
          <p:nvPr/>
        </p:nvSpPr>
        <p:spPr>
          <a:xfrm>
            <a:off x="8512150" y="6327343"/>
            <a:ext cx="29068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빠르고 편리한 디지털 경험 제공으로 재이용률 상승</a:t>
            </a:r>
            <a:endParaRPr lang="en-US" sz="900" dirty="0">
              <a:latin typeface="+mn-ea"/>
            </a:endParaRPr>
          </a:p>
        </p:txBody>
      </p:sp>
      <p:sp>
        <p:nvSpPr>
          <p:cNvPr id="84" name="Text 62"/>
          <p:cNvSpPr txBox="1"/>
          <p:nvPr/>
        </p:nvSpPr>
        <p:spPr>
          <a:xfrm>
            <a:off x="381305" y="261524"/>
            <a:ext cx="42729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구축 기대효과 및 향후 비전</a:t>
            </a:r>
            <a:endParaRPr lang="en-US" sz="2400" dirty="0">
              <a:latin typeface="+mn-ea"/>
            </a:endParaRPr>
          </a:p>
        </p:txBody>
      </p:sp>
      <p:sp>
        <p:nvSpPr>
          <p:cNvPr id="86" name="Text 64"/>
          <p:cNvSpPr txBox="1"/>
          <p:nvPr/>
        </p:nvSpPr>
        <p:spPr>
          <a:xfrm>
            <a:off x="10747858" y="238566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+mn-ea"/>
                <a:cs typeface="Noto Sans KR" pitchFamily="34" charset="-120"/>
              </a:rPr>
              <a:t>IMPACT &amp; VISION</a:t>
            </a:r>
            <a:endParaRPr lang="en-US" sz="900" dirty="0">
              <a:latin typeface="+mn-ea"/>
            </a:endParaRPr>
          </a:p>
        </p:txBody>
      </p:sp>
      <p:sp>
        <p:nvSpPr>
          <p:cNvPr id="87" name="Text 65"/>
          <p:cNvSpPr txBox="1"/>
          <p:nvPr/>
        </p:nvSpPr>
        <p:spPr>
          <a:xfrm>
            <a:off x="10803636" y="391271"/>
            <a:ext cx="1010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12</a:t>
            </a:r>
            <a:endParaRPr lang="en-US" sz="1800" dirty="0">
              <a:latin typeface="+mn-ea"/>
            </a:endParaRPr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C242985F-CD02-9F5D-A611-F96D01F74E4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9" name="Text 8">
            <a:extLst>
              <a:ext uri="{FF2B5EF4-FFF2-40B4-BE49-F238E27FC236}">
                <a16:creationId xmlns:a16="http://schemas.microsoft.com/office/drawing/2014/main" id="{338AA55C-A288-24E9-3EBB-61A6E14B3E32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저축은행 대출 상담 </a:t>
            </a:r>
            <a:r>
              <a:rPr lang="ko-KR" altLang="en-US" sz="13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멀티모달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솔루션 도입을 통한 고객 경험 혁신 및 운영 효율성 극대화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1896</Words>
  <Application>Microsoft Office PowerPoint</Application>
  <PresentationFormat>와이드스크린</PresentationFormat>
  <Paragraphs>388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명길 정</cp:lastModifiedBy>
  <cp:revision>4</cp:revision>
  <dcterms:created xsi:type="dcterms:W3CDTF">2026-03-10T12:17:55Z</dcterms:created>
  <dcterms:modified xsi:type="dcterms:W3CDTF">2026-03-10T23:45:07Z</dcterms:modified>
</cp:coreProperties>
</file>