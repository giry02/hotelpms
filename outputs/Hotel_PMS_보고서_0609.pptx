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9" r:id="rId4"/>
    <p:sldId id="267" r:id="rId5"/>
    <p:sldId id="266" r:id="rId6"/>
    <p:sldId id="265" r:id="rId7"/>
    <p:sldId id="261" r:id="rId8"/>
    <p:sldId id="264" r:id="rId9"/>
    <p:sldId id="270" r:id="rId10"/>
    <p:sldId id="263" r:id="rId11"/>
    <p:sldId id="262" r:id="rId12"/>
    <p:sldId id="259" r:id="rId13"/>
    <p:sldId id="268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63D56A-2474-4479-B405-D1542D071C1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48AD0E-20B9-455A-8068-B2193BFC59B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64759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1599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06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7396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0809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32154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8481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9796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5462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4062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5145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94379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762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7606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8A1860-06EF-0BC5-745E-0396A5993F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71EC41-C341-EEE6-3EBE-34A17E5B2D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BB3075-4AFF-3926-D898-76553DF4E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41E489-4A6B-992B-F97B-570A8C119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E24ED3-B498-80C9-3A14-622CF7351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6137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2DEBF0-624F-4B86-206D-DE26D21F4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B081D7-1FDB-560A-33D6-237CFDC94B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F7F55BF-AE93-E66E-D24C-1EB38BEB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608CD6-A5F2-D2E6-A461-092282508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CDF52A-C398-D495-65CD-B1BB6CA46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376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EA05C6-5A4B-3A39-F7E1-A914AEF98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6447025-100F-B705-B713-813F99844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721D80-785D-EA0B-AEE0-51E9A6A16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827033-143B-6155-A764-7AF1CD737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6EE1AC-8769-CC24-7699-23C1A5D9F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556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2D3B2-4C28-41D0-192D-35CCFA8B7B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4AD7EB-7256-CD60-BACA-DBEA24AD55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12D1870-5169-960D-54EE-47A91130E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A96B63-B1FB-B6E3-4290-3D97EA0E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6735796-2D3D-37BE-083C-4B12A9682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7E29D2-3D65-02B8-BDA9-6B11B042E0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4595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CC29D7-7BA6-A987-20C7-67B366AF8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2A2925-A252-5EB9-3F09-4200CD26D9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637E66-A6EB-5B58-3DF7-6CC7BFA28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C3E4AC9-667F-6051-C327-E1B1BDA673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1B1646C-8AA1-54A8-59E2-350BD8A164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D13CBDD-2D9A-41C7-2157-381F9481C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5FFAD3F-5025-396F-AD34-B74A53B0E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1A18900-16EC-FCCE-3EFA-FF68DDCEB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242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F37AD-3590-66FB-958F-D75017BC3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AF9CA0A-CB70-405E-98B4-D333EBB1E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69C69EA-5D8A-728B-855D-6EF60BD25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D1DFF68-30B2-F021-4622-F6C780D16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0641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48316E0-E2DE-A3DD-A6B4-CB6659688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1C7362C-5A7B-3627-3649-05E998C52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4E61407-F90F-2614-7A37-5C4B50DF8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8189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8F4ABE-1E47-534B-7134-6D180B6D0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E0D7FD-8360-82A3-5207-E1EDCA9C4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0B9AB1F-DDAE-F24D-3B79-09831504A5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57B0AFD-16B9-7136-A3D4-3CDA10E36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7DFA9A-D489-7084-F0A4-40B56286C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58834D6-2E4B-B964-FCB3-BDB28622D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118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2C2C6C-3661-D7D4-D15F-2BCB827DB6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F1DB109-B0C7-80EA-64F4-6FD420862F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7A4B821-CD67-DF3D-F9EE-0F75C912AA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3964AD-6AE7-DCF3-ABB9-1E3195BB04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03FA25-CB42-058D-18D8-751A12DAB3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5A3BB27-2F73-EA1A-7E8B-67531C110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604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71B91-0928-4FB4-FDA1-A78B61081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450FC4-FC3B-C84D-F4DC-F79ED6EE56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1B55B8-5965-2943-33BC-6813E76DE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6D49A6-2D64-5787-F736-1A51B8C7E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FCD64D-0C9B-C9AA-1059-09FBE05025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266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71527BE-9C5D-F588-BEF1-A3CBC981BF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88A91FE-09AC-44AA-38F5-C0BE1E3BF3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FFF36C1-31B9-2C87-4A6A-48AC49E26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9BC96C-F19B-1A3E-E779-51DEBBEA0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A4ABA19-6109-F37A-A3F0-542F0C2BD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5988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 userDrawn="1"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4279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2212292-FE28-AF4C-3A2B-1F96E65B4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A283D93-37FF-5E96-E729-E5D78A2FB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142AD7-5125-4343-CF72-42EC6A7041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83FDEF-8537-400D-93D8-FA0DD8FA5A24}" type="datetimeFigureOut">
              <a:rPr lang="ko-KR" altLang="en-US" smtClean="0"/>
              <a:t>2026-06-09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8640972-64FB-BF70-B84D-8DA0A2A2B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85BDD4-2F2E-C4CA-6735-FB2CCDB4F2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06C7F4-BB44-47FD-832A-8F920548AF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2853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8.png"/><Relationship Id="rId11" Type="http://schemas.openxmlformats.org/officeDocument/2006/relationships/image" Target="../media/image43.png"/><Relationship Id="rId5" Type="http://schemas.openxmlformats.org/officeDocument/2006/relationships/image" Target="../media/image37.png"/><Relationship Id="rId10" Type="http://schemas.openxmlformats.org/officeDocument/2006/relationships/image" Target="../media/image42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12" Type="http://schemas.openxmlformats.org/officeDocument/2006/relationships/image" Target="../media/image5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3.png"/><Relationship Id="rId11" Type="http://schemas.openxmlformats.org/officeDocument/2006/relationships/image" Target="../media/image58.png"/><Relationship Id="rId5" Type="http://schemas.openxmlformats.org/officeDocument/2006/relationships/image" Target="../media/image52.png"/><Relationship Id="rId15" Type="http://schemas.openxmlformats.org/officeDocument/2006/relationships/image" Target="../media/image2.png"/><Relationship Id="rId10" Type="http://schemas.openxmlformats.org/officeDocument/2006/relationships/image" Target="../media/image57.png"/><Relationship Id="rId4" Type="http://schemas.openxmlformats.org/officeDocument/2006/relationships/image" Target="../media/image51.png"/><Relationship Id="rId9" Type="http://schemas.openxmlformats.org/officeDocument/2006/relationships/image" Target="../media/image56.png"/><Relationship Id="rId14" Type="http://schemas.openxmlformats.org/officeDocument/2006/relationships/image" Target="../media/image6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1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6.png"/><Relationship Id="rId11" Type="http://schemas.openxmlformats.org/officeDocument/2006/relationships/image" Target="../media/image2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64.png"/><Relationship Id="rId9" Type="http://schemas.openxmlformats.org/officeDocument/2006/relationships/image" Target="../media/image6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Relationship Id="rId9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00.png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19" Type="http://schemas.openxmlformats.org/officeDocument/2006/relationships/image" Target="../media/image103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4" name="Shape 2"/>
          <p:cNvSpPr/>
          <p:nvPr/>
        </p:nvSpPr>
        <p:spPr>
          <a:xfrm>
            <a:off x="6476695" y="-1904695"/>
            <a:ext cx="7619695" cy="7619695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Shape 3"/>
          <p:cNvSpPr/>
          <p:nvPr/>
        </p:nvSpPr>
        <p:spPr>
          <a:xfrm>
            <a:off x="-952805" y="2095805"/>
            <a:ext cx="5715000" cy="5715000"/>
          </a:xfrm>
          <a:prstGeom prst="ellipse">
            <a:avLst/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-217" r="-217"/>
          <a:stretch/>
        </p:blipFill>
        <p:spPr>
          <a:xfrm>
            <a:off x="952805" y="759866"/>
            <a:ext cx="952805" cy="7589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52805" y="1217066"/>
            <a:ext cx="10458907" cy="2572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3400" b="1" kern="0" spc="-13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Hotel PMS </a:t>
            </a:r>
            <a:r>
              <a:rPr lang="ko-KR" altLang="en-US" sz="3400" b="1" kern="0" spc="-13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통합 운영 대시보드</a:t>
            </a:r>
          </a:p>
          <a:p>
            <a:pPr marL="0" indent="0" algn="l">
              <a:buNone/>
            </a:pPr>
            <a:r>
              <a:rPr lang="ko-KR" altLang="en-US" sz="3400" b="1" kern="0" spc="-135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구축 보고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952805" y="5784494"/>
            <a:ext cx="10287000" cy="9144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7"/>
          <p:cNvSpPr txBox="1"/>
          <p:nvPr/>
        </p:nvSpPr>
        <p:spPr>
          <a:xfrm>
            <a:off x="952805" y="6098134"/>
            <a:ext cx="14383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52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Report Date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6365138"/>
            <a:ext cx="162123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2026. 06. 10</a:t>
            </a:r>
            <a:endParaRPr lang="en-US" sz="1800" dirty="0"/>
          </a:p>
        </p:txBody>
      </p:sp>
      <p:sp>
        <p:nvSpPr>
          <p:cNvPr id="14" name="Text 11"/>
          <p:cNvSpPr txBox="1"/>
          <p:nvPr/>
        </p:nvSpPr>
        <p:spPr>
          <a:xfrm>
            <a:off x="952805" y="2962199"/>
            <a:ext cx="10394899" cy="933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dirty="0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호텔 운영 데이터를 예약부터 정산까지 하나로 연결하는 </a:t>
            </a:r>
            <a:r>
              <a:rPr lang="en-US" altLang="ko-KR" dirty="0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SaaS</a:t>
            </a:r>
            <a:r>
              <a:rPr lang="ko-KR" altLang="en-US" dirty="0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 통합 </a:t>
            </a:r>
            <a:r>
              <a:rPr lang="en-US" altLang="ko-KR" dirty="0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PMS </a:t>
            </a:r>
            <a:r>
              <a:rPr lang="ko-KR" altLang="en-US" dirty="0">
                <a:solidFill>
                  <a:srgbClr val="DBEAFE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체계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7354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381305" y="302025"/>
            <a:ext cx="45153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>
                <a:solidFill>
                  <a:srgbClr val="FFFFFF"/>
                </a:solidFill>
                <a:latin typeface="+mj-ea"/>
                <a:ea typeface="+mj-ea"/>
                <a:cs typeface="Noto Sans KR" pitchFamily="34" charset="-120"/>
              </a:rPr>
              <a:t>구축 목적</a:t>
            </a:r>
            <a:endParaRPr lang="en-US" sz="2400" dirty="0">
              <a:latin typeface="+mj-ea"/>
              <a:ea typeface="+mj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631729" y="247802"/>
            <a:ext cx="11814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j-ea"/>
                <a:ea typeface="+mj-ea"/>
                <a:cs typeface="Noto Sans KR" pitchFamily="34" charset="-120"/>
              </a:rPr>
              <a:t>PROJECT OVERVIEW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0631729" y="400507"/>
            <a:ext cx="11814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j-ea"/>
                <a:ea typeface="+mj-ea"/>
                <a:cs typeface="Noto Sans KR" pitchFamily="34" charset="-120"/>
              </a:rPr>
              <a:t>01</a:t>
            </a:r>
            <a:endParaRPr lang="en-US" sz="1800" dirty="0">
              <a:latin typeface="+mj-ea"/>
              <a:ea typeface="+mj-ea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호텔 운영 데이터를 예약부터 정산까지 하나로 연결하는 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PMS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체계 구축</a:t>
            </a:r>
            <a:endParaRPr lang="en-US" sz="1400" b="1" dirty="0">
              <a:latin typeface="+mj-ea"/>
              <a:ea typeface="+mj-ea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381305" y="1686154"/>
            <a:ext cx="3685946" cy="2819095"/>
          </a:xfrm>
          <a:prstGeom prst="roundRect">
            <a:avLst>
              <a:gd name="adj" fmla="val 26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1"/>
          <p:cNvSpPr/>
          <p:nvPr/>
        </p:nvSpPr>
        <p:spPr>
          <a:xfrm>
            <a:off x="381305" y="1686154"/>
            <a:ext cx="3685946" cy="47549"/>
          </a:xfrm>
          <a:prstGeom prst="roundRect">
            <a:avLst>
              <a:gd name="adj" fmla="val 155925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2"/>
          <p:cNvSpPr/>
          <p:nvPr/>
        </p:nvSpPr>
        <p:spPr>
          <a:xfrm>
            <a:off x="629107" y="1971446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52551" y="2095805"/>
            <a:ext cx="171907" cy="171907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1190549" y="2052828"/>
            <a:ext cx="185897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운영 데이터 통합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18" name="Text 14"/>
          <p:cNvSpPr txBox="1"/>
          <p:nvPr/>
        </p:nvSpPr>
        <p:spPr>
          <a:xfrm>
            <a:off x="629107" y="2533802"/>
            <a:ext cx="3267151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예약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객실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하우스키핑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시설보수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정산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부가서비스 데이터를 하나의 운영 흐름으로 연결합니다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.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19" name="Text 15"/>
          <p:cNvSpPr txBox="1"/>
          <p:nvPr/>
        </p:nvSpPr>
        <p:spPr>
          <a:xfrm>
            <a:off x="771754" y="3268980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프론트</a:t>
            </a:r>
            <a:r>
              <a:rPr lang="en-US" altLang="ko-KR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객실</a:t>
            </a:r>
            <a:r>
              <a:rPr lang="en-US" altLang="ko-KR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정산 화면 간 동일 데이터 기준 적용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0" name="Text 16"/>
          <p:cNvSpPr txBox="1"/>
          <p:nvPr/>
        </p:nvSpPr>
        <p:spPr>
          <a:xfrm>
            <a:off x="771754" y="3524098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상태 변경이 관련 업무 이벤트로 자동 연결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1" name="Text 17"/>
          <p:cNvSpPr txBox="1"/>
          <p:nvPr/>
        </p:nvSpPr>
        <p:spPr>
          <a:xfrm>
            <a:off x="771754" y="3779215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시연 기준일 중심의 실시간 현황 확인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4254703" y="1686154"/>
            <a:ext cx="3685946" cy="2819095"/>
          </a:xfrm>
          <a:prstGeom prst="roundRect">
            <a:avLst>
              <a:gd name="adj" fmla="val 26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4254703" y="1686154"/>
            <a:ext cx="3685946" cy="47549"/>
          </a:xfrm>
          <a:prstGeom prst="roundRect">
            <a:avLst>
              <a:gd name="adj" fmla="val 155925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4502506" y="1971446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4616806" y="2095805"/>
            <a:ext cx="190195" cy="171907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063947" y="2052828"/>
            <a:ext cx="163311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수행 범위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27" name="Text 22"/>
          <p:cNvSpPr txBox="1"/>
          <p:nvPr/>
        </p:nvSpPr>
        <p:spPr>
          <a:xfrm>
            <a:off x="4502506" y="2652334"/>
            <a:ext cx="32671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기존 분리 화면을 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PMS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메뉴 체계로 통합하고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화면별 입력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출력 기준을 정리합니다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.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28" name="Text 23"/>
          <p:cNvSpPr txBox="1"/>
          <p:nvPr/>
        </p:nvSpPr>
        <p:spPr>
          <a:xfrm>
            <a:off x="4645152" y="3174457"/>
            <a:ext cx="335401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Front Desk: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예약 타임라인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예약 목록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체크인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체크아웃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29" name="Text 24"/>
          <p:cNvSpPr txBox="1"/>
          <p:nvPr/>
        </p:nvSpPr>
        <p:spPr>
          <a:xfrm>
            <a:off x="4645152" y="3429574"/>
            <a:ext cx="3162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Operations: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객실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하우스키핑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시설보수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30" name="Text 25"/>
          <p:cNvSpPr txBox="1"/>
          <p:nvPr/>
        </p:nvSpPr>
        <p:spPr>
          <a:xfrm>
            <a:off x="4645152" y="3684692"/>
            <a:ext cx="316291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Finance/CRM: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정산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부가서비스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고객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권한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감사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31" name="Shape 26"/>
          <p:cNvSpPr/>
          <p:nvPr/>
        </p:nvSpPr>
        <p:spPr>
          <a:xfrm>
            <a:off x="8128102" y="1686154"/>
            <a:ext cx="3685946" cy="2819095"/>
          </a:xfrm>
          <a:prstGeom prst="roundRect">
            <a:avLst>
              <a:gd name="adj" fmla="val 26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27"/>
          <p:cNvSpPr/>
          <p:nvPr/>
        </p:nvSpPr>
        <p:spPr>
          <a:xfrm>
            <a:off x="8128102" y="1686154"/>
            <a:ext cx="3685946" cy="47549"/>
          </a:xfrm>
          <a:prstGeom prst="roundRect">
            <a:avLst>
              <a:gd name="adj" fmla="val 155925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8"/>
          <p:cNvSpPr/>
          <p:nvPr/>
        </p:nvSpPr>
        <p:spPr>
          <a:xfrm>
            <a:off x="8375904" y="1971446"/>
            <a:ext cx="418795" cy="418795"/>
          </a:xfrm>
          <a:prstGeom prst="roundRect">
            <a:avLst>
              <a:gd name="adj" fmla="val 99246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6"/>
          <a:srcRect l="-1773" r="-1773"/>
          <a:stretch/>
        </p:blipFill>
        <p:spPr>
          <a:xfrm>
            <a:off x="8518550" y="2095805"/>
            <a:ext cx="133502" cy="171907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8937346" y="2052828"/>
            <a:ext cx="120152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보고 방향</a:t>
            </a:r>
            <a:endParaRPr lang="en-US" sz="1300" dirty="0">
              <a:latin typeface="+mj-ea"/>
              <a:ea typeface="+mj-ea"/>
            </a:endParaRPr>
          </a:p>
        </p:txBody>
      </p:sp>
      <p:sp>
        <p:nvSpPr>
          <p:cNvPr id="36" name="Text 30"/>
          <p:cNvSpPr txBox="1"/>
          <p:nvPr/>
        </p:nvSpPr>
        <p:spPr>
          <a:xfrm>
            <a:off x="8375904" y="2652334"/>
            <a:ext cx="33055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운영 효율과 데이터 신뢰성 중심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37" name="Text 31"/>
          <p:cNvSpPr txBox="1"/>
          <p:nvPr/>
        </p:nvSpPr>
        <p:spPr>
          <a:xfrm>
            <a:off x="8375904" y="2942199"/>
            <a:ext cx="3267151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화면 디자인보다 실제 호텔 운영 판단에 필요한 데이터 연결과 보안 기준을 우선 설명합니다</a:t>
            </a:r>
            <a:r>
              <a:rPr lang="en-US" altLang="ko-KR" sz="1000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.</a:t>
            </a:r>
            <a:endParaRPr lang="en-US" sz="1000" dirty="0">
              <a:latin typeface="+mj-ea"/>
              <a:ea typeface="+mj-ea"/>
            </a:endParaRPr>
          </a:p>
        </p:txBody>
      </p:sp>
      <p:sp>
        <p:nvSpPr>
          <p:cNvPr id="38" name="Text 32"/>
          <p:cNvSpPr txBox="1"/>
          <p:nvPr/>
        </p:nvSpPr>
        <p:spPr>
          <a:xfrm>
            <a:off x="8518550" y="3464322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경영진 보고와 고객사 시연에 바로 사용할 수 있는 구조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39" name="Text 33"/>
          <p:cNvSpPr txBox="1"/>
          <p:nvPr/>
        </p:nvSpPr>
        <p:spPr>
          <a:xfrm>
            <a:off x="8518550" y="3719439"/>
            <a:ext cx="32388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향후 외부 </a:t>
            </a:r>
            <a:r>
              <a:rPr lang="en-US" altLang="ko-KR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API </a:t>
            </a:r>
            <a:r>
              <a:rPr lang="ko-KR" altLang="en-US" sz="900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연계를 고려한 백엔드 구현 기준 정리</a:t>
            </a:r>
            <a:endParaRPr lang="en-US" sz="900" dirty="0">
              <a:latin typeface="+mj-ea"/>
              <a:ea typeface="+mj-ea"/>
            </a:endParaRPr>
          </a:p>
        </p:txBody>
      </p:sp>
      <p:sp>
        <p:nvSpPr>
          <p:cNvPr id="40" name="Text 34"/>
          <p:cNvSpPr txBox="1"/>
          <p:nvPr/>
        </p:nvSpPr>
        <p:spPr>
          <a:xfrm>
            <a:off x="590702" y="4693615"/>
            <a:ext cx="113349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475569"/>
                </a:solidFill>
                <a:latin typeface="+mj-ea"/>
                <a:ea typeface="+mj-ea"/>
                <a:cs typeface="Noto Sans KR" pitchFamily="34" charset="-120"/>
              </a:rPr>
              <a:t>핵심 확인 지표</a:t>
            </a:r>
            <a:endParaRPr lang="en-US" sz="1200" dirty="0">
              <a:latin typeface="+mj-ea"/>
              <a:ea typeface="+mj-ea"/>
            </a:endParaRPr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81305" y="4727448"/>
            <a:ext cx="133502" cy="133502"/>
          </a:xfrm>
          <a:prstGeom prst="rect">
            <a:avLst/>
          </a:prstGeom>
        </p:spPr>
      </p:pic>
      <p:sp>
        <p:nvSpPr>
          <p:cNvPr id="43" name="Shape 36"/>
          <p:cNvSpPr/>
          <p:nvPr/>
        </p:nvSpPr>
        <p:spPr>
          <a:xfrm>
            <a:off x="381305" y="5036515"/>
            <a:ext cx="2714854" cy="1543507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>
            <a:alphaModFix amt="5000"/>
          </a:blip>
          <a:srcRect l="-36" r="-36"/>
          <a:stretch/>
        </p:blipFill>
        <p:spPr>
          <a:xfrm>
            <a:off x="2229307" y="5896051"/>
            <a:ext cx="952805" cy="761695"/>
          </a:xfrm>
          <a:prstGeom prst="rect">
            <a:avLst/>
          </a:prstGeom>
        </p:spPr>
      </p:pic>
      <p:sp>
        <p:nvSpPr>
          <p:cNvPr id="45" name="Text 37"/>
          <p:cNvSpPr txBox="1"/>
          <p:nvPr/>
        </p:nvSpPr>
        <p:spPr>
          <a:xfrm>
            <a:off x="1201522" y="5457139"/>
            <a:ext cx="108356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객실 </a:t>
            </a:r>
            <a:r>
              <a:rPr 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KPI</a:t>
            </a:r>
            <a:endParaRPr lang="en-US" sz="900" dirty="0">
              <a:latin typeface="+mj-ea"/>
              <a:ea typeface="+mj-ea"/>
            </a:endParaRPr>
          </a:p>
        </p:txBody>
      </p:sp>
      <p:pic>
        <p:nvPicPr>
          <p:cNvPr id="46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245413" y="5737860"/>
            <a:ext cx="142646" cy="190195"/>
          </a:xfrm>
          <a:prstGeom prst="rect">
            <a:avLst/>
          </a:prstGeom>
        </p:spPr>
      </p:pic>
      <p:sp>
        <p:nvSpPr>
          <p:cNvPr id="47" name="Text 38"/>
          <p:cNvSpPr txBox="1"/>
          <p:nvPr/>
        </p:nvSpPr>
        <p:spPr>
          <a:xfrm>
            <a:off x="1464869" y="5718658"/>
            <a:ext cx="88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객실 수익성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48" name="Text 39"/>
          <p:cNvSpPr txBox="1"/>
          <p:nvPr/>
        </p:nvSpPr>
        <p:spPr>
          <a:xfrm>
            <a:off x="766267" y="5994806"/>
            <a:ext cx="19513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객실 가동률과 평균 단가</a:t>
            </a:r>
            <a:r>
              <a:rPr lang="en-US" altLang="ko-KR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객실당 매출 효율</a:t>
            </a:r>
            <a:endParaRPr lang="en-US" sz="800" dirty="0">
              <a:latin typeface="+mj-ea"/>
              <a:ea typeface="+mj-ea"/>
            </a:endParaRPr>
          </a:p>
        </p:txBody>
      </p:sp>
      <p:sp>
        <p:nvSpPr>
          <p:cNvPr id="49" name="Shape 40"/>
          <p:cNvSpPr/>
          <p:nvPr/>
        </p:nvSpPr>
        <p:spPr>
          <a:xfrm>
            <a:off x="3286354" y="5036515"/>
            <a:ext cx="2714854" cy="1543507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>
            <a:alphaModFix amt="5000"/>
          </a:blip>
          <a:srcRect l="-9" r="-9"/>
          <a:stretch/>
        </p:blipFill>
        <p:spPr>
          <a:xfrm>
            <a:off x="5419649" y="5896051"/>
            <a:ext cx="666598" cy="761695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3973068" y="5457139"/>
            <a:ext cx="13496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체크인 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체크아웃</a:t>
            </a:r>
            <a:endParaRPr lang="en-US" sz="900" dirty="0">
              <a:latin typeface="+mj-ea"/>
              <a:ea typeface="+mj-ea"/>
            </a:endParaRPr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149547" y="5737860"/>
            <a:ext cx="142646" cy="190195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4369003" y="5718658"/>
            <a:ext cx="8814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프론트 처리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54" name="Text 43"/>
          <p:cNvSpPr txBox="1"/>
          <p:nvPr/>
        </p:nvSpPr>
        <p:spPr>
          <a:xfrm>
            <a:off x="3724351" y="5994806"/>
            <a:ext cx="184434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당일 도착</a:t>
            </a:r>
            <a:r>
              <a:rPr lang="en-US" altLang="ko-KR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·</a:t>
            </a:r>
            <a:r>
              <a:rPr lang="ko-KR" altLang="en-US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출발 고객 처리 상태</a:t>
            </a:r>
            <a:endParaRPr lang="en-US" sz="800" dirty="0">
              <a:latin typeface="+mj-ea"/>
              <a:ea typeface="+mj-ea"/>
            </a:endParaRPr>
          </a:p>
        </p:txBody>
      </p:sp>
      <p:sp>
        <p:nvSpPr>
          <p:cNvPr id="55" name="Shape 44"/>
          <p:cNvSpPr/>
          <p:nvPr/>
        </p:nvSpPr>
        <p:spPr>
          <a:xfrm>
            <a:off x="6191402" y="5036515"/>
            <a:ext cx="2714854" cy="1543507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1">
            <a:alphaModFix amt="5000"/>
          </a:blip>
          <a:srcRect/>
          <a:stretch/>
        </p:blipFill>
        <p:spPr>
          <a:xfrm>
            <a:off x="8229600" y="5896051"/>
            <a:ext cx="761695" cy="761695"/>
          </a:xfrm>
          <a:prstGeom prst="rect">
            <a:avLst/>
          </a:prstGeom>
        </p:spPr>
      </p:pic>
      <p:sp>
        <p:nvSpPr>
          <p:cNvPr id="57" name="Text 45"/>
          <p:cNvSpPr txBox="1"/>
          <p:nvPr/>
        </p:nvSpPr>
        <p:spPr>
          <a:xfrm>
            <a:off x="7180783" y="5457139"/>
            <a:ext cx="7397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청소 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보수 상태</a:t>
            </a:r>
            <a:endParaRPr lang="en-US" sz="900" dirty="0">
              <a:latin typeface="+mj-ea"/>
              <a:ea typeface="+mj-ea"/>
            </a:endParaRPr>
          </a:p>
        </p:txBody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6976872" y="5737860"/>
            <a:ext cx="142646" cy="190195"/>
          </a:xfrm>
          <a:prstGeom prst="rect">
            <a:avLst/>
          </a:prstGeom>
        </p:spPr>
      </p:pic>
      <p:sp>
        <p:nvSpPr>
          <p:cNvPr id="59" name="Text 46"/>
          <p:cNvSpPr txBox="1"/>
          <p:nvPr/>
        </p:nvSpPr>
        <p:spPr>
          <a:xfrm>
            <a:off x="7195414" y="5718658"/>
            <a:ext cx="1110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운영 준비도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60" name="Text 47"/>
          <p:cNvSpPr txBox="1"/>
          <p:nvPr/>
        </p:nvSpPr>
        <p:spPr>
          <a:xfrm>
            <a:off x="6631229" y="5994806"/>
            <a:ext cx="184343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객실 가동 가능 여부와 작업 진행률</a:t>
            </a:r>
            <a:endParaRPr lang="en-US" sz="800" dirty="0">
              <a:latin typeface="+mj-ea"/>
              <a:ea typeface="+mj-ea"/>
            </a:endParaRPr>
          </a:p>
        </p:txBody>
      </p:sp>
      <p:sp>
        <p:nvSpPr>
          <p:cNvPr id="61" name="Shape 48"/>
          <p:cNvSpPr/>
          <p:nvPr/>
        </p:nvSpPr>
        <p:spPr>
          <a:xfrm>
            <a:off x="9096451" y="5036515"/>
            <a:ext cx="2714854" cy="1543507"/>
          </a:xfrm>
          <a:prstGeom prst="roundRect">
            <a:avLst>
              <a:gd name="adj" fmla="val 87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11" descr="preencoded.png"/>
          <p:cNvPicPr>
            <a:picLocks noChangeAspect="1"/>
          </p:cNvPicPr>
          <p:nvPr/>
        </p:nvPicPr>
        <p:blipFill>
          <a:blip r:embed="rId13">
            <a:alphaModFix amt="5000"/>
          </a:blip>
          <a:srcRect/>
          <a:stretch/>
        </p:blipFill>
        <p:spPr>
          <a:xfrm>
            <a:off x="11134649" y="5896051"/>
            <a:ext cx="761695" cy="761695"/>
          </a:xfrm>
          <a:prstGeom prst="rect">
            <a:avLst/>
          </a:prstGeom>
        </p:spPr>
      </p:pic>
      <p:sp>
        <p:nvSpPr>
          <p:cNvPr id="63" name="Text 49"/>
          <p:cNvSpPr txBox="1"/>
          <p:nvPr/>
        </p:nvSpPr>
        <p:spPr>
          <a:xfrm>
            <a:off x="9982505" y="5457139"/>
            <a:ext cx="951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정산 </a:t>
            </a:r>
            <a:r>
              <a:rPr lang="en-US" altLang="ko-KR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/ </a:t>
            </a:r>
            <a:r>
              <a:rPr lang="ko-KR" altLang="en-US" sz="900" b="1">
                <a:solidFill>
                  <a:srgbClr val="64748B"/>
                </a:solidFill>
                <a:latin typeface="+mj-ea"/>
                <a:ea typeface="+mj-ea"/>
                <a:cs typeface="Noto Sans KR" pitchFamily="34" charset="-120"/>
              </a:rPr>
              <a:t>미수금</a:t>
            </a:r>
            <a:endParaRPr lang="en-US" sz="900" dirty="0">
              <a:latin typeface="+mj-ea"/>
              <a:ea typeface="+mj-ea"/>
            </a:endParaRPr>
          </a:p>
        </p:txBody>
      </p:sp>
      <p:pic>
        <p:nvPicPr>
          <p:cNvPr id="64" name="Image 12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9908438" y="5737860"/>
            <a:ext cx="142646" cy="190195"/>
          </a:xfrm>
          <a:prstGeom prst="rect">
            <a:avLst/>
          </a:prstGeom>
        </p:spPr>
      </p:pic>
      <p:sp>
        <p:nvSpPr>
          <p:cNvPr id="65" name="Text 50"/>
          <p:cNvSpPr txBox="1"/>
          <p:nvPr/>
        </p:nvSpPr>
        <p:spPr>
          <a:xfrm>
            <a:off x="10126980" y="5718658"/>
            <a:ext cx="98023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j-ea"/>
                <a:ea typeface="+mj-ea"/>
                <a:cs typeface="Noto Sans KR" pitchFamily="34" charset="-120"/>
              </a:rPr>
              <a:t>마감 검증</a:t>
            </a:r>
            <a:endParaRPr lang="en-US" sz="1200" dirty="0">
              <a:latin typeface="+mj-ea"/>
              <a:ea typeface="+mj-ea"/>
            </a:endParaRPr>
          </a:p>
        </p:txBody>
      </p:sp>
      <p:sp>
        <p:nvSpPr>
          <p:cNvPr id="66" name="Text 51"/>
          <p:cNvSpPr txBox="1"/>
          <p:nvPr/>
        </p:nvSpPr>
        <p:spPr>
          <a:xfrm>
            <a:off x="9586570" y="5994806"/>
            <a:ext cx="17346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94A3B8"/>
                </a:solidFill>
                <a:latin typeface="+mj-ea"/>
                <a:ea typeface="+mj-ea"/>
                <a:cs typeface="Noto Sans KR" pitchFamily="34" charset="-120"/>
              </a:rPr>
              <a:t>일일 마감 및 미수금 확인</a:t>
            </a:r>
            <a:endParaRPr lang="en-US" sz="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06199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4"/>
          <p:cNvSpPr txBox="1"/>
          <p:nvPr/>
        </p:nvSpPr>
        <p:spPr>
          <a:xfrm>
            <a:off x="381305" y="277771"/>
            <a:ext cx="476402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전체 시스템 구조</a:t>
            </a:r>
            <a:endParaRPr lang="en-US" sz="2400" dirty="0">
              <a:latin typeface="+mn-ea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10030691" y="268535"/>
            <a:ext cx="1787015" cy="1499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SYSTEM CONFIGURATION</a:t>
            </a:r>
            <a:endParaRPr lang="en-US" sz="900" dirty="0">
              <a:latin typeface="+mn-ea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10360152" y="417580"/>
            <a:ext cx="14575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02</a:t>
            </a:r>
            <a:endParaRPr lang="en-US" sz="1800" dirty="0">
              <a:latin typeface="+mn-ea"/>
            </a:endParaRPr>
          </a:p>
        </p:txBody>
      </p:sp>
      <p:pic>
        <p:nvPicPr>
          <p:cNvPr id="8" name="Image 0" descr="preencoded.png">
            <a:extLst>
              <a:ext uri="{FF2B5EF4-FFF2-40B4-BE49-F238E27FC236}">
                <a16:creationId xmlns:a16="http://schemas.microsoft.com/office/drawing/2014/main" id="{A4D26F56-929E-6F57-CFF2-3013EBDF30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14" name="Text 8">
            <a:extLst>
              <a:ext uri="{FF2B5EF4-FFF2-40B4-BE49-F238E27FC236}">
                <a16:creationId xmlns:a16="http://schemas.microsoft.com/office/drawing/2014/main" id="{1713F2B5-F8CB-41BC-737A-2B586DE30DB0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메인 대시보드부터 보안 설정까지 이어지는 호텔 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PMS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메뉴 구조</a:t>
            </a:r>
            <a:endParaRPr lang="en-US" altLang="ko-KR" sz="1400" b="1" dirty="0">
              <a:latin typeface="+mj-ea"/>
              <a:ea typeface="+mj-ea"/>
            </a:endParaRPr>
          </a:p>
        </p:txBody>
      </p:sp>
      <p:sp>
        <p:nvSpPr>
          <p:cNvPr id="2" name="Shape 3">
            <a:extLst>
              <a:ext uri="{FF2B5EF4-FFF2-40B4-BE49-F238E27FC236}">
                <a16:creationId xmlns:a16="http://schemas.microsoft.com/office/drawing/2014/main" id="{61722AA9-52EC-0BFA-E251-5400E6CACB44}"/>
              </a:ext>
            </a:extLst>
          </p:cNvPr>
          <p:cNvSpPr/>
          <p:nvPr/>
        </p:nvSpPr>
        <p:spPr>
          <a:xfrm>
            <a:off x="1768124" y="1707920"/>
            <a:ext cx="9737597" cy="597786"/>
          </a:xfrm>
          <a:prstGeom prst="roundRect">
            <a:avLst>
              <a:gd name="adj" fmla="val 3135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" name="Text 4">
            <a:extLst>
              <a:ext uri="{FF2B5EF4-FFF2-40B4-BE49-F238E27FC236}">
                <a16:creationId xmlns:a16="http://schemas.microsoft.com/office/drawing/2014/main" id="{D1B96955-E410-C4F6-C997-294E1C381385}"/>
              </a:ext>
            </a:extLst>
          </p:cNvPr>
          <p:cNvSpPr txBox="1"/>
          <p:nvPr/>
        </p:nvSpPr>
        <p:spPr>
          <a:xfrm>
            <a:off x="463589" y="1927880"/>
            <a:ext cx="933990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1</a:t>
            </a:r>
          </a:p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Main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" name="Shape 5">
            <a:extLst>
              <a:ext uri="{FF2B5EF4-FFF2-40B4-BE49-F238E27FC236}">
                <a16:creationId xmlns:a16="http://schemas.microsoft.com/office/drawing/2014/main" id="{59A2448D-C178-13DC-B9CA-2994060B5976}"/>
              </a:ext>
            </a:extLst>
          </p:cNvPr>
          <p:cNvSpPr/>
          <p:nvPr/>
        </p:nvSpPr>
        <p:spPr>
          <a:xfrm>
            <a:off x="1905065" y="1827642"/>
            <a:ext cx="4680606" cy="359163"/>
          </a:xfrm>
          <a:prstGeom prst="roundRect">
            <a:avLst>
              <a:gd name="adj" fmla="val 65232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94EEC9E3-BCEA-A545-C29E-E124C01410B3}"/>
              </a:ext>
            </a:extLst>
          </p:cNvPr>
          <p:cNvSpPr txBox="1"/>
          <p:nvPr/>
        </p:nvSpPr>
        <p:spPr>
          <a:xfrm>
            <a:off x="3996085" y="1917022"/>
            <a:ext cx="1001230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메인 대시보드</a:t>
            </a:r>
            <a:endParaRPr lang="en-US" sz="1000" dirty="0">
              <a:latin typeface="+mn-ea"/>
            </a:endParaRPr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973073CC-055F-62EE-7F00-5C25B185E59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507" r="-1507"/>
          <a:stretch/>
        </p:blipFill>
        <p:spPr>
          <a:xfrm>
            <a:off x="3773864" y="1949822"/>
            <a:ext cx="154161" cy="119721"/>
          </a:xfrm>
          <a:prstGeom prst="rect">
            <a:avLst/>
          </a:prstGeom>
        </p:spPr>
      </p:pic>
      <p:sp>
        <p:nvSpPr>
          <p:cNvPr id="12" name="Shape 7">
            <a:extLst>
              <a:ext uri="{FF2B5EF4-FFF2-40B4-BE49-F238E27FC236}">
                <a16:creationId xmlns:a16="http://schemas.microsoft.com/office/drawing/2014/main" id="{BB19D76C-4B9F-1597-215D-52F75366D142}"/>
              </a:ext>
            </a:extLst>
          </p:cNvPr>
          <p:cNvSpPr/>
          <p:nvPr/>
        </p:nvSpPr>
        <p:spPr>
          <a:xfrm>
            <a:off x="6688173" y="1827642"/>
            <a:ext cx="4680606" cy="359163"/>
          </a:xfrm>
          <a:prstGeom prst="roundRect">
            <a:avLst>
              <a:gd name="adj" fmla="val 65232"/>
            </a:avLst>
          </a:prstGeom>
          <a:solidFill>
            <a:srgbClr val="EFF6FF"/>
          </a:solidFill>
          <a:ln w="254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1CB8D7A4-D014-44FB-67EA-6D9DCA4E38CF}"/>
              </a:ext>
            </a:extLst>
          </p:cNvPr>
          <p:cNvSpPr txBox="1"/>
          <p:nvPr/>
        </p:nvSpPr>
        <p:spPr>
          <a:xfrm>
            <a:off x="8638972" y="1917022"/>
            <a:ext cx="1038951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실시간 현황</a:t>
            </a:r>
            <a:endParaRPr lang="en-US" sz="1000" dirty="0">
              <a:latin typeface="+mn-ea"/>
            </a:endParaRPr>
          </a:p>
        </p:txBody>
      </p:sp>
      <p:pic>
        <p:nvPicPr>
          <p:cNvPr id="16" name="Image 1" descr="preencoded.png">
            <a:extLst>
              <a:ext uri="{FF2B5EF4-FFF2-40B4-BE49-F238E27FC236}">
                <a16:creationId xmlns:a16="http://schemas.microsoft.com/office/drawing/2014/main" id="{68B1A0C8-0ADB-3B74-6715-A57FEE40412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-2512" r="-2512"/>
          <a:stretch/>
        </p:blipFill>
        <p:spPr>
          <a:xfrm>
            <a:off x="8476610" y="1949822"/>
            <a:ext cx="94301" cy="119721"/>
          </a:xfrm>
          <a:prstGeom prst="rect">
            <a:avLst/>
          </a:prstGeom>
        </p:spPr>
      </p:pic>
      <p:pic>
        <p:nvPicPr>
          <p:cNvPr id="17" name="Image 2" descr="preencoded.png">
            <a:extLst>
              <a:ext uri="{FF2B5EF4-FFF2-40B4-BE49-F238E27FC236}">
                <a16:creationId xmlns:a16="http://schemas.microsoft.com/office/drawing/2014/main" id="{8F9BA725-A543-7988-429C-7332EDC1924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7472" y="2372947"/>
            <a:ext cx="119721" cy="119721"/>
          </a:xfrm>
          <a:prstGeom prst="rect">
            <a:avLst/>
          </a:prstGeom>
        </p:spPr>
      </p:pic>
      <p:sp>
        <p:nvSpPr>
          <p:cNvPr id="18" name="Shape 9">
            <a:extLst>
              <a:ext uri="{FF2B5EF4-FFF2-40B4-BE49-F238E27FC236}">
                <a16:creationId xmlns:a16="http://schemas.microsoft.com/office/drawing/2014/main" id="{07C6753D-962B-C464-0E20-F576C89F5811}"/>
              </a:ext>
            </a:extLst>
          </p:cNvPr>
          <p:cNvSpPr/>
          <p:nvPr/>
        </p:nvSpPr>
        <p:spPr>
          <a:xfrm>
            <a:off x="1768124" y="2559089"/>
            <a:ext cx="9737597" cy="597786"/>
          </a:xfrm>
          <a:prstGeom prst="roundRect">
            <a:avLst>
              <a:gd name="adj" fmla="val 3135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19" name="Text 10">
            <a:extLst>
              <a:ext uri="{FF2B5EF4-FFF2-40B4-BE49-F238E27FC236}">
                <a16:creationId xmlns:a16="http://schemas.microsoft.com/office/drawing/2014/main" id="{E8B657FE-E35F-1F91-58C0-63EBCF25364D}"/>
              </a:ext>
            </a:extLst>
          </p:cNvPr>
          <p:cNvSpPr txBox="1"/>
          <p:nvPr/>
        </p:nvSpPr>
        <p:spPr>
          <a:xfrm>
            <a:off x="452064" y="2768191"/>
            <a:ext cx="1207872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2</a:t>
            </a:r>
          </a:p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Front Desk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38CF7F8F-3375-E15B-DD3A-6D79291EAA5B}"/>
              </a:ext>
            </a:extLst>
          </p:cNvPr>
          <p:cNvSpPr/>
          <p:nvPr/>
        </p:nvSpPr>
        <p:spPr>
          <a:xfrm>
            <a:off x="1905065" y="2678810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1" name="Text 12">
            <a:extLst>
              <a:ext uri="{FF2B5EF4-FFF2-40B4-BE49-F238E27FC236}">
                <a16:creationId xmlns:a16="http://schemas.microsoft.com/office/drawing/2014/main" id="{6A71C89D-628C-775D-0380-9D532769BC5E}"/>
              </a:ext>
            </a:extLst>
          </p:cNvPr>
          <p:cNvSpPr txBox="1"/>
          <p:nvPr/>
        </p:nvSpPr>
        <p:spPr>
          <a:xfrm>
            <a:off x="2276529" y="2768191"/>
            <a:ext cx="1075030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예약 타임라인</a:t>
            </a:r>
            <a:endParaRPr lang="en-US" sz="1000" dirty="0">
              <a:latin typeface="+mn-ea"/>
            </a:endParaRPr>
          </a:p>
        </p:txBody>
      </p:sp>
      <p:sp>
        <p:nvSpPr>
          <p:cNvPr id="22" name="Shape 13">
            <a:extLst>
              <a:ext uri="{FF2B5EF4-FFF2-40B4-BE49-F238E27FC236}">
                <a16:creationId xmlns:a16="http://schemas.microsoft.com/office/drawing/2014/main" id="{756C23C2-AB12-F3E5-8D22-1E3933D1EB21}"/>
              </a:ext>
            </a:extLst>
          </p:cNvPr>
          <p:cNvSpPr/>
          <p:nvPr/>
        </p:nvSpPr>
        <p:spPr>
          <a:xfrm>
            <a:off x="3818144" y="2678810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82729AF7-C276-79C8-12D9-2F70D0FFC03A}"/>
              </a:ext>
            </a:extLst>
          </p:cNvPr>
          <p:cNvSpPr txBox="1"/>
          <p:nvPr/>
        </p:nvSpPr>
        <p:spPr>
          <a:xfrm>
            <a:off x="4178127" y="2768191"/>
            <a:ext cx="1097991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예약 관리</a:t>
            </a:r>
            <a:endParaRPr lang="en-US" sz="1000" dirty="0">
              <a:latin typeface="+mn-ea"/>
            </a:endParaRPr>
          </a:p>
        </p:txBody>
      </p:sp>
      <p:sp>
        <p:nvSpPr>
          <p:cNvPr id="24" name="Shape 15">
            <a:extLst>
              <a:ext uri="{FF2B5EF4-FFF2-40B4-BE49-F238E27FC236}">
                <a16:creationId xmlns:a16="http://schemas.microsoft.com/office/drawing/2014/main" id="{A5EC5E05-F456-4813-F0C8-790F5B9BA0DD}"/>
              </a:ext>
            </a:extLst>
          </p:cNvPr>
          <p:cNvSpPr/>
          <p:nvPr/>
        </p:nvSpPr>
        <p:spPr>
          <a:xfrm>
            <a:off x="5732043" y="2678810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5" name="Text 16">
            <a:extLst>
              <a:ext uri="{FF2B5EF4-FFF2-40B4-BE49-F238E27FC236}">
                <a16:creationId xmlns:a16="http://schemas.microsoft.com/office/drawing/2014/main" id="{8637C46A-EA08-0558-415E-5352E8D11825}"/>
              </a:ext>
            </a:extLst>
          </p:cNvPr>
          <p:cNvSpPr txBox="1"/>
          <p:nvPr/>
        </p:nvSpPr>
        <p:spPr>
          <a:xfrm>
            <a:off x="6222408" y="2768191"/>
            <a:ext cx="833948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단체</a:t>
            </a:r>
            <a:r>
              <a:rPr lang="en-US" altLang="ko-KR" sz="10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0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행사</a:t>
            </a:r>
            <a:endParaRPr lang="en-US" sz="1000" dirty="0">
              <a:latin typeface="+mn-ea"/>
            </a:endParaRPr>
          </a:p>
        </p:txBody>
      </p:sp>
      <p:sp>
        <p:nvSpPr>
          <p:cNvPr id="26" name="Shape 17">
            <a:extLst>
              <a:ext uri="{FF2B5EF4-FFF2-40B4-BE49-F238E27FC236}">
                <a16:creationId xmlns:a16="http://schemas.microsoft.com/office/drawing/2014/main" id="{47376DFD-BE11-5544-E9CE-ABDC0DDD32F5}"/>
              </a:ext>
            </a:extLst>
          </p:cNvPr>
          <p:cNvSpPr/>
          <p:nvPr/>
        </p:nvSpPr>
        <p:spPr>
          <a:xfrm>
            <a:off x="7645122" y="2678810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7" name="Text 18">
            <a:extLst>
              <a:ext uri="{FF2B5EF4-FFF2-40B4-BE49-F238E27FC236}">
                <a16:creationId xmlns:a16="http://schemas.microsoft.com/office/drawing/2014/main" id="{628FFDD7-0136-9A36-E088-CEAB9CDDDDD6}"/>
              </a:ext>
            </a:extLst>
          </p:cNvPr>
          <p:cNvSpPr txBox="1"/>
          <p:nvPr/>
        </p:nvSpPr>
        <p:spPr>
          <a:xfrm>
            <a:off x="8259308" y="2768191"/>
            <a:ext cx="719592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투숙객 관리</a:t>
            </a:r>
            <a:endParaRPr lang="en-US" sz="1000" dirty="0">
              <a:latin typeface="+mn-ea"/>
            </a:endParaRPr>
          </a:p>
        </p:txBody>
      </p:sp>
      <p:sp>
        <p:nvSpPr>
          <p:cNvPr id="28" name="Shape 19">
            <a:extLst>
              <a:ext uri="{FF2B5EF4-FFF2-40B4-BE49-F238E27FC236}">
                <a16:creationId xmlns:a16="http://schemas.microsoft.com/office/drawing/2014/main" id="{23E90295-F232-5865-0BA2-CAFF4F8AC482}"/>
              </a:ext>
            </a:extLst>
          </p:cNvPr>
          <p:cNvSpPr/>
          <p:nvPr/>
        </p:nvSpPr>
        <p:spPr>
          <a:xfrm>
            <a:off x="9558202" y="2678810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BEAFE"/>
          </a:solidFill>
          <a:ln w="25400">
            <a:solidFill>
              <a:srgbClr val="1E40AF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29" name="Text 20">
            <a:extLst>
              <a:ext uri="{FF2B5EF4-FFF2-40B4-BE49-F238E27FC236}">
                <a16:creationId xmlns:a16="http://schemas.microsoft.com/office/drawing/2014/main" id="{76070DE9-96A8-2D02-92F6-3B4273007574}"/>
              </a:ext>
            </a:extLst>
          </p:cNvPr>
          <p:cNvSpPr txBox="1"/>
          <p:nvPr/>
        </p:nvSpPr>
        <p:spPr>
          <a:xfrm>
            <a:off x="10209288" y="2768191"/>
            <a:ext cx="595325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고객 </a:t>
            </a:r>
            <a:r>
              <a:rPr lang="en-US" sz="10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CRM</a:t>
            </a:r>
            <a:endParaRPr lang="en-US" sz="1000" dirty="0">
              <a:latin typeface="+mn-ea"/>
            </a:endParaRPr>
          </a:p>
        </p:txBody>
      </p:sp>
      <p:pic>
        <p:nvPicPr>
          <p:cNvPr id="30" name="Image 3" descr="preencoded.png">
            <a:extLst>
              <a:ext uri="{FF2B5EF4-FFF2-40B4-BE49-F238E27FC236}">
                <a16:creationId xmlns:a16="http://schemas.microsoft.com/office/drawing/2014/main" id="{A4CA4E2C-1E12-41A6-F475-B441D281E26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7472" y="3223296"/>
            <a:ext cx="119721" cy="119721"/>
          </a:xfrm>
          <a:prstGeom prst="rect">
            <a:avLst/>
          </a:prstGeom>
        </p:spPr>
      </p:pic>
      <p:sp>
        <p:nvSpPr>
          <p:cNvPr id="31" name="Shape 21">
            <a:extLst>
              <a:ext uri="{FF2B5EF4-FFF2-40B4-BE49-F238E27FC236}">
                <a16:creationId xmlns:a16="http://schemas.microsoft.com/office/drawing/2014/main" id="{B7ABBE0A-1C6D-9860-A12D-35C5BEB51C00}"/>
              </a:ext>
            </a:extLst>
          </p:cNvPr>
          <p:cNvSpPr/>
          <p:nvPr/>
        </p:nvSpPr>
        <p:spPr>
          <a:xfrm>
            <a:off x="1768124" y="3409437"/>
            <a:ext cx="9737597" cy="512505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44F3D0E6-363C-5AB8-7F7E-37588259365E}"/>
              </a:ext>
            </a:extLst>
          </p:cNvPr>
          <p:cNvSpPr txBox="1"/>
          <p:nvPr/>
        </p:nvSpPr>
        <p:spPr>
          <a:xfrm>
            <a:off x="462500" y="3609147"/>
            <a:ext cx="1481755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3</a:t>
            </a:r>
          </a:p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Room Ops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3" name="Shape 23">
            <a:extLst>
              <a:ext uri="{FF2B5EF4-FFF2-40B4-BE49-F238E27FC236}">
                <a16:creationId xmlns:a16="http://schemas.microsoft.com/office/drawing/2014/main" id="{4433306C-1903-1C8F-4FAE-52C11025D11A}"/>
              </a:ext>
            </a:extLst>
          </p:cNvPr>
          <p:cNvSpPr/>
          <p:nvPr/>
        </p:nvSpPr>
        <p:spPr>
          <a:xfrm>
            <a:off x="1905065" y="3486518"/>
            <a:ext cx="9464534" cy="359163"/>
          </a:xfrm>
          <a:prstGeom prst="roundRect">
            <a:avLst>
              <a:gd name="adj" fmla="val 65232"/>
            </a:avLst>
          </a:prstGeom>
          <a:solidFill>
            <a:srgbClr val="EDE9FE"/>
          </a:solidFill>
          <a:ln w="254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4" name="Text 24">
            <a:extLst>
              <a:ext uri="{FF2B5EF4-FFF2-40B4-BE49-F238E27FC236}">
                <a16:creationId xmlns:a16="http://schemas.microsoft.com/office/drawing/2014/main" id="{5EC5D8DC-B307-8F88-A05E-58C04D355CB2}"/>
              </a:ext>
            </a:extLst>
          </p:cNvPr>
          <p:cNvSpPr txBox="1"/>
          <p:nvPr/>
        </p:nvSpPr>
        <p:spPr>
          <a:xfrm>
            <a:off x="5354839" y="3575899"/>
            <a:ext cx="2572366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5B21B6"/>
                </a:solidFill>
                <a:latin typeface="+mn-ea"/>
                <a:cs typeface="Noto Sans KR" pitchFamily="34" charset="-120"/>
              </a:rPr>
              <a:t>객실 목록 </a:t>
            </a:r>
            <a:r>
              <a:rPr lang="en-US" altLang="ko-KR" sz="1000" b="1">
                <a:solidFill>
                  <a:srgbClr val="5B21B6"/>
                </a:solidFill>
                <a:latin typeface="+mn-ea"/>
                <a:cs typeface="Noto Sans KR" pitchFamily="34" charset="-120"/>
              </a:rPr>
              <a:t>/ </a:t>
            </a:r>
            <a:r>
              <a:rPr lang="ko-KR" altLang="en-US" sz="1000" b="1">
                <a:solidFill>
                  <a:srgbClr val="5B21B6"/>
                </a:solidFill>
                <a:latin typeface="+mn-ea"/>
                <a:cs typeface="Noto Sans KR" pitchFamily="34" charset="-120"/>
              </a:rPr>
              <a:t>객실 유형 </a:t>
            </a:r>
            <a:r>
              <a:rPr lang="en-US" altLang="ko-KR" sz="1000" b="1">
                <a:solidFill>
                  <a:srgbClr val="5B21B6"/>
                </a:solidFill>
                <a:latin typeface="+mn-ea"/>
                <a:cs typeface="Noto Sans KR" pitchFamily="34" charset="-120"/>
              </a:rPr>
              <a:t>/ </a:t>
            </a:r>
            <a:r>
              <a:rPr lang="ko-KR" altLang="en-US" sz="1000" b="1">
                <a:solidFill>
                  <a:srgbClr val="5B21B6"/>
                </a:solidFill>
                <a:latin typeface="+mn-ea"/>
                <a:cs typeface="Noto Sans KR" pitchFamily="34" charset="-120"/>
              </a:rPr>
              <a:t>요금 캘린더</a:t>
            </a:r>
            <a:endParaRPr lang="en-US" sz="1000" dirty="0">
              <a:latin typeface="+mn-ea"/>
            </a:endParaRPr>
          </a:p>
        </p:txBody>
      </p:sp>
      <p:pic>
        <p:nvPicPr>
          <p:cNvPr id="35" name="Image 4" descr="preencoded.png">
            <a:extLst>
              <a:ext uri="{FF2B5EF4-FFF2-40B4-BE49-F238E27FC236}">
                <a16:creationId xmlns:a16="http://schemas.microsoft.com/office/drawing/2014/main" id="{6D591188-80F4-D20F-6717-37A2D16DCF6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7472" y="3989183"/>
            <a:ext cx="119721" cy="119721"/>
          </a:xfrm>
          <a:prstGeom prst="rect">
            <a:avLst/>
          </a:prstGeom>
        </p:spPr>
      </p:pic>
      <p:sp>
        <p:nvSpPr>
          <p:cNvPr id="36" name="Shape 25">
            <a:extLst>
              <a:ext uri="{FF2B5EF4-FFF2-40B4-BE49-F238E27FC236}">
                <a16:creationId xmlns:a16="http://schemas.microsoft.com/office/drawing/2014/main" id="{07768ADE-BECD-1B6D-D5E5-5F1092D8D00C}"/>
              </a:ext>
            </a:extLst>
          </p:cNvPr>
          <p:cNvSpPr/>
          <p:nvPr/>
        </p:nvSpPr>
        <p:spPr>
          <a:xfrm>
            <a:off x="1768124" y="4175325"/>
            <a:ext cx="9737597" cy="597786"/>
          </a:xfrm>
          <a:prstGeom prst="roundRect">
            <a:avLst>
              <a:gd name="adj" fmla="val 3135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7" name="Text 26">
            <a:extLst>
              <a:ext uri="{FF2B5EF4-FFF2-40B4-BE49-F238E27FC236}">
                <a16:creationId xmlns:a16="http://schemas.microsoft.com/office/drawing/2014/main" id="{68F28A63-8ECE-6992-D8B1-D945F21E9C1B}"/>
              </a:ext>
            </a:extLst>
          </p:cNvPr>
          <p:cNvSpPr txBox="1"/>
          <p:nvPr/>
        </p:nvSpPr>
        <p:spPr>
          <a:xfrm>
            <a:off x="452064" y="4413742"/>
            <a:ext cx="1006970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4</a:t>
            </a:r>
          </a:p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Operations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38" name="Shape 27">
            <a:extLst>
              <a:ext uri="{FF2B5EF4-FFF2-40B4-BE49-F238E27FC236}">
                <a16:creationId xmlns:a16="http://schemas.microsoft.com/office/drawing/2014/main" id="{F3DC966E-5E97-65B9-059E-99F5F9B46A9F}"/>
              </a:ext>
            </a:extLst>
          </p:cNvPr>
          <p:cNvSpPr/>
          <p:nvPr/>
        </p:nvSpPr>
        <p:spPr>
          <a:xfrm>
            <a:off x="1905065" y="4294226"/>
            <a:ext cx="3092250" cy="359163"/>
          </a:xfrm>
          <a:prstGeom prst="roundRect">
            <a:avLst>
              <a:gd name="adj" fmla="val 65232"/>
            </a:avLst>
          </a:prstGeom>
          <a:solidFill>
            <a:srgbClr val="CFFAFE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39" name="Text 28">
            <a:extLst>
              <a:ext uri="{FF2B5EF4-FFF2-40B4-BE49-F238E27FC236}">
                <a16:creationId xmlns:a16="http://schemas.microsoft.com/office/drawing/2014/main" id="{433E535A-6739-9D1B-3FE7-0F6244BAAC8C}"/>
              </a:ext>
            </a:extLst>
          </p:cNvPr>
          <p:cNvSpPr txBox="1"/>
          <p:nvPr/>
        </p:nvSpPr>
        <p:spPr>
          <a:xfrm>
            <a:off x="2864474" y="4384427"/>
            <a:ext cx="1169331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55E75"/>
                </a:solidFill>
                <a:latin typeface="+mn-ea"/>
                <a:cs typeface="Noto Sans KR" pitchFamily="34" charset="-120"/>
              </a:rPr>
              <a:t>하우스키핑</a:t>
            </a:r>
            <a:endParaRPr lang="en-US" sz="1000" dirty="0">
              <a:latin typeface="+mn-ea"/>
            </a:endParaRPr>
          </a:p>
        </p:txBody>
      </p:sp>
      <p:sp>
        <p:nvSpPr>
          <p:cNvPr id="40" name="Shape 29">
            <a:extLst>
              <a:ext uri="{FF2B5EF4-FFF2-40B4-BE49-F238E27FC236}">
                <a16:creationId xmlns:a16="http://schemas.microsoft.com/office/drawing/2014/main" id="{8923930F-DA58-BC67-F6F2-EE0C21BCD5AC}"/>
              </a:ext>
            </a:extLst>
          </p:cNvPr>
          <p:cNvSpPr/>
          <p:nvPr/>
        </p:nvSpPr>
        <p:spPr>
          <a:xfrm>
            <a:off x="5094077" y="4294226"/>
            <a:ext cx="3092250" cy="359163"/>
          </a:xfrm>
          <a:prstGeom prst="roundRect">
            <a:avLst>
              <a:gd name="adj" fmla="val 65232"/>
            </a:avLst>
          </a:prstGeom>
          <a:solidFill>
            <a:srgbClr val="CFFAFE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1" name="Text 30">
            <a:extLst>
              <a:ext uri="{FF2B5EF4-FFF2-40B4-BE49-F238E27FC236}">
                <a16:creationId xmlns:a16="http://schemas.microsoft.com/office/drawing/2014/main" id="{14F72911-F092-2D22-348C-C54533B0D077}"/>
              </a:ext>
            </a:extLst>
          </p:cNvPr>
          <p:cNvSpPr txBox="1"/>
          <p:nvPr/>
        </p:nvSpPr>
        <p:spPr>
          <a:xfrm>
            <a:off x="6064967" y="4384427"/>
            <a:ext cx="1153752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55E75"/>
                </a:solidFill>
                <a:latin typeface="+mn-ea"/>
                <a:cs typeface="Noto Sans KR" pitchFamily="34" charset="-120"/>
              </a:rPr>
              <a:t>시설보수</a:t>
            </a:r>
            <a:endParaRPr lang="en-US" sz="1000" dirty="0">
              <a:latin typeface="+mn-ea"/>
            </a:endParaRPr>
          </a:p>
        </p:txBody>
      </p:sp>
      <p:sp>
        <p:nvSpPr>
          <p:cNvPr id="42" name="Shape 31">
            <a:extLst>
              <a:ext uri="{FF2B5EF4-FFF2-40B4-BE49-F238E27FC236}">
                <a16:creationId xmlns:a16="http://schemas.microsoft.com/office/drawing/2014/main" id="{7A465F73-B794-B45E-262B-62E26E474555}"/>
              </a:ext>
            </a:extLst>
          </p:cNvPr>
          <p:cNvSpPr/>
          <p:nvPr/>
        </p:nvSpPr>
        <p:spPr>
          <a:xfrm>
            <a:off x="8283089" y="4294226"/>
            <a:ext cx="3092250" cy="359163"/>
          </a:xfrm>
          <a:prstGeom prst="roundRect">
            <a:avLst>
              <a:gd name="adj" fmla="val 65232"/>
            </a:avLst>
          </a:prstGeom>
          <a:solidFill>
            <a:srgbClr val="CFFAFE"/>
          </a:solidFill>
          <a:ln w="254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3" name="Text 32">
            <a:extLst>
              <a:ext uri="{FF2B5EF4-FFF2-40B4-BE49-F238E27FC236}">
                <a16:creationId xmlns:a16="http://schemas.microsoft.com/office/drawing/2014/main" id="{A93C9270-6BC0-6E1C-DF60-44175DCC78DD}"/>
              </a:ext>
            </a:extLst>
          </p:cNvPr>
          <p:cNvSpPr txBox="1"/>
          <p:nvPr/>
        </p:nvSpPr>
        <p:spPr>
          <a:xfrm>
            <a:off x="9190837" y="4384427"/>
            <a:ext cx="1271013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55E75"/>
                </a:solidFill>
                <a:latin typeface="+mn-ea"/>
                <a:cs typeface="Noto Sans KR" pitchFamily="34" charset="-120"/>
              </a:rPr>
              <a:t>운영 로그</a:t>
            </a:r>
            <a:endParaRPr lang="en-US" sz="1000" dirty="0">
              <a:latin typeface="+mn-ea"/>
            </a:endParaRPr>
          </a:p>
        </p:txBody>
      </p:sp>
      <p:pic>
        <p:nvPicPr>
          <p:cNvPr id="44" name="Image 5" descr="preencoded.png">
            <a:extLst>
              <a:ext uri="{FF2B5EF4-FFF2-40B4-BE49-F238E27FC236}">
                <a16:creationId xmlns:a16="http://schemas.microsoft.com/office/drawing/2014/main" id="{EE04A327-FA5E-3A97-D514-707842C880B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7472" y="4839532"/>
            <a:ext cx="119721" cy="119721"/>
          </a:xfrm>
          <a:prstGeom prst="rect">
            <a:avLst/>
          </a:prstGeom>
        </p:spPr>
      </p:pic>
      <p:sp>
        <p:nvSpPr>
          <p:cNvPr id="45" name="Shape 33">
            <a:extLst>
              <a:ext uri="{FF2B5EF4-FFF2-40B4-BE49-F238E27FC236}">
                <a16:creationId xmlns:a16="http://schemas.microsoft.com/office/drawing/2014/main" id="{141E16DA-90DF-A983-0FA5-F67AAEF0EC52}"/>
              </a:ext>
            </a:extLst>
          </p:cNvPr>
          <p:cNvSpPr/>
          <p:nvPr/>
        </p:nvSpPr>
        <p:spPr>
          <a:xfrm>
            <a:off x="1768124" y="5025674"/>
            <a:ext cx="9737597" cy="597786"/>
          </a:xfrm>
          <a:prstGeom prst="roundRect">
            <a:avLst>
              <a:gd name="adj" fmla="val 31354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6" name="Text 34">
            <a:extLst>
              <a:ext uri="{FF2B5EF4-FFF2-40B4-BE49-F238E27FC236}">
                <a16:creationId xmlns:a16="http://schemas.microsoft.com/office/drawing/2014/main" id="{AB33BC4B-A0BA-8309-B1BA-8EEDA23C3B07}"/>
              </a:ext>
            </a:extLst>
          </p:cNvPr>
          <p:cNvSpPr txBox="1"/>
          <p:nvPr/>
        </p:nvSpPr>
        <p:spPr>
          <a:xfrm>
            <a:off x="461211" y="5260196"/>
            <a:ext cx="1077491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5</a:t>
            </a:r>
          </a:p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Finance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47" name="Shape 35">
            <a:extLst>
              <a:ext uri="{FF2B5EF4-FFF2-40B4-BE49-F238E27FC236}">
                <a16:creationId xmlns:a16="http://schemas.microsoft.com/office/drawing/2014/main" id="{ED4A959E-B1F5-7EB3-3D7C-8F39B18228CA}"/>
              </a:ext>
            </a:extLst>
          </p:cNvPr>
          <p:cNvSpPr/>
          <p:nvPr/>
        </p:nvSpPr>
        <p:spPr>
          <a:xfrm>
            <a:off x="1905065" y="5145394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48" name="Text 36">
            <a:extLst>
              <a:ext uri="{FF2B5EF4-FFF2-40B4-BE49-F238E27FC236}">
                <a16:creationId xmlns:a16="http://schemas.microsoft.com/office/drawing/2014/main" id="{B6923E3F-B422-4688-3198-24B3F6E664AB}"/>
              </a:ext>
            </a:extLst>
          </p:cNvPr>
          <p:cNvSpPr txBox="1"/>
          <p:nvPr/>
        </p:nvSpPr>
        <p:spPr>
          <a:xfrm>
            <a:off x="2404450" y="5234776"/>
            <a:ext cx="813448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065F46"/>
                </a:solidFill>
                <a:latin typeface="+mn-ea"/>
                <a:cs typeface="Noto Sans KR" pitchFamily="34" charset="-120"/>
              </a:rPr>
              <a:t>매출 분석</a:t>
            </a:r>
            <a:endParaRPr lang="en-US" sz="1000" dirty="0">
              <a:latin typeface="+mn-ea"/>
            </a:endParaRPr>
          </a:p>
        </p:txBody>
      </p:sp>
      <p:sp>
        <p:nvSpPr>
          <p:cNvPr id="49" name="Shape 37">
            <a:extLst>
              <a:ext uri="{FF2B5EF4-FFF2-40B4-BE49-F238E27FC236}">
                <a16:creationId xmlns:a16="http://schemas.microsoft.com/office/drawing/2014/main" id="{BDB0A0B5-C89E-0771-3273-6D0FDC038829}"/>
              </a:ext>
            </a:extLst>
          </p:cNvPr>
          <p:cNvSpPr/>
          <p:nvPr/>
        </p:nvSpPr>
        <p:spPr>
          <a:xfrm>
            <a:off x="3818144" y="5145394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0" name="Text 38">
            <a:extLst>
              <a:ext uri="{FF2B5EF4-FFF2-40B4-BE49-F238E27FC236}">
                <a16:creationId xmlns:a16="http://schemas.microsoft.com/office/drawing/2014/main" id="{B06E0FA1-98AC-272A-E5A4-44CA6C36D900}"/>
              </a:ext>
            </a:extLst>
          </p:cNvPr>
          <p:cNvSpPr txBox="1"/>
          <p:nvPr/>
        </p:nvSpPr>
        <p:spPr>
          <a:xfrm>
            <a:off x="4278169" y="5234776"/>
            <a:ext cx="894629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065F46"/>
                </a:solidFill>
                <a:latin typeface="+mn-ea"/>
                <a:cs typeface="Noto Sans KR" pitchFamily="34" charset="-120"/>
              </a:rPr>
              <a:t>정산 목록</a:t>
            </a:r>
            <a:endParaRPr lang="en-US" sz="1000" dirty="0">
              <a:latin typeface="+mn-ea"/>
            </a:endParaRPr>
          </a:p>
        </p:txBody>
      </p:sp>
      <p:sp>
        <p:nvSpPr>
          <p:cNvPr id="51" name="Shape 39">
            <a:extLst>
              <a:ext uri="{FF2B5EF4-FFF2-40B4-BE49-F238E27FC236}">
                <a16:creationId xmlns:a16="http://schemas.microsoft.com/office/drawing/2014/main" id="{71CDB710-CB28-8E86-4FB8-3E84E47D351F}"/>
              </a:ext>
            </a:extLst>
          </p:cNvPr>
          <p:cNvSpPr/>
          <p:nvPr/>
        </p:nvSpPr>
        <p:spPr>
          <a:xfrm>
            <a:off x="5732043" y="5145394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2" name="Text 40">
            <a:extLst>
              <a:ext uri="{FF2B5EF4-FFF2-40B4-BE49-F238E27FC236}">
                <a16:creationId xmlns:a16="http://schemas.microsoft.com/office/drawing/2014/main" id="{DD51D306-96E2-B70B-E521-DF3CD82ED38F}"/>
              </a:ext>
            </a:extLst>
          </p:cNvPr>
          <p:cNvSpPr txBox="1"/>
          <p:nvPr/>
        </p:nvSpPr>
        <p:spPr>
          <a:xfrm>
            <a:off x="6124007" y="5234776"/>
            <a:ext cx="1026650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065F46"/>
                </a:solidFill>
                <a:latin typeface="+mn-ea"/>
                <a:cs typeface="Noto Sans KR" pitchFamily="34" charset="-120"/>
              </a:rPr>
              <a:t>일일 마감</a:t>
            </a:r>
            <a:endParaRPr lang="en-US" sz="1000" dirty="0">
              <a:latin typeface="+mn-ea"/>
            </a:endParaRPr>
          </a:p>
        </p:txBody>
      </p:sp>
      <p:sp>
        <p:nvSpPr>
          <p:cNvPr id="53" name="Shape 41">
            <a:extLst>
              <a:ext uri="{FF2B5EF4-FFF2-40B4-BE49-F238E27FC236}">
                <a16:creationId xmlns:a16="http://schemas.microsoft.com/office/drawing/2014/main" id="{20A12BEE-9130-8C61-D697-E36B2D37876F}"/>
              </a:ext>
            </a:extLst>
          </p:cNvPr>
          <p:cNvSpPr/>
          <p:nvPr/>
        </p:nvSpPr>
        <p:spPr>
          <a:xfrm>
            <a:off x="7645122" y="5145394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4" name="Text 42">
            <a:extLst>
              <a:ext uri="{FF2B5EF4-FFF2-40B4-BE49-F238E27FC236}">
                <a16:creationId xmlns:a16="http://schemas.microsoft.com/office/drawing/2014/main" id="{0EBB7A20-E51D-D3B3-CD66-77475A2F0A57}"/>
              </a:ext>
            </a:extLst>
          </p:cNvPr>
          <p:cNvSpPr txBox="1"/>
          <p:nvPr/>
        </p:nvSpPr>
        <p:spPr>
          <a:xfrm>
            <a:off x="8015766" y="5234776"/>
            <a:ext cx="1075030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065F46"/>
                </a:solidFill>
                <a:latin typeface="+mn-ea"/>
                <a:cs typeface="Noto Sans KR" pitchFamily="34" charset="-120"/>
              </a:rPr>
              <a:t>부가서비스</a:t>
            </a:r>
            <a:endParaRPr lang="en-US" sz="1000" dirty="0">
              <a:latin typeface="+mn-ea"/>
            </a:endParaRPr>
          </a:p>
        </p:txBody>
      </p:sp>
      <p:sp>
        <p:nvSpPr>
          <p:cNvPr id="55" name="Shape 43">
            <a:extLst>
              <a:ext uri="{FF2B5EF4-FFF2-40B4-BE49-F238E27FC236}">
                <a16:creationId xmlns:a16="http://schemas.microsoft.com/office/drawing/2014/main" id="{9E29749E-3C74-0263-C157-1C9BCF8DDD7A}"/>
              </a:ext>
            </a:extLst>
          </p:cNvPr>
          <p:cNvSpPr/>
          <p:nvPr/>
        </p:nvSpPr>
        <p:spPr>
          <a:xfrm>
            <a:off x="9558202" y="5145394"/>
            <a:ext cx="1810578" cy="359163"/>
          </a:xfrm>
          <a:prstGeom prst="roundRect">
            <a:avLst>
              <a:gd name="adj" fmla="val 65232"/>
            </a:avLst>
          </a:prstGeom>
          <a:solidFill>
            <a:srgbClr val="D1FAE5"/>
          </a:solidFill>
          <a:ln w="254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6" name="Text 44">
            <a:extLst>
              <a:ext uri="{FF2B5EF4-FFF2-40B4-BE49-F238E27FC236}">
                <a16:creationId xmlns:a16="http://schemas.microsoft.com/office/drawing/2014/main" id="{275B6DC9-141E-E22E-F968-2333C98C510C}"/>
              </a:ext>
            </a:extLst>
          </p:cNvPr>
          <p:cNvSpPr txBox="1"/>
          <p:nvPr/>
        </p:nvSpPr>
        <p:spPr>
          <a:xfrm>
            <a:off x="10123187" y="5234776"/>
            <a:ext cx="681426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065F46"/>
                </a:solidFill>
                <a:latin typeface="+mn-ea"/>
                <a:cs typeface="Noto Sans KR" pitchFamily="34" charset="-120"/>
              </a:rPr>
              <a:t>통합 </a:t>
            </a:r>
            <a:r>
              <a:rPr lang="en-US" sz="1000" b="1">
                <a:solidFill>
                  <a:srgbClr val="065F46"/>
                </a:solidFill>
                <a:latin typeface="+mn-ea"/>
                <a:cs typeface="Noto Sans KR" pitchFamily="34" charset="-120"/>
              </a:rPr>
              <a:t>POS</a:t>
            </a:r>
            <a:endParaRPr lang="en-US" sz="1000" dirty="0">
              <a:latin typeface="+mn-ea"/>
            </a:endParaRPr>
          </a:p>
        </p:txBody>
      </p:sp>
      <p:pic>
        <p:nvPicPr>
          <p:cNvPr id="57" name="Image 6" descr="preencoded.png">
            <a:extLst>
              <a:ext uri="{FF2B5EF4-FFF2-40B4-BE49-F238E27FC236}">
                <a16:creationId xmlns:a16="http://schemas.microsoft.com/office/drawing/2014/main" id="{AAD77228-4680-EC4F-06F4-39FF2F4C19A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77472" y="5690700"/>
            <a:ext cx="119721" cy="119721"/>
          </a:xfrm>
          <a:prstGeom prst="rect">
            <a:avLst/>
          </a:prstGeom>
        </p:spPr>
      </p:pic>
      <p:sp>
        <p:nvSpPr>
          <p:cNvPr id="58" name="Shape 45">
            <a:extLst>
              <a:ext uri="{FF2B5EF4-FFF2-40B4-BE49-F238E27FC236}">
                <a16:creationId xmlns:a16="http://schemas.microsoft.com/office/drawing/2014/main" id="{333EB1BF-38F0-B4BE-26F6-FF94468EF90D}"/>
              </a:ext>
            </a:extLst>
          </p:cNvPr>
          <p:cNvSpPr/>
          <p:nvPr/>
        </p:nvSpPr>
        <p:spPr>
          <a:xfrm>
            <a:off x="1768124" y="5876842"/>
            <a:ext cx="9737597" cy="512505"/>
          </a:xfrm>
          <a:prstGeom prst="roundRect">
            <a:avLst>
              <a:gd name="adj" fmla="val 42667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59" name="Text 46">
            <a:extLst>
              <a:ext uri="{FF2B5EF4-FFF2-40B4-BE49-F238E27FC236}">
                <a16:creationId xmlns:a16="http://schemas.microsoft.com/office/drawing/2014/main" id="{6E0F9E0F-0A18-1EE7-0B50-02932E7059C4}"/>
              </a:ext>
            </a:extLst>
          </p:cNvPr>
          <p:cNvSpPr txBox="1"/>
          <p:nvPr/>
        </p:nvSpPr>
        <p:spPr>
          <a:xfrm>
            <a:off x="461211" y="6056918"/>
            <a:ext cx="1464534" cy="1287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Layer 6</a:t>
            </a:r>
          </a:p>
          <a:p>
            <a:pPr marL="0" indent="0" algn="l">
              <a:buNone/>
            </a:pPr>
            <a:r>
              <a:rPr lang="en-US" sz="800" b="1">
                <a:solidFill>
                  <a:srgbClr val="9CA3AF"/>
                </a:solidFill>
                <a:latin typeface="+mn-ea"/>
                <a:cs typeface="Noto Sans KR" pitchFamily="34" charset="-120"/>
              </a:rPr>
              <a:t>Security / API</a:t>
            </a:r>
            <a:endParaRPr lang="en-US" sz="10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60" name="Shape 47">
            <a:extLst>
              <a:ext uri="{FF2B5EF4-FFF2-40B4-BE49-F238E27FC236}">
                <a16:creationId xmlns:a16="http://schemas.microsoft.com/office/drawing/2014/main" id="{DA9D5409-F01F-B8C5-B419-0B431425858B}"/>
              </a:ext>
            </a:extLst>
          </p:cNvPr>
          <p:cNvSpPr/>
          <p:nvPr/>
        </p:nvSpPr>
        <p:spPr>
          <a:xfrm>
            <a:off x="1905065" y="5953102"/>
            <a:ext cx="9464534" cy="359163"/>
          </a:xfrm>
          <a:prstGeom prst="roundRect">
            <a:avLst>
              <a:gd name="adj" fmla="val 65232"/>
            </a:avLst>
          </a:prstGeom>
          <a:solidFill>
            <a:srgbClr val="F3F4F6"/>
          </a:solidFill>
          <a:ln w="25400">
            <a:solidFill>
              <a:srgbClr val="4B5563"/>
            </a:solidFill>
            <a:prstDash val="solid"/>
          </a:ln>
        </p:spPr>
        <p:txBody>
          <a:bodyPr/>
          <a:lstStyle/>
          <a:p>
            <a:endParaRPr lang="ko-KR" altLang="en-US">
              <a:latin typeface="+mn-ea"/>
            </a:endParaRPr>
          </a:p>
        </p:txBody>
      </p:sp>
      <p:sp>
        <p:nvSpPr>
          <p:cNvPr id="61" name="Text 48">
            <a:extLst>
              <a:ext uri="{FF2B5EF4-FFF2-40B4-BE49-F238E27FC236}">
                <a16:creationId xmlns:a16="http://schemas.microsoft.com/office/drawing/2014/main" id="{F55702D6-4648-C1C1-F001-BE061EE028FD}"/>
              </a:ext>
            </a:extLst>
          </p:cNvPr>
          <p:cNvSpPr txBox="1"/>
          <p:nvPr/>
        </p:nvSpPr>
        <p:spPr>
          <a:xfrm>
            <a:off x="5119497" y="6043303"/>
            <a:ext cx="3039770" cy="1795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권한 설정 </a:t>
            </a:r>
            <a:r>
              <a:rPr lang="en-US" altLang="ko-KR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/ </a:t>
            </a:r>
            <a:r>
              <a:rPr lang="ko-KR" altLang="en-US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감사 로그 </a:t>
            </a:r>
            <a:r>
              <a:rPr lang="en-US" altLang="ko-KR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/ </a:t>
            </a:r>
            <a:r>
              <a:rPr lang="ko-KR" altLang="en-US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외부 </a:t>
            </a:r>
            <a:r>
              <a:rPr lang="en-US" altLang="ko-KR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API </a:t>
            </a:r>
            <a:r>
              <a:rPr lang="ko-KR" altLang="en-US" sz="1000" b="1">
                <a:solidFill>
                  <a:srgbClr val="374151"/>
                </a:solidFill>
                <a:latin typeface="+mn-ea"/>
                <a:cs typeface="Noto Sans KR" pitchFamily="34" charset="-120"/>
              </a:rPr>
              <a:t>인터페이스</a:t>
            </a:r>
            <a:endParaRPr 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0371205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533095" y="6611755"/>
            <a:ext cx="6527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>
              <a:latin typeface="+mn-e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70586" y="1573682"/>
            <a:ext cx="24377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대시 보드</a:t>
            </a:r>
            <a:r>
              <a:rPr lang="en-US" altLang="ko-KR" sz="10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(Dashboard)</a:t>
            </a:r>
            <a:endParaRPr lang="en-US" sz="1000" dirty="0">
              <a:latin typeface="+mn-ea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381305" y="1609344"/>
            <a:ext cx="152705" cy="13350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5629259" y="1621231"/>
            <a:ext cx="66678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운영 판단을 위한 통합 </a:t>
            </a:r>
            <a:r>
              <a:rPr lang="ko-KR" altLang="en-US" sz="1200" b="1" dirty="0" err="1">
                <a:solidFill>
                  <a:srgbClr val="1E3A8A"/>
                </a:solidFill>
                <a:latin typeface="+mn-ea"/>
                <a:cs typeface="Noto Sans KR" pitchFamily="34" charset="-120"/>
              </a:rPr>
              <a:t>현황판</a:t>
            </a:r>
            <a:endParaRPr lang="en-US" sz="1200" dirty="0">
              <a:latin typeface="+mn-ea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5629259" y="2014423"/>
            <a:ext cx="38405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2"/>
          <p:cNvSpPr txBox="1"/>
          <p:nvPr/>
        </p:nvSpPr>
        <p:spPr>
          <a:xfrm>
            <a:off x="5781964" y="2014423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예약</a:t>
            </a:r>
            <a:r>
              <a:rPr lang="en-US" altLang="ko-KR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200" dirty="0" err="1">
                <a:solidFill>
                  <a:srgbClr val="64748B"/>
                </a:solidFill>
                <a:latin typeface="+mn-ea"/>
                <a:cs typeface="Noto Sans KR" pitchFamily="34" charset="-120"/>
              </a:rPr>
              <a:t>하우스키핑</a:t>
            </a:r>
            <a:r>
              <a:rPr lang="en-US" altLang="ko-KR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정산 데이터를 한 화면에서 연결해 운영 공백을 빠르게 확인합니다</a:t>
            </a:r>
            <a:r>
              <a:rPr lang="en-US" altLang="ko-KR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200" dirty="0">
              <a:latin typeface="+mn-ea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5629259" y="2709367"/>
            <a:ext cx="6353249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4"/>
          <p:cNvSpPr/>
          <p:nvPr/>
        </p:nvSpPr>
        <p:spPr>
          <a:xfrm>
            <a:off x="5791108" y="2871216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896264" y="2976372"/>
            <a:ext cx="171907" cy="171907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6315059" y="2871216"/>
            <a:ext cx="57442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 </a:t>
            </a:r>
            <a:r>
              <a:rPr 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KPI</a:t>
            </a:r>
            <a:endParaRPr lang="en-US" sz="1100" dirty="0">
              <a:latin typeface="+mn-ea"/>
            </a:endParaRPr>
          </a:p>
        </p:txBody>
      </p:sp>
      <p:sp>
        <p:nvSpPr>
          <p:cNvPr id="46" name="Text 36"/>
          <p:cNvSpPr txBox="1"/>
          <p:nvPr/>
        </p:nvSpPr>
        <p:spPr>
          <a:xfrm>
            <a:off x="6315059" y="3123590"/>
            <a:ext cx="57058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OCC, ADR, RevPAR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를 기준으로 객실 수익성과 가동률을 동시에 점검합니다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47" name="Shape 37"/>
          <p:cNvSpPr/>
          <p:nvPr/>
        </p:nvSpPr>
        <p:spPr>
          <a:xfrm>
            <a:off x="6315059" y="3543300"/>
            <a:ext cx="8951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8"/>
          <p:cNvSpPr txBox="1"/>
          <p:nvPr/>
        </p:nvSpPr>
        <p:spPr>
          <a:xfrm>
            <a:off x="6315059" y="3543300"/>
            <a:ext cx="100492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OCC</a:t>
            </a:r>
            <a:endParaRPr lang="en-US" sz="800" dirty="0">
              <a:latin typeface="+mn-ea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7258720" y="3543300"/>
            <a:ext cx="7808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0"/>
          <p:cNvSpPr txBox="1"/>
          <p:nvPr/>
        </p:nvSpPr>
        <p:spPr>
          <a:xfrm>
            <a:off x="7258720" y="3543300"/>
            <a:ext cx="8577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ADR</a:t>
            </a:r>
            <a:endParaRPr lang="en-US" sz="800" dirty="0">
              <a:latin typeface="+mn-ea"/>
            </a:endParaRPr>
          </a:p>
        </p:txBody>
      </p:sp>
      <p:sp>
        <p:nvSpPr>
          <p:cNvPr id="51" name="Shape 41"/>
          <p:cNvSpPr/>
          <p:nvPr/>
        </p:nvSpPr>
        <p:spPr>
          <a:xfrm>
            <a:off x="8087166" y="3543300"/>
            <a:ext cx="6665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2"/>
          <p:cNvSpPr txBox="1"/>
          <p:nvPr/>
        </p:nvSpPr>
        <p:spPr>
          <a:xfrm>
            <a:off x="8087166" y="3543300"/>
            <a:ext cx="7434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RevPAR</a:t>
            </a:r>
            <a:endParaRPr lang="en-US" sz="800" dirty="0">
              <a:latin typeface="+mn-ea"/>
            </a:endParaRPr>
          </a:p>
        </p:txBody>
      </p:sp>
      <p:sp>
        <p:nvSpPr>
          <p:cNvPr id="53" name="Shape 43"/>
          <p:cNvSpPr/>
          <p:nvPr/>
        </p:nvSpPr>
        <p:spPr>
          <a:xfrm>
            <a:off x="5629259" y="4028846"/>
            <a:ext cx="6353249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4"/>
          <p:cNvSpPr/>
          <p:nvPr/>
        </p:nvSpPr>
        <p:spPr>
          <a:xfrm>
            <a:off x="5791108" y="419069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5872490" y="4294937"/>
            <a:ext cx="219456" cy="171907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6315059" y="4190695"/>
            <a:ext cx="57442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당일 프론트 업무</a:t>
            </a:r>
            <a:endParaRPr lang="en-US" sz="1100" dirty="0">
              <a:latin typeface="+mn-ea"/>
            </a:endParaRPr>
          </a:p>
        </p:txBody>
      </p:sp>
      <p:sp>
        <p:nvSpPr>
          <p:cNvPr id="57" name="Text 46"/>
          <p:cNvSpPr txBox="1"/>
          <p:nvPr/>
        </p:nvSpPr>
        <p:spPr>
          <a:xfrm>
            <a:off x="6315059" y="4443070"/>
            <a:ext cx="57058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체크인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체크아웃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예약 상태 필터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고객 상세정보를 프론트 흐름과 연결합니다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58" name="Shape 47"/>
          <p:cNvSpPr/>
          <p:nvPr/>
        </p:nvSpPr>
        <p:spPr>
          <a:xfrm>
            <a:off x="6315059" y="4861865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8"/>
          <p:cNvSpPr txBox="1"/>
          <p:nvPr/>
        </p:nvSpPr>
        <p:spPr>
          <a:xfrm>
            <a:off x="6315059" y="4861865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체크인</a:t>
            </a:r>
            <a:endParaRPr lang="en-US" sz="800" dirty="0">
              <a:latin typeface="+mn-ea"/>
            </a:endParaRPr>
          </a:p>
        </p:txBody>
      </p:sp>
      <p:sp>
        <p:nvSpPr>
          <p:cNvPr id="60" name="Shape 49"/>
          <p:cNvSpPr/>
          <p:nvPr/>
        </p:nvSpPr>
        <p:spPr>
          <a:xfrm>
            <a:off x="7056638" y="4861865"/>
            <a:ext cx="7808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0"/>
          <p:cNvSpPr txBox="1"/>
          <p:nvPr/>
        </p:nvSpPr>
        <p:spPr>
          <a:xfrm>
            <a:off x="7056638" y="4861865"/>
            <a:ext cx="8577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체크아웃</a:t>
            </a:r>
            <a:endParaRPr lang="en-US" sz="800" dirty="0">
              <a:latin typeface="+mn-ea"/>
            </a:endParaRPr>
          </a:p>
        </p:txBody>
      </p:sp>
      <p:sp>
        <p:nvSpPr>
          <p:cNvPr id="62" name="Shape 51"/>
          <p:cNvSpPr/>
          <p:nvPr/>
        </p:nvSpPr>
        <p:spPr>
          <a:xfrm>
            <a:off x="7885084" y="4861865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2"/>
          <p:cNvSpPr txBox="1"/>
          <p:nvPr/>
        </p:nvSpPr>
        <p:spPr>
          <a:xfrm>
            <a:off x="7885084" y="4861865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예약 상태</a:t>
            </a:r>
            <a:endParaRPr lang="en-US" sz="800" dirty="0">
              <a:latin typeface="+mn-ea"/>
            </a:endParaRPr>
          </a:p>
        </p:txBody>
      </p:sp>
      <p:sp>
        <p:nvSpPr>
          <p:cNvPr id="64" name="Shape 53"/>
          <p:cNvSpPr/>
          <p:nvPr/>
        </p:nvSpPr>
        <p:spPr>
          <a:xfrm>
            <a:off x="5629259" y="5347411"/>
            <a:ext cx="6353249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54"/>
          <p:cNvSpPr/>
          <p:nvPr/>
        </p:nvSpPr>
        <p:spPr>
          <a:xfrm>
            <a:off x="5791108" y="5510174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5896264" y="5614416"/>
            <a:ext cx="171907" cy="171907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6315059" y="5510174"/>
            <a:ext cx="58201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운영 준비 상태</a:t>
            </a:r>
            <a:endParaRPr lang="en-US" sz="1100" dirty="0">
              <a:latin typeface="+mn-ea"/>
            </a:endParaRPr>
          </a:p>
        </p:txBody>
      </p:sp>
      <p:sp>
        <p:nvSpPr>
          <p:cNvPr id="68" name="Text 56"/>
          <p:cNvSpPr txBox="1"/>
          <p:nvPr/>
        </p:nvSpPr>
        <p:spPr>
          <a:xfrm>
            <a:off x="6315059" y="5762549"/>
            <a:ext cx="5705856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청소 완료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재실 청소 요청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보수 티켓을 객실 가동 가능성과 함께 관리합니다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69" name="Shape 57"/>
          <p:cNvSpPr/>
          <p:nvPr/>
        </p:nvSpPr>
        <p:spPr>
          <a:xfrm>
            <a:off x="6315059" y="6181344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1" name="Shape 59"/>
          <p:cNvSpPr/>
          <p:nvPr/>
        </p:nvSpPr>
        <p:spPr>
          <a:xfrm>
            <a:off x="7056639" y="6181344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0"/>
          <p:cNvSpPr txBox="1"/>
          <p:nvPr/>
        </p:nvSpPr>
        <p:spPr>
          <a:xfrm>
            <a:off x="7056638" y="6181344"/>
            <a:ext cx="69494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시설보수</a:t>
            </a:r>
            <a:endParaRPr lang="en-US" sz="800" dirty="0">
              <a:latin typeface="+mn-ea"/>
            </a:endParaRPr>
          </a:p>
        </p:txBody>
      </p:sp>
      <p:sp>
        <p:nvSpPr>
          <p:cNvPr id="73" name="Shape 61"/>
          <p:cNvSpPr/>
          <p:nvPr/>
        </p:nvSpPr>
        <p:spPr>
          <a:xfrm>
            <a:off x="7808274" y="6181344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62"/>
          <p:cNvSpPr txBox="1"/>
          <p:nvPr/>
        </p:nvSpPr>
        <p:spPr>
          <a:xfrm>
            <a:off x="7808274" y="6181344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객실 현황</a:t>
            </a:r>
            <a:endParaRPr lang="en-US" sz="800" dirty="0">
              <a:latin typeface="+mn-ea"/>
            </a:endParaRPr>
          </a:p>
        </p:txBody>
      </p:sp>
      <p:sp>
        <p:nvSpPr>
          <p:cNvPr id="76" name="Text 64"/>
          <p:cNvSpPr txBox="1"/>
          <p:nvPr/>
        </p:nvSpPr>
        <p:spPr>
          <a:xfrm>
            <a:off x="381305" y="313645"/>
            <a:ext cx="472196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메인 대시보드</a:t>
            </a:r>
            <a:endParaRPr lang="en-US" sz="2100" dirty="0">
              <a:latin typeface="+mn-ea"/>
            </a:endParaRPr>
          </a:p>
        </p:txBody>
      </p:sp>
      <p:sp>
        <p:nvSpPr>
          <p:cNvPr id="77" name="Text 65"/>
          <p:cNvSpPr txBox="1"/>
          <p:nvPr/>
        </p:nvSpPr>
        <p:spPr>
          <a:xfrm>
            <a:off x="10222078" y="254301"/>
            <a:ext cx="15910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OPERATION DASHBOARD</a:t>
            </a:r>
            <a:endParaRPr lang="en-US" sz="900" dirty="0">
              <a:latin typeface="+mn-ea"/>
            </a:endParaRPr>
          </a:p>
        </p:txBody>
      </p:sp>
      <p:sp>
        <p:nvSpPr>
          <p:cNvPr id="78" name="Text 66"/>
          <p:cNvSpPr txBox="1"/>
          <p:nvPr/>
        </p:nvSpPr>
        <p:spPr>
          <a:xfrm>
            <a:off x="10222078" y="406091"/>
            <a:ext cx="15910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03</a:t>
            </a:r>
            <a:endParaRPr lang="en-US" sz="1800" dirty="0">
              <a:latin typeface="+mn-ea"/>
            </a:endParaRPr>
          </a:p>
        </p:txBody>
      </p:sp>
      <p:pic>
        <p:nvPicPr>
          <p:cNvPr id="79" name="Image 0" descr="preencoded.png">
            <a:extLst>
              <a:ext uri="{FF2B5EF4-FFF2-40B4-BE49-F238E27FC236}">
                <a16:creationId xmlns:a16="http://schemas.microsoft.com/office/drawing/2014/main" id="{40C2DFBD-896D-E906-C66F-6FB6E315CD8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80" name="Text 8">
            <a:extLst>
              <a:ext uri="{FF2B5EF4-FFF2-40B4-BE49-F238E27FC236}">
                <a16:creationId xmlns:a16="http://schemas.microsoft.com/office/drawing/2014/main" id="{AD6D7E65-1DC7-B406-A653-AF6C45C3E51E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호텔 운영 현황을 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OCC, ADR, RevPAR, 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체크인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체크아웃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객실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·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청소 상태로 한 번에 확인</a:t>
            </a:r>
            <a:endParaRPr lang="ko-KR" altLang="en-US" sz="1300" b="1" dirty="0">
              <a:solidFill>
                <a:srgbClr val="4B5563"/>
              </a:solidFill>
              <a:latin typeface="+mj-ea"/>
              <a:ea typeface="+mj-ea"/>
              <a:cs typeface="Noto Sans KR" pitchFamily="34" charset="-12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CF2D4E2-89BF-0384-E64D-9E0F3B990C3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117" y="1852482"/>
            <a:ext cx="5096810" cy="4663440"/>
          </a:xfrm>
          <a:prstGeom prst="rect">
            <a:avLst/>
          </a:prstGeom>
        </p:spPr>
      </p:pic>
      <p:sp>
        <p:nvSpPr>
          <p:cNvPr id="5" name="Text 58"/>
          <p:cNvSpPr txBox="1"/>
          <p:nvPr/>
        </p:nvSpPr>
        <p:spPr>
          <a:xfrm>
            <a:off x="6315059" y="6181344"/>
            <a:ext cx="6574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하우스키핑</a:t>
            </a:r>
            <a:endParaRPr lang="en-US" sz="8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289008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571500" y="5094123"/>
            <a:ext cx="11048695" cy="1354225"/>
          </a:xfrm>
          <a:prstGeom prst="roundRect">
            <a:avLst>
              <a:gd name="adj" fmla="val 2411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71500" y="5094123"/>
            <a:ext cx="53975" cy="1354225"/>
          </a:xfrm>
          <a:prstGeom prst="roundRect">
            <a:avLst>
              <a:gd name="adj" fmla="val 52909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47649" y="6010352"/>
            <a:ext cx="190195" cy="19019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81405" y="5762549"/>
            <a:ext cx="10277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운영 기준</a:t>
            </a:r>
            <a:r>
              <a:rPr lang="en-US" altLang="ko-KR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: </a:t>
            </a:r>
            <a:r>
              <a:rPr lang="ko-KR" altLang="en-US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신규 예약에서는 상태를 임의 선택하지 않고</a:t>
            </a:r>
            <a:r>
              <a:rPr lang="en-US" altLang="ko-KR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예약 생성 후 체크인</a:t>
            </a:r>
            <a:r>
              <a:rPr lang="en-US" altLang="ko-KR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체크아웃</a:t>
            </a:r>
            <a:r>
              <a:rPr lang="en-US" altLang="ko-KR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취소 액션의 결과로 상태가 변경됩니다</a:t>
            </a:r>
            <a:r>
              <a:rPr lang="en-US" altLang="ko-KR" sz="11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402" b="-402"/>
          <a:stretch/>
        </p:blipFill>
        <p:spPr>
          <a:xfrm>
            <a:off x="1143000" y="3287268"/>
            <a:ext cx="9905695" cy="3840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62863" y="3953866"/>
            <a:ext cx="74889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예약 생성</a:t>
            </a:r>
            <a:endParaRPr lang="en-US" sz="1200" dirty="0">
              <a:latin typeface="+mn-ea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993953" y="4228186"/>
            <a:ext cx="685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일정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객실 유형 입력</a:t>
            </a:r>
            <a:endParaRPr lang="en-US" sz="900" dirty="0">
              <a:latin typeface="+mn-ea"/>
            </a:endParaRPr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57707" y="2810866"/>
            <a:ext cx="952805" cy="952805"/>
          </a:xfrm>
          <a:prstGeom prst="rect">
            <a:avLst/>
          </a:prstGeom>
        </p:spPr>
      </p:pic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162202" y="3115361"/>
            <a:ext cx="342900" cy="34290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485900" y="2849270"/>
            <a:ext cx="286207" cy="286207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2"/>
          <p:cNvSpPr/>
          <p:nvPr/>
        </p:nvSpPr>
        <p:spPr>
          <a:xfrm>
            <a:off x="1457554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1</a:t>
            </a:r>
            <a:endParaRPr lang="en-US" sz="1000" dirty="0">
              <a:latin typeface="+mn-ea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2210105" y="3516782"/>
            <a:ext cx="123444" cy="190195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2491740" y="3953866"/>
            <a:ext cx="1495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예약 타임라인</a:t>
            </a:r>
            <a:endParaRPr lang="en-US" sz="1200" dirty="0">
              <a:latin typeface="+mn-ea"/>
            </a:endParaRPr>
          </a:p>
        </p:txBody>
      </p:sp>
      <p:sp>
        <p:nvSpPr>
          <p:cNvPr id="21" name="Text 14"/>
          <p:cNvSpPr txBox="1"/>
          <p:nvPr/>
        </p:nvSpPr>
        <p:spPr>
          <a:xfrm>
            <a:off x="2606040" y="4228186"/>
            <a:ext cx="12673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날짜별 객실 배정 확인</a:t>
            </a:r>
            <a:endParaRPr lang="en-US" sz="900" dirty="0">
              <a:latin typeface="+mn-ea"/>
            </a:endParaRPr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762402" y="2810866"/>
            <a:ext cx="952805" cy="952805"/>
          </a:xfrm>
          <a:prstGeom prst="rect">
            <a:avLst/>
          </a:prstGeom>
        </p:spPr>
      </p:pic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3066898" y="3115361"/>
            <a:ext cx="342900" cy="342900"/>
          </a:xfrm>
          <a:prstGeom prst="rect">
            <a:avLst/>
          </a:prstGeom>
        </p:spPr>
      </p:pic>
      <p:sp>
        <p:nvSpPr>
          <p:cNvPr id="24" name="Shape 15"/>
          <p:cNvSpPr/>
          <p:nvPr/>
        </p:nvSpPr>
        <p:spPr>
          <a:xfrm>
            <a:off x="3390595" y="2849270"/>
            <a:ext cx="286207" cy="286207"/>
          </a:xfrm>
          <a:prstGeom prst="ellipse">
            <a:avLst/>
          </a:prstGeom>
          <a:solidFill>
            <a:srgbClr val="3B82F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16"/>
          <p:cNvSpPr/>
          <p:nvPr/>
        </p:nvSpPr>
        <p:spPr>
          <a:xfrm>
            <a:off x="3362249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2</a:t>
            </a:r>
            <a:endParaRPr lang="en-US" sz="1000" dirty="0">
              <a:latin typeface="+mn-ea"/>
            </a:endParaRPr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4114800" y="3610051"/>
            <a:ext cx="123444" cy="190195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4459529" y="3953866"/>
            <a:ext cx="1373429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예약 목록</a:t>
            </a:r>
            <a:endParaRPr lang="en-US" sz="1200" dirty="0">
              <a:latin typeface="+mn-ea"/>
            </a:endParaRPr>
          </a:p>
        </p:txBody>
      </p:sp>
      <p:sp>
        <p:nvSpPr>
          <p:cNvPr id="28" name="Text 18"/>
          <p:cNvSpPr txBox="1"/>
          <p:nvPr/>
        </p:nvSpPr>
        <p:spPr>
          <a:xfrm>
            <a:off x="4569257" y="4228186"/>
            <a:ext cx="11530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검색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필터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정렬</a:t>
            </a:r>
            <a:endParaRPr lang="en-US" sz="900" dirty="0">
              <a:latin typeface="+mn-ea"/>
            </a:endParaRPr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667098" y="2810866"/>
            <a:ext cx="952805" cy="952805"/>
          </a:xfrm>
          <a:prstGeom prst="rect">
            <a:avLst/>
          </a:prstGeom>
        </p:spPr>
      </p:pic>
      <p:pic>
        <p:nvPicPr>
          <p:cNvPr id="30" name="Image 9" descr="preencoded.png"/>
          <p:cNvPicPr>
            <a:picLocks noChangeAspect="1"/>
          </p:cNvPicPr>
          <p:nvPr/>
        </p:nvPicPr>
        <p:blipFill>
          <a:blip r:embed="rId10"/>
          <a:srcRect t="-45" b="-45"/>
          <a:stretch/>
        </p:blipFill>
        <p:spPr>
          <a:xfrm>
            <a:off x="5014570" y="3115361"/>
            <a:ext cx="256946" cy="342900"/>
          </a:xfrm>
          <a:prstGeom prst="rect">
            <a:avLst/>
          </a:prstGeom>
        </p:spPr>
      </p:pic>
      <p:sp>
        <p:nvSpPr>
          <p:cNvPr id="31" name="Shape 19"/>
          <p:cNvSpPr/>
          <p:nvPr/>
        </p:nvSpPr>
        <p:spPr>
          <a:xfrm>
            <a:off x="5296205" y="2849270"/>
            <a:ext cx="286207" cy="286207"/>
          </a:xfrm>
          <a:prstGeom prst="ellipse">
            <a:avLst/>
          </a:prstGeom>
          <a:solidFill>
            <a:srgbClr val="8B5CF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0"/>
          <p:cNvSpPr/>
          <p:nvPr/>
        </p:nvSpPr>
        <p:spPr>
          <a:xfrm>
            <a:off x="5266944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3</a:t>
            </a:r>
            <a:endParaRPr lang="en-US" sz="1000" dirty="0">
              <a:latin typeface="+mn-ea"/>
            </a:endParaRPr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6019495" y="3610051"/>
            <a:ext cx="123444" cy="190195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6633972" y="3953866"/>
            <a:ext cx="838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고객 상세</a:t>
            </a:r>
            <a:endParaRPr lang="en-US" sz="1200" dirty="0">
              <a:latin typeface="+mn-ea"/>
            </a:endParaRPr>
          </a:p>
        </p:txBody>
      </p:sp>
      <p:sp>
        <p:nvSpPr>
          <p:cNvPr id="35" name="Text 22"/>
          <p:cNvSpPr txBox="1"/>
          <p:nvPr/>
        </p:nvSpPr>
        <p:spPr>
          <a:xfrm>
            <a:off x="6591910" y="4228186"/>
            <a:ext cx="9235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연락처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특이사항 팝업</a:t>
            </a:r>
            <a:endParaRPr lang="en-US" sz="900" dirty="0">
              <a:latin typeface="+mn-ea"/>
            </a:endParaRPr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572707" y="2810866"/>
            <a:ext cx="952805" cy="952805"/>
          </a:xfrm>
          <a:prstGeom prst="rect">
            <a:avLst/>
          </a:prstGeom>
        </p:spPr>
      </p:pic>
      <p:pic>
        <p:nvPicPr>
          <p:cNvPr id="37" name="Image 12" descr="preencoded.png"/>
          <p:cNvPicPr>
            <a:picLocks noChangeAspect="1"/>
          </p:cNvPicPr>
          <p:nvPr/>
        </p:nvPicPr>
        <p:blipFill>
          <a:blip r:embed="rId11"/>
          <a:srcRect l="-743" r="-743"/>
          <a:stretch/>
        </p:blipFill>
        <p:spPr>
          <a:xfrm>
            <a:off x="6896405" y="3115361"/>
            <a:ext cx="304495" cy="342900"/>
          </a:xfrm>
          <a:prstGeom prst="rect">
            <a:avLst/>
          </a:prstGeom>
        </p:spPr>
      </p:pic>
      <p:sp>
        <p:nvSpPr>
          <p:cNvPr id="38" name="Shape 23"/>
          <p:cNvSpPr/>
          <p:nvPr/>
        </p:nvSpPr>
        <p:spPr>
          <a:xfrm>
            <a:off x="7200900" y="2849270"/>
            <a:ext cx="286207" cy="286207"/>
          </a:xfrm>
          <a:prstGeom prst="ellipse">
            <a:avLst/>
          </a:prstGeom>
          <a:solidFill>
            <a:srgbClr val="8B5CF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4"/>
          <p:cNvSpPr/>
          <p:nvPr/>
        </p:nvSpPr>
        <p:spPr>
          <a:xfrm>
            <a:off x="7172554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4</a:t>
            </a:r>
            <a:endParaRPr lang="en-US" sz="1000" dirty="0">
              <a:latin typeface="+mn-ea"/>
            </a:endParaRPr>
          </a:p>
        </p:txBody>
      </p:sp>
      <p:pic>
        <p:nvPicPr>
          <p:cNvPr id="40" name="Image 13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7925105" y="3516782"/>
            <a:ext cx="123444" cy="190195"/>
          </a:xfrm>
          <a:prstGeom prst="rect">
            <a:avLst/>
          </a:prstGeom>
        </p:spPr>
      </p:pic>
      <p:sp>
        <p:nvSpPr>
          <p:cNvPr id="41" name="Text 25"/>
          <p:cNvSpPr txBox="1"/>
          <p:nvPr/>
        </p:nvSpPr>
        <p:spPr>
          <a:xfrm>
            <a:off x="8206740" y="3953866"/>
            <a:ext cx="14959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체크인</a:t>
            </a:r>
            <a:r>
              <a:rPr lang="en-US" altLang="ko-KR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아웃</a:t>
            </a:r>
            <a:endParaRPr lang="en-US" sz="1200" dirty="0">
              <a:latin typeface="+mn-ea"/>
            </a:endParaRPr>
          </a:p>
        </p:txBody>
      </p:sp>
      <p:sp>
        <p:nvSpPr>
          <p:cNvPr id="42" name="Text 26"/>
          <p:cNvSpPr txBox="1"/>
          <p:nvPr/>
        </p:nvSpPr>
        <p:spPr>
          <a:xfrm>
            <a:off x="8321040" y="4228186"/>
            <a:ext cx="1267358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상태 변경 및 로그</a:t>
            </a:r>
            <a:endParaRPr lang="en-US" sz="900" dirty="0">
              <a:latin typeface="+mn-ea"/>
            </a:endParaRPr>
          </a:p>
        </p:txBody>
      </p:sp>
      <p:pic>
        <p:nvPicPr>
          <p:cNvPr id="43" name="Image 14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8477402" y="2810866"/>
            <a:ext cx="952805" cy="952805"/>
          </a:xfrm>
          <a:prstGeom prst="rect">
            <a:avLst/>
          </a:prstGeom>
        </p:spPr>
      </p:pic>
      <p:pic>
        <p:nvPicPr>
          <p:cNvPr id="44" name="Image 15" descr="preencoded.png"/>
          <p:cNvPicPr>
            <a:picLocks noChangeAspect="1"/>
          </p:cNvPicPr>
          <p:nvPr/>
        </p:nvPicPr>
        <p:blipFill>
          <a:blip r:embed="rId13"/>
          <a:srcRect t="-45" b="-45"/>
          <a:stretch/>
        </p:blipFill>
        <p:spPr>
          <a:xfrm>
            <a:off x="8824874" y="3115361"/>
            <a:ext cx="256946" cy="342900"/>
          </a:xfrm>
          <a:prstGeom prst="rect">
            <a:avLst/>
          </a:prstGeom>
        </p:spPr>
      </p:pic>
      <p:sp>
        <p:nvSpPr>
          <p:cNvPr id="45" name="Shape 27"/>
          <p:cNvSpPr/>
          <p:nvPr/>
        </p:nvSpPr>
        <p:spPr>
          <a:xfrm>
            <a:off x="9105595" y="2849270"/>
            <a:ext cx="286207" cy="286207"/>
          </a:xfrm>
          <a:prstGeom prst="ellipse">
            <a:avLst/>
          </a:prstGeom>
          <a:solidFill>
            <a:srgbClr val="10B981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6" name="Text 28"/>
          <p:cNvSpPr/>
          <p:nvPr/>
        </p:nvSpPr>
        <p:spPr>
          <a:xfrm>
            <a:off x="9077249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5</a:t>
            </a:r>
            <a:endParaRPr lang="en-US" sz="1000" dirty="0">
              <a:latin typeface="+mn-ea"/>
            </a:endParaRPr>
          </a:p>
        </p:txBody>
      </p:sp>
      <p:pic>
        <p:nvPicPr>
          <p:cNvPr id="47" name="Image 16" descr="preencoded.png"/>
          <p:cNvPicPr>
            <a:picLocks noChangeAspect="1"/>
          </p:cNvPicPr>
          <p:nvPr/>
        </p:nvPicPr>
        <p:blipFill>
          <a:blip r:embed="rId7"/>
          <a:srcRect l="-1923" r="-1923"/>
          <a:stretch/>
        </p:blipFill>
        <p:spPr>
          <a:xfrm>
            <a:off x="9829800" y="3610051"/>
            <a:ext cx="123444" cy="190195"/>
          </a:xfrm>
          <a:prstGeom prst="rect">
            <a:avLst/>
          </a:prstGeom>
        </p:spPr>
      </p:pic>
      <p:sp>
        <p:nvSpPr>
          <p:cNvPr id="48" name="Text 29"/>
          <p:cNvSpPr txBox="1"/>
          <p:nvPr/>
        </p:nvSpPr>
        <p:spPr>
          <a:xfrm>
            <a:off x="10309860" y="3953866"/>
            <a:ext cx="11009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정산 연결</a:t>
            </a:r>
            <a:endParaRPr lang="en-US" sz="1200" dirty="0">
              <a:latin typeface="+mn-ea"/>
            </a:endParaRPr>
          </a:p>
        </p:txBody>
      </p:sp>
      <p:sp>
        <p:nvSpPr>
          <p:cNvPr id="49" name="Text 30"/>
          <p:cNvSpPr txBox="1"/>
          <p:nvPr/>
        </p:nvSpPr>
        <p:spPr>
          <a:xfrm>
            <a:off x="10321747" y="4228186"/>
            <a:ext cx="1077163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Folio·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미수금 반영</a:t>
            </a:r>
            <a:endParaRPr lang="en-US" sz="900" dirty="0">
              <a:latin typeface="+mn-ea"/>
            </a:endParaRPr>
          </a:p>
        </p:txBody>
      </p:sp>
      <p:pic>
        <p:nvPicPr>
          <p:cNvPr id="50" name="Image 17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10382098" y="2810866"/>
            <a:ext cx="952805" cy="952805"/>
          </a:xfrm>
          <a:prstGeom prst="rect">
            <a:avLst/>
          </a:prstGeom>
        </p:spPr>
      </p:pic>
      <p:pic>
        <p:nvPicPr>
          <p:cNvPr id="51" name="Image 18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10687507" y="3115361"/>
            <a:ext cx="342900" cy="342900"/>
          </a:xfrm>
          <a:prstGeom prst="rect">
            <a:avLst/>
          </a:prstGeom>
        </p:spPr>
      </p:pic>
      <p:sp>
        <p:nvSpPr>
          <p:cNvPr id="52" name="Shape 31"/>
          <p:cNvSpPr/>
          <p:nvPr/>
        </p:nvSpPr>
        <p:spPr>
          <a:xfrm>
            <a:off x="11011205" y="2849270"/>
            <a:ext cx="286207" cy="286207"/>
          </a:xfrm>
          <a:prstGeom prst="ellipse">
            <a:avLst/>
          </a:prstGeom>
          <a:solidFill>
            <a:srgbClr val="F97316"/>
          </a:solidFill>
          <a:ln w="381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3" name="Text 32"/>
          <p:cNvSpPr/>
          <p:nvPr/>
        </p:nvSpPr>
        <p:spPr>
          <a:xfrm>
            <a:off x="10981944" y="2849270"/>
            <a:ext cx="342900" cy="2862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6</a:t>
            </a:r>
            <a:endParaRPr lang="en-US" sz="1000" dirty="0">
              <a:latin typeface="+mn-ea"/>
            </a:endParaRPr>
          </a:p>
        </p:txBody>
      </p:sp>
      <p:sp>
        <p:nvSpPr>
          <p:cNvPr id="55" name="Text 34"/>
          <p:cNvSpPr txBox="1"/>
          <p:nvPr/>
        </p:nvSpPr>
        <p:spPr>
          <a:xfrm>
            <a:off x="381305" y="169164"/>
            <a:ext cx="389443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예약 관리</a:t>
            </a:r>
            <a:endParaRPr lang="en-US" sz="2400" dirty="0">
              <a:latin typeface="+mn-ea"/>
            </a:endParaRPr>
          </a:p>
        </p:txBody>
      </p:sp>
      <p:sp>
        <p:nvSpPr>
          <p:cNvPr id="57" name="Text 36"/>
          <p:cNvSpPr txBox="1"/>
          <p:nvPr/>
        </p:nvSpPr>
        <p:spPr>
          <a:xfrm>
            <a:off x="10321748" y="247802"/>
            <a:ext cx="149504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RESERVATION FLOW</a:t>
            </a:r>
            <a:endParaRPr lang="en-US" sz="900" dirty="0">
              <a:latin typeface="+mn-ea"/>
            </a:endParaRPr>
          </a:p>
        </p:txBody>
      </p:sp>
      <p:sp>
        <p:nvSpPr>
          <p:cNvPr id="58" name="Text 37"/>
          <p:cNvSpPr txBox="1"/>
          <p:nvPr/>
        </p:nvSpPr>
        <p:spPr>
          <a:xfrm>
            <a:off x="10730484" y="400507"/>
            <a:ext cx="10863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04</a:t>
            </a:r>
            <a:endParaRPr lang="en-US" sz="1800" dirty="0">
              <a:latin typeface="+mn-ea"/>
            </a:endParaRPr>
          </a:p>
        </p:txBody>
      </p:sp>
      <p:pic>
        <p:nvPicPr>
          <p:cNvPr id="59" name="Image 0" descr="preencoded.png">
            <a:extLst>
              <a:ext uri="{FF2B5EF4-FFF2-40B4-BE49-F238E27FC236}">
                <a16:creationId xmlns:a16="http://schemas.microsoft.com/office/drawing/2014/main" id="{9289101B-8CFF-AE4C-2BC3-172693365793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60" name="Text 8">
            <a:extLst>
              <a:ext uri="{FF2B5EF4-FFF2-40B4-BE49-F238E27FC236}">
                <a16:creationId xmlns:a16="http://schemas.microsoft.com/office/drawing/2014/main" id="{0CD2B403-EF47-4383-00E5-E7E820EAA8A9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예약 타임라인과 예약 목록에서 체크인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체크아웃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고객 상세정보</a:t>
            </a:r>
            <a:r>
              <a:rPr lang="en-US" altLang="ko-KR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3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상태 필터를 연결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084C35-0A11-329B-31AA-BA9F733E6F2B}"/>
              </a:ext>
            </a:extLst>
          </p:cNvPr>
          <p:cNvSpPr txBox="1"/>
          <p:nvPr/>
        </p:nvSpPr>
        <p:spPr>
          <a:xfrm>
            <a:off x="937389" y="5249876"/>
            <a:ext cx="6100618" cy="6950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defPPr>
              <a:defRPr lang="ko-KR"/>
            </a:defPPr>
            <a:lvl1pPr indent="0">
              <a:buNone/>
              <a:defRPr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defRPr>
            </a:lvl1pPr>
          </a:lstStyle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ko-KR" sz="1100" dirty="0"/>
              <a:t>예약번호를 기준으로 고객, 객실, 결제/정산 정보 연결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ko-KR" sz="1100" dirty="0"/>
              <a:t>상태는 임의 선택이 아니라 </a:t>
            </a:r>
            <a:r>
              <a:rPr lang="ko-KR" altLang="ko-KR" sz="1100" dirty="0" err="1"/>
              <a:t>체크인·체크아웃·취소</a:t>
            </a:r>
            <a:r>
              <a:rPr lang="ko-KR" altLang="ko-KR" sz="1100" dirty="0"/>
              <a:t> 처리 결과로 변경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ko-KR" sz="1100" dirty="0"/>
              <a:t>고객 상세 열람과 주요 변경 이력은 운영 로그로 추적 가능</a:t>
            </a:r>
          </a:p>
        </p:txBody>
      </p:sp>
      <p:sp>
        <p:nvSpPr>
          <p:cNvPr id="5" name="Text 8">
            <a:extLst>
              <a:ext uri="{FF2B5EF4-FFF2-40B4-BE49-F238E27FC236}">
                <a16:creationId xmlns:a16="http://schemas.microsoft.com/office/drawing/2014/main" id="{3BE009B6-6A28-2701-3E72-7C5FCB0AB071}"/>
              </a:ext>
            </a:extLst>
          </p:cNvPr>
          <p:cNvSpPr txBox="1"/>
          <p:nvPr/>
        </p:nvSpPr>
        <p:spPr>
          <a:xfrm>
            <a:off x="562355" y="1506016"/>
            <a:ext cx="1105783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예약은 단순 접수 목록이 아니라</a:t>
            </a:r>
            <a:r>
              <a:rPr lang="en-US" altLang="ko-KR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고객 상세정보 확인부터 객실 배정</a:t>
            </a:r>
            <a:r>
              <a:rPr lang="en-US" altLang="ko-KR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체크인</a:t>
            </a:r>
            <a:r>
              <a:rPr lang="en-US" altLang="ko-KR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체크아웃</a:t>
            </a:r>
            <a:r>
              <a:rPr lang="en-US" altLang="ko-KR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Folio </a:t>
            </a:r>
            <a:r>
              <a:rPr lang="ko-KR" altLang="en-US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정산까지 이어지는 프론트 운영의 기준 데이터입니다</a:t>
            </a:r>
            <a:r>
              <a:rPr lang="en-US" altLang="ko-KR" sz="12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.</a:t>
            </a:r>
            <a:endParaRPr lang="ko-KR" altLang="en-US" sz="1200" b="1" dirty="0">
              <a:solidFill>
                <a:srgbClr val="4B5563"/>
              </a:solidFill>
              <a:latin typeface="+mj-ea"/>
              <a:ea typeface="+mj-ea"/>
              <a:cs typeface="Noto Sans K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4437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381305" y="322881"/>
            <a:ext cx="349758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단체</a:t>
            </a:r>
            <a:r>
              <a:rPr lang="en-US" altLang="ko-KR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행사 관리</a:t>
            </a:r>
            <a:endParaRPr lang="en-US" sz="2100" dirty="0">
              <a:latin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641787" y="254301"/>
            <a:ext cx="11722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GROUP EVENT</a:t>
            </a:r>
            <a:endParaRPr lang="en-US" sz="900" dirty="0">
              <a:latin typeface="+mn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641787" y="406091"/>
            <a:ext cx="1172261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b="1">
                <a:solidFill>
                  <a:srgbClr val="FFFFFF"/>
                </a:solidFill>
                <a:latin typeface="+mn-ea"/>
              </a:rPr>
              <a:t>05</a:t>
            </a:r>
            <a:endParaRPr lang="en-US" sz="180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81305" y="1660275"/>
            <a:ext cx="3685946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580644" y="1887047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14146" y="2020549"/>
            <a:ext cx="190195" cy="19019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90549" y="1822124"/>
            <a:ext cx="2784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업체 마스터 연계</a:t>
            </a:r>
            <a:endParaRPr lang="en-US" sz="1200" dirty="0">
              <a:latin typeface="+mn-ea"/>
            </a:endParaRPr>
          </a:p>
        </p:txBody>
      </p:sp>
      <p:sp>
        <p:nvSpPr>
          <p:cNvPr id="16" name="Text 13"/>
          <p:cNvSpPr txBox="1"/>
          <p:nvPr/>
        </p:nvSpPr>
        <p:spPr>
          <a:xfrm>
            <a:off x="1190549" y="2089129"/>
            <a:ext cx="27532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등록 업체</a:t>
            </a:r>
            <a:r>
              <a:rPr lang="en-US" altLang="ko-KR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담당자</a:t>
            </a:r>
            <a:r>
              <a:rPr lang="en-US" altLang="ko-KR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정산 방식</a:t>
            </a:r>
            <a:r>
              <a:rPr lang="en-US" altLang="ko-KR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기본 계약 정보를 행사 생성 시 참조</a:t>
            </a:r>
            <a:endParaRPr lang="en-US" sz="900" dirty="0">
              <a:latin typeface="+mn-ea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4254703" y="1660275"/>
            <a:ext cx="3685946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4454042" y="1887047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87545" y="2020549"/>
            <a:ext cx="190195" cy="190195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063947" y="1822124"/>
            <a:ext cx="28675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투숙객 배정</a:t>
            </a:r>
            <a:endParaRPr lang="en-US" sz="1200" dirty="0">
              <a:latin typeface="+mn-ea"/>
            </a:endParaRPr>
          </a:p>
        </p:txBody>
      </p:sp>
      <p:sp>
        <p:nvSpPr>
          <p:cNvPr id="21" name="Text 17"/>
          <p:cNvSpPr txBox="1"/>
          <p:nvPr/>
        </p:nvSpPr>
        <p:spPr>
          <a:xfrm>
            <a:off x="5063947" y="2089129"/>
            <a:ext cx="27532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행사별 객실 블록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투숙객 등록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신분증 확인과 특이사항 관리</a:t>
            </a:r>
            <a:endParaRPr lang="en-US" sz="900" dirty="0">
              <a:latin typeface="+mn-ea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8128102" y="1660275"/>
            <a:ext cx="3685946" cy="91440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8328355" y="1887047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460943" y="2020549"/>
            <a:ext cx="190195" cy="19019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937346" y="1822124"/>
            <a:ext cx="27843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행사 정산</a:t>
            </a:r>
            <a:endParaRPr lang="en-US" sz="1200" dirty="0">
              <a:latin typeface="+mn-ea"/>
            </a:endParaRPr>
          </a:p>
        </p:txBody>
      </p:sp>
      <p:sp>
        <p:nvSpPr>
          <p:cNvPr id="26" name="Text 21"/>
          <p:cNvSpPr txBox="1"/>
          <p:nvPr/>
        </p:nvSpPr>
        <p:spPr>
          <a:xfrm>
            <a:off x="8937346" y="2089129"/>
            <a:ext cx="275325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행사별 할인율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Master Folio,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미수금 및 정산 필요 상태 관리</a:t>
            </a:r>
            <a:endParaRPr lang="en-US" sz="900" dirty="0">
              <a:latin typeface="+mn-ea"/>
            </a:endParaRPr>
          </a:p>
        </p:txBody>
      </p:sp>
      <p:sp>
        <p:nvSpPr>
          <p:cNvPr id="28" name="Text 23"/>
          <p:cNvSpPr txBox="1"/>
          <p:nvPr/>
        </p:nvSpPr>
        <p:spPr>
          <a:xfrm>
            <a:off x="720647" y="3258645"/>
            <a:ext cx="110688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단체 운영 전환 흐름</a:t>
            </a:r>
            <a:endParaRPr lang="en-US" sz="1200" dirty="0">
              <a:latin typeface="+mn-ea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619049" y="3286353"/>
            <a:ext cx="38405" cy="152705"/>
          </a:xfrm>
          <a:prstGeom prst="roundRect">
            <a:avLst>
              <a:gd name="adj" fmla="val 2380940"/>
            </a:avLst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3000146" y="4638751"/>
            <a:ext cx="1952244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6"/>
          <p:cNvSpPr/>
          <p:nvPr/>
        </p:nvSpPr>
        <p:spPr>
          <a:xfrm>
            <a:off x="3199485" y="4354551"/>
            <a:ext cx="1444871" cy="200254"/>
          </a:xfrm>
          <a:prstGeom prst="roundRect">
            <a:avLst>
              <a:gd name="adj" fmla="val 347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 txBox="1"/>
          <p:nvPr/>
        </p:nvSpPr>
        <p:spPr>
          <a:xfrm>
            <a:off x="3428086" y="4354551"/>
            <a:ext cx="121627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객실 블록 </a:t>
            </a:r>
            <a:r>
              <a:rPr lang="en-US" altLang="ko-KR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+ </a:t>
            </a:r>
            <a:r>
              <a:rPr lang="ko-KR" alt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계약 조건</a:t>
            </a:r>
            <a:endParaRPr lang="en-US" sz="800" dirty="0">
              <a:latin typeface="+mn-ea"/>
            </a:endParaRPr>
          </a:p>
        </p:txBody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rcRect l="-1923" r="-1923"/>
          <a:stretch/>
        </p:blipFill>
        <p:spPr>
          <a:xfrm>
            <a:off x="3266237" y="4414901"/>
            <a:ext cx="123444" cy="95098"/>
          </a:xfrm>
          <a:prstGeom prst="rect">
            <a:avLst/>
          </a:prstGeom>
        </p:spPr>
      </p:pic>
      <p:sp>
        <p:nvSpPr>
          <p:cNvPr id="34" name="Shape 28"/>
          <p:cNvSpPr/>
          <p:nvPr/>
        </p:nvSpPr>
        <p:spPr>
          <a:xfrm>
            <a:off x="7239305" y="4638751"/>
            <a:ext cx="1952244" cy="19202"/>
          </a:xfrm>
          <a:prstGeom prst="rect">
            <a:avLst/>
          </a:prstGeom>
          <a:solidFill>
            <a:srgbClr val="CBD5E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Shape 29"/>
          <p:cNvSpPr/>
          <p:nvPr/>
        </p:nvSpPr>
        <p:spPr>
          <a:xfrm>
            <a:off x="7699248" y="4354551"/>
            <a:ext cx="1238098" cy="200254"/>
          </a:xfrm>
          <a:prstGeom prst="roundRect">
            <a:avLst>
              <a:gd name="adj" fmla="val 34790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765999" y="4414901"/>
            <a:ext cx="95098" cy="95098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1884978" y="5433727"/>
            <a:ext cx="19202" cy="38130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6096305" y="5433727"/>
            <a:ext cx="19202" cy="38130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3"/>
          <p:cNvSpPr/>
          <p:nvPr/>
        </p:nvSpPr>
        <p:spPr>
          <a:xfrm>
            <a:off x="10307022" y="5433727"/>
            <a:ext cx="19202" cy="381305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4"/>
          <p:cNvSpPr/>
          <p:nvPr/>
        </p:nvSpPr>
        <p:spPr>
          <a:xfrm>
            <a:off x="1552651" y="5815032"/>
            <a:ext cx="9089136" cy="476402"/>
          </a:xfrm>
          <a:prstGeom prst="roundRect">
            <a:avLst>
              <a:gd name="adj" fmla="val 76775"/>
            </a:avLst>
          </a:prstGeom>
          <a:solidFill>
            <a:srgbClr val="ECFDF5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8"/>
          <a:srcRect t="-34" b="-34"/>
          <a:stretch/>
        </p:blipFill>
        <p:spPr>
          <a:xfrm>
            <a:off x="4972507" y="5929332"/>
            <a:ext cx="2247595" cy="24780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5277002" y="5929332"/>
            <a:ext cx="201991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b="1">
                <a:solidFill>
                  <a:srgbClr val="059669"/>
                </a:solidFill>
                <a:latin typeface="+mn-ea"/>
                <a:cs typeface="Noto Sans KR" pitchFamily="34" charset="-120"/>
              </a:rPr>
              <a:t>단체 데이터 허브</a:t>
            </a:r>
            <a:endParaRPr lang="en-US" sz="900" dirty="0">
              <a:latin typeface="+mn-ea"/>
            </a:endParaRPr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086807" y="5996083"/>
            <a:ext cx="114300" cy="114300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809244" y="3928262"/>
            <a:ext cx="2095805" cy="1447495"/>
          </a:xfrm>
          <a:prstGeom prst="roundRect">
            <a:avLst>
              <a:gd name="adj" fmla="val 9974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1757477" y="4100169"/>
            <a:ext cx="200254" cy="267005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1365505" y="4461357"/>
            <a:ext cx="99059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1. </a:t>
            </a:r>
            <a:r>
              <a:rPr lang="ko-KR" alt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업체 선택</a:t>
            </a:r>
            <a:endParaRPr lang="en-US" sz="1200" dirty="0">
              <a:latin typeface="+mn-ea"/>
            </a:endParaRPr>
          </a:p>
        </p:txBody>
      </p:sp>
      <p:sp>
        <p:nvSpPr>
          <p:cNvPr id="48" name="Text 38"/>
          <p:cNvSpPr txBox="1"/>
          <p:nvPr/>
        </p:nvSpPr>
        <p:spPr>
          <a:xfrm>
            <a:off x="1254557" y="4700016"/>
            <a:ext cx="12097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등록 업체 기준</a:t>
            </a:r>
            <a:endParaRPr lang="en-US" sz="1000" dirty="0">
              <a:latin typeface="+mn-ea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1523352" y="5029200"/>
            <a:ext cx="672162" cy="171907"/>
          </a:xfrm>
          <a:prstGeom prst="roundRect">
            <a:avLst>
              <a:gd name="adj" fmla="val 236407"/>
            </a:avLst>
          </a:prstGeom>
          <a:solidFill>
            <a:srgbClr val="DBEAF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Shape 41"/>
          <p:cNvSpPr/>
          <p:nvPr/>
        </p:nvSpPr>
        <p:spPr>
          <a:xfrm>
            <a:off x="5048402" y="3928262"/>
            <a:ext cx="2095805" cy="1447495"/>
          </a:xfrm>
          <a:prstGeom prst="roundRect">
            <a:avLst>
              <a:gd name="adj" fmla="val 9974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962802" y="4100169"/>
            <a:ext cx="267005" cy="267005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5496458" y="4461357"/>
            <a:ext cx="119969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2. </a:t>
            </a: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행사 계약</a:t>
            </a:r>
            <a:endParaRPr lang="en-US" sz="1200" dirty="0">
              <a:latin typeface="+mn-ea"/>
            </a:endParaRPr>
          </a:p>
        </p:txBody>
      </p:sp>
      <p:sp>
        <p:nvSpPr>
          <p:cNvPr id="54" name="Text 43"/>
          <p:cNvSpPr txBox="1"/>
          <p:nvPr/>
        </p:nvSpPr>
        <p:spPr>
          <a:xfrm>
            <a:off x="5526634" y="4700016"/>
            <a:ext cx="11430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일정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·PAX·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정산 방식</a:t>
            </a:r>
            <a:endParaRPr lang="en-US" sz="1000" dirty="0">
              <a:latin typeface="+mn-ea"/>
            </a:endParaRPr>
          </a:p>
        </p:txBody>
      </p:sp>
      <p:sp>
        <p:nvSpPr>
          <p:cNvPr id="55" name="Shape 44"/>
          <p:cNvSpPr/>
          <p:nvPr/>
        </p:nvSpPr>
        <p:spPr>
          <a:xfrm>
            <a:off x="5676900" y="5029200"/>
            <a:ext cx="846126" cy="171907"/>
          </a:xfrm>
          <a:prstGeom prst="roundRect">
            <a:avLst>
              <a:gd name="adj" fmla="val 236407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Shape 46"/>
          <p:cNvSpPr/>
          <p:nvPr/>
        </p:nvSpPr>
        <p:spPr>
          <a:xfrm>
            <a:off x="9286646" y="3923691"/>
            <a:ext cx="2095805" cy="1452066"/>
          </a:xfrm>
          <a:prstGeom prst="roundRect">
            <a:avLst>
              <a:gd name="adj" fmla="val 14981"/>
            </a:avLst>
          </a:prstGeom>
          <a:solidFill>
            <a:srgbClr val="F8FAFC"/>
          </a:solidFill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7"/>
          <p:cNvSpPr txBox="1"/>
          <p:nvPr/>
        </p:nvSpPr>
        <p:spPr>
          <a:xfrm>
            <a:off x="9809683" y="4328769"/>
            <a:ext cx="10579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ko-KR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3. </a:t>
            </a: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투숙객</a:t>
            </a:r>
            <a:endParaRPr lang="en-US" sz="1200" dirty="0">
              <a:latin typeface="+mn-ea"/>
            </a:endParaRPr>
          </a:p>
        </p:txBody>
      </p:sp>
      <p:sp>
        <p:nvSpPr>
          <p:cNvPr id="59" name="Text 48"/>
          <p:cNvSpPr txBox="1"/>
          <p:nvPr/>
        </p:nvSpPr>
        <p:spPr>
          <a:xfrm>
            <a:off x="9845345" y="4566513"/>
            <a:ext cx="9811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배정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등록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확인</a:t>
            </a:r>
            <a:endParaRPr lang="en-US" sz="1000" dirty="0">
              <a:latin typeface="+mn-ea"/>
            </a:endParaRPr>
          </a:p>
        </p:txBody>
      </p:sp>
      <p:sp>
        <p:nvSpPr>
          <p:cNvPr id="60" name="Shape 49"/>
          <p:cNvSpPr/>
          <p:nvPr/>
        </p:nvSpPr>
        <p:spPr>
          <a:xfrm>
            <a:off x="9914992" y="4895697"/>
            <a:ext cx="848258" cy="171907"/>
          </a:xfrm>
          <a:prstGeom prst="roundRect">
            <a:avLst>
              <a:gd name="adj" fmla="val 236407"/>
            </a:avLst>
          </a:prstGeom>
          <a:solidFill>
            <a:srgbClr val="FFEDD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40"/>
          <p:cNvSpPr txBox="1"/>
          <p:nvPr/>
        </p:nvSpPr>
        <p:spPr>
          <a:xfrm>
            <a:off x="1555394" y="5029200"/>
            <a:ext cx="659169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1E40AF"/>
                </a:solidFill>
                <a:latin typeface="+mn-ea"/>
                <a:cs typeface="Noto Sans KR" pitchFamily="34" charset="-120"/>
              </a:rPr>
              <a:t>Logged In</a:t>
            </a:r>
            <a:endParaRPr lang="en-US" sz="800" dirty="0">
              <a:latin typeface="+mn-ea"/>
            </a:endParaRPr>
          </a:p>
        </p:txBody>
      </p:sp>
      <p:sp>
        <p:nvSpPr>
          <p:cNvPr id="63" name="Text 45"/>
          <p:cNvSpPr txBox="1"/>
          <p:nvPr/>
        </p:nvSpPr>
        <p:spPr>
          <a:xfrm>
            <a:off x="5762317" y="5029200"/>
            <a:ext cx="690868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65F46"/>
                </a:solidFill>
                <a:latin typeface="+mn-ea"/>
                <a:cs typeface="Noto Sans KR" pitchFamily="34" charset="-120"/>
              </a:rPr>
              <a:t>Auto Auth</a:t>
            </a:r>
            <a:endParaRPr lang="en-US" sz="800" dirty="0">
              <a:latin typeface="+mn-ea"/>
            </a:endParaRPr>
          </a:p>
        </p:txBody>
      </p:sp>
      <p:sp>
        <p:nvSpPr>
          <p:cNvPr id="64" name="Text 30"/>
          <p:cNvSpPr txBox="1"/>
          <p:nvPr/>
        </p:nvSpPr>
        <p:spPr>
          <a:xfrm>
            <a:off x="7899502" y="4354551"/>
            <a:ext cx="1037844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정산 이관</a:t>
            </a:r>
            <a:endParaRPr lang="en-US" sz="800" dirty="0">
              <a:latin typeface="+mn-ea"/>
            </a:endParaRPr>
          </a:p>
        </p:txBody>
      </p:sp>
      <p:sp>
        <p:nvSpPr>
          <p:cNvPr id="65" name="Text 50"/>
          <p:cNvSpPr txBox="1"/>
          <p:nvPr/>
        </p:nvSpPr>
        <p:spPr>
          <a:xfrm>
            <a:off x="9914992" y="4895697"/>
            <a:ext cx="848258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9A3412"/>
                </a:solidFill>
                <a:latin typeface="+mn-ea"/>
                <a:cs typeface="Noto Sans KR" pitchFamily="34" charset="-120"/>
              </a:rPr>
              <a:t>Master Folio</a:t>
            </a:r>
            <a:endParaRPr lang="en-US" sz="800" dirty="0">
              <a:latin typeface="+mn-ea"/>
            </a:endParaRPr>
          </a:p>
        </p:txBody>
      </p:sp>
      <p:pic>
        <p:nvPicPr>
          <p:cNvPr id="66" name="Image 0" descr="preencoded.png">
            <a:extLst>
              <a:ext uri="{FF2B5EF4-FFF2-40B4-BE49-F238E27FC236}">
                <a16:creationId xmlns:a16="http://schemas.microsoft.com/office/drawing/2014/main" id="{2489855A-0CE3-CBF2-4D7E-8CF076649822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67" name="Text 8">
            <a:extLst>
              <a:ext uri="{FF2B5EF4-FFF2-40B4-BE49-F238E27FC236}">
                <a16:creationId xmlns:a16="http://schemas.microsoft.com/office/drawing/2014/main" id="{4FD36F67-E479-360E-45AB-5D59982CEF0C}"/>
              </a:ext>
            </a:extLst>
          </p:cNvPr>
          <p:cNvSpPr txBox="1"/>
          <p:nvPr/>
        </p:nvSpPr>
        <p:spPr>
          <a:xfrm>
            <a:off x="562356" y="1095451"/>
            <a:ext cx="698144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업체</a:t>
            </a:r>
            <a:r>
              <a:rPr lang="en-US" altLang="ko-KR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행사 계약</a:t>
            </a:r>
            <a:r>
              <a:rPr lang="en-US" altLang="ko-KR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객실 배정</a:t>
            </a:r>
            <a:r>
              <a:rPr lang="en-US" altLang="ko-KR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투숙객 등록</a:t>
            </a:r>
            <a:r>
              <a:rPr lang="en-US" altLang="ko-KR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행사 정산을 하나의 단체 운영 흐름으로 관리</a:t>
            </a:r>
            <a:endParaRPr lang="ko-KR" altLang="en-US" sz="1400" b="1" dirty="0">
              <a:solidFill>
                <a:srgbClr val="4B5563"/>
              </a:solidFill>
              <a:latin typeface="+mj-ea"/>
              <a:ea typeface="+mj-ea"/>
              <a:cs typeface="Noto Sans K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1118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12191695" cy="761695"/>
          </a:xfrm>
          <a:prstGeom prst="rect">
            <a:avLst/>
          </a:prstGeom>
          <a:solidFill>
            <a:srgbClr val="1E3A8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381305" y="313645"/>
            <a:ext cx="4556455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요금 관리</a:t>
            </a:r>
            <a:endParaRPr lang="en-US" sz="2100" dirty="0">
              <a:latin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932566" y="245065"/>
            <a:ext cx="8860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ROOM &amp; RATE</a:t>
            </a:r>
            <a:endParaRPr lang="en-US" sz="900" dirty="0">
              <a:latin typeface="+mn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932566" y="396855"/>
            <a:ext cx="8860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06</a:t>
            </a:r>
            <a:endParaRPr lang="en-US" sz="180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71500" y="1569298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 dirty="0">
              <a:latin typeface="+mn-ea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71500" y="1569298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47649" y="1797898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 l="-107" r="-107"/>
          <a:stretch/>
        </p:blipFill>
        <p:spPr>
          <a:xfrm>
            <a:off x="1047902" y="1978949"/>
            <a:ext cx="267005" cy="304495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5019142" y="1892995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01</a:t>
            </a:r>
            <a:endParaRPr lang="en-US" sz="4500" dirty="0">
              <a:latin typeface="+mn-ea"/>
            </a:endParaRPr>
          </a:p>
        </p:txBody>
      </p:sp>
      <p:sp>
        <p:nvSpPr>
          <p:cNvPr id="17" name="Shape 14"/>
          <p:cNvSpPr/>
          <p:nvPr/>
        </p:nvSpPr>
        <p:spPr>
          <a:xfrm>
            <a:off x="571500" y="3312144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Shape 15"/>
          <p:cNvSpPr/>
          <p:nvPr/>
        </p:nvSpPr>
        <p:spPr>
          <a:xfrm>
            <a:off x="571500" y="3312144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6"/>
          <p:cNvSpPr/>
          <p:nvPr/>
        </p:nvSpPr>
        <p:spPr>
          <a:xfrm>
            <a:off x="847649" y="3540744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ECFDF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rcRect l="-107" r="-107"/>
          <a:stretch/>
        </p:blipFill>
        <p:spPr>
          <a:xfrm>
            <a:off x="1047902" y="3721795"/>
            <a:ext cx="267005" cy="304495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019142" y="3635842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02</a:t>
            </a:r>
            <a:endParaRPr lang="en-US" sz="4500" dirty="0">
              <a:latin typeface="+mn-ea"/>
            </a:endParaRPr>
          </a:p>
        </p:txBody>
      </p:sp>
      <p:sp>
        <p:nvSpPr>
          <p:cNvPr id="22" name="Shape 18"/>
          <p:cNvSpPr/>
          <p:nvPr/>
        </p:nvSpPr>
        <p:spPr>
          <a:xfrm>
            <a:off x="571500" y="5054990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571500" y="5054990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F43F5E"/>
          </a:solidFill>
          <a:ln w="12700">
            <a:solidFill>
              <a:srgbClr val="F43F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0"/>
          <p:cNvSpPr/>
          <p:nvPr/>
        </p:nvSpPr>
        <p:spPr>
          <a:xfrm>
            <a:off x="847649" y="5283590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 l="-50" r="-50"/>
          <a:stretch/>
        </p:blipFill>
        <p:spPr>
          <a:xfrm>
            <a:off x="1067105" y="5464642"/>
            <a:ext cx="228600" cy="30449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5019142" y="5379602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03</a:t>
            </a:r>
            <a:endParaRPr lang="en-US" sz="4500" dirty="0">
              <a:latin typeface="+mn-ea"/>
            </a:endParaRPr>
          </a:p>
        </p:txBody>
      </p:sp>
      <p:sp>
        <p:nvSpPr>
          <p:cNvPr id="27" name="Shape 22"/>
          <p:cNvSpPr/>
          <p:nvPr/>
        </p:nvSpPr>
        <p:spPr>
          <a:xfrm>
            <a:off x="6286500" y="1569298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Shape 23"/>
          <p:cNvSpPr/>
          <p:nvPr/>
        </p:nvSpPr>
        <p:spPr>
          <a:xfrm>
            <a:off x="6286500" y="1569298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4"/>
          <p:cNvSpPr/>
          <p:nvPr/>
        </p:nvSpPr>
        <p:spPr>
          <a:xfrm>
            <a:off x="6562649" y="1797898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43700" y="1978949"/>
            <a:ext cx="304495" cy="304495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10734142" y="1892995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04</a:t>
            </a:r>
            <a:endParaRPr lang="en-US" sz="4500" dirty="0">
              <a:latin typeface="+mn-ea"/>
            </a:endParaRPr>
          </a:p>
        </p:txBody>
      </p:sp>
      <p:sp>
        <p:nvSpPr>
          <p:cNvPr id="32" name="Shape 26"/>
          <p:cNvSpPr/>
          <p:nvPr/>
        </p:nvSpPr>
        <p:spPr>
          <a:xfrm>
            <a:off x="6286500" y="3312144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7"/>
          <p:cNvSpPr/>
          <p:nvPr/>
        </p:nvSpPr>
        <p:spPr>
          <a:xfrm>
            <a:off x="6286500" y="3312144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8"/>
          <p:cNvSpPr/>
          <p:nvPr/>
        </p:nvSpPr>
        <p:spPr>
          <a:xfrm>
            <a:off x="6562649" y="3540744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F5F3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743700" y="3721795"/>
            <a:ext cx="304495" cy="304495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10734142" y="3635842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05</a:t>
            </a:r>
            <a:endParaRPr lang="en-US" sz="4500" dirty="0">
              <a:latin typeface="+mn-ea"/>
            </a:endParaRPr>
          </a:p>
        </p:txBody>
      </p:sp>
      <p:sp>
        <p:nvSpPr>
          <p:cNvPr id="37" name="Shape 30"/>
          <p:cNvSpPr/>
          <p:nvPr/>
        </p:nvSpPr>
        <p:spPr>
          <a:xfrm>
            <a:off x="6286500" y="5054990"/>
            <a:ext cx="5333695" cy="1505102"/>
          </a:xfrm>
          <a:prstGeom prst="roundRect">
            <a:avLst>
              <a:gd name="adj" fmla="val 12304"/>
            </a:avLst>
          </a:prstGeom>
          <a:solidFill>
            <a:srgbClr val="FFFFFF"/>
          </a:solidFill>
          <a:ln>
            <a:solidFill>
              <a:schemeClr val="bg2"/>
            </a:solidFill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1"/>
          <p:cNvSpPr/>
          <p:nvPr/>
        </p:nvSpPr>
        <p:spPr>
          <a:xfrm>
            <a:off x="6286500" y="5054990"/>
            <a:ext cx="47549" cy="1505102"/>
          </a:xfrm>
          <a:prstGeom prst="roundRect">
            <a:avLst>
              <a:gd name="adj" fmla="val 389482"/>
            </a:avLst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Shape 32"/>
          <p:cNvSpPr/>
          <p:nvPr/>
        </p:nvSpPr>
        <p:spPr>
          <a:xfrm>
            <a:off x="6562649" y="5283590"/>
            <a:ext cx="666598" cy="666598"/>
          </a:xfrm>
          <a:prstGeom prst="roundRect">
            <a:avLst>
              <a:gd name="adj" fmla="val 54870"/>
            </a:avLst>
          </a:prstGeom>
          <a:solidFill>
            <a:srgbClr val="F0F9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rcRect l="-50" r="-50"/>
          <a:stretch/>
        </p:blipFill>
        <p:spPr>
          <a:xfrm>
            <a:off x="6724498" y="5464642"/>
            <a:ext cx="342900" cy="304495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10734142" y="5379602"/>
            <a:ext cx="781812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500" b="1" dirty="0">
                <a:solidFill>
                  <a:srgbClr val="F1F5F9">
                    <a:alpha val="50000"/>
                  </a:srgbClr>
                </a:solidFill>
                <a:latin typeface="+mn-ea"/>
                <a:cs typeface="Noto Sans KR" pitchFamily="34" charset="-120"/>
              </a:rPr>
              <a:t>06</a:t>
            </a:r>
            <a:endParaRPr lang="en-US" sz="4500" dirty="0">
              <a:latin typeface="+mn-ea"/>
            </a:endParaRPr>
          </a:p>
        </p:txBody>
      </p:sp>
      <p:sp>
        <p:nvSpPr>
          <p:cNvPr id="42" name="Text 34"/>
          <p:cNvSpPr txBox="1"/>
          <p:nvPr/>
        </p:nvSpPr>
        <p:spPr>
          <a:xfrm>
            <a:off x="1752905" y="1797898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 목록 관리</a:t>
            </a:r>
            <a:endParaRPr lang="en-US" sz="1200" dirty="0">
              <a:latin typeface="+mn-ea"/>
            </a:endParaRPr>
          </a:p>
        </p:txBody>
      </p:sp>
      <p:sp>
        <p:nvSpPr>
          <p:cNvPr id="43" name="Shape 35"/>
          <p:cNvSpPr/>
          <p:nvPr/>
        </p:nvSpPr>
        <p:spPr>
          <a:xfrm>
            <a:off x="4858207" y="1824415"/>
            <a:ext cx="819302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36"/>
          <p:cNvSpPr/>
          <p:nvPr/>
        </p:nvSpPr>
        <p:spPr>
          <a:xfrm>
            <a:off x="4829861" y="1824415"/>
            <a:ext cx="8769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Inventory</a:t>
            </a:r>
            <a:endParaRPr lang="en-US" sz="800" dirty="0">
              <a:latin typeface="+mn-ea"/>
            </a:endParaRPr>
          </a:p>
        </p:txBody>
      </p:sp>
      <p:sp>
        <p:nvSpPr>
          <p:cNvPr id="45" name="Text 37"/>
          <p:cNvSpPr txBox="1"/>
          <p:nvPr/>
        </p:nvSpPr>
        <p:spPr>
          <a:xfrm>
            <a:off x="1752905" y="2160000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타워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층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객실번호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상태를 기준으로 프론트와 하우스키핑이 같은 객실 정보를 사용합니다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sp>
        <p:nvSpPr>
          <p:cNvPr id="46" name="Text 38"/>
          <p:cNvSpPr txBox="1"/>
          <p:nvPr/>
        </p:nvSpPr>
        <p:spPr>
          <a:xfrm>
            <a:off x="1752905" y="3540744"/>
            <a:ext cx="1869948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 유형 관리</a:t>
            </a:r>
            <a:endParaRPr lang="en-US" sz="1200" dirty="0">
              <a:latin typeface="+mn-ea"/>
            </a:endParaRPr>
          </a:p>
        </p:txBody>
      </p:sp>
      <p:sp>
        <p:nvSpPr>
          <p:cNvPr id="47" name="Shape 39"/>
          <p:cNvSpPr/>
          <p:nvPr/>
        </p:nvSpPr>
        <p:spPr>
          <a:xfrm>
            <a:off x="4808830" y="3567262"/>
            <a:ext cx="875995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40"/>
          <p:cNvSpPr/>
          <p:nvPr/>
        </p:nvSpPr>
        <p:spPr>
          <a:xfrm>
            <a:off x="4780483" y="3567262"/>
            <a:ext cx="9336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Room Type</a:t>
            </a:r>
            <a:endParaRPr lang="en-US" sz="800" dirty="0">
              <a:latin typeface="+mn-ea"/>
            </a:endParaRPr>
          </a:p>
        </p:txBody>
      </p:sp>
      <p:sp>
        <p:nvSpPr>
          <p:cNvPr id="49" name="Text 41"/>
          <p:cNvSpPr txBox="1"/>
          <p:nvPr/>
        </p:nvSpPr>
        <p:spPr>
          <a:xfrm>
            <a:off x="1752905" y="3902846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객실명과 구분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(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뷰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특성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)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을 함께 관리해 같은 등급 안에서도 요금 기준을 분리합니다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sp>
        <p:nvSpPr>
          <p:cNvPr id="50" name="Text 42"/>
          <p:cNvSpPr txBox="1"/>
          <p:nvPr/>
        </p:nvSpPr>
        <p:spPr>
          <a:xfrm>
            <a:off x="1752905" y="5283590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요금 캘린더</a:t>
            </a:r>
            <a:endParaRPr lang="en-US" sz="1200" dirty="0">
              <a:latin typeface="+mn-ea"/>
            </a:endParaRPr>
          </a:p>
        </p:txBody>
      </p:sp>
      <p:sp>
        <p:nvSpPr>
          <p:cNvPr id="51" name="Shape 43"/>
          <p:cNvSpPr/>
          <p:nvPr/>
        </p:nvSpPr>
        <p:spPr>
          <a:xfrm>
            <a:off x="4882896" y="5310108"/>
            <a:ext cx="800100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4"/>
          <p:cNvSpPr/>
          <p:nvPr/>
        </p:nvSpPr>
        <p:spPr>
          <a:xfrm>
            <a:off x="4853635" y="5310108"/>
            <a:ext cx="857707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Calendar</a:t>
            </a:r>
            <a:endParaRPr lang="en-US" sz="800" dirty="0">
              <a:latin typeface="+mn-ea"/>
            </a:endParaRPr>
          </a:p>
        </p:txBody>
      </p:sp>
      <p:sp>
        <p:nvSpPr>
          <p:cNvPr id="53" name="Text 45"/>
          <p:cNvSpPr txBox="1"/>
          <p:nvPr/>
        </p:nvSpPr>
        <p:spPr>
          <a:xfrm>
            <a:off x="1752905" y="5645693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미래 예약을 고려해 월 단위 제한 없이 기간별 객실 유형별 요금을 관리합니다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sp>
        <p:nvSpPr>
          <p:cNvPr id="54" name="Text 46"/>
          <p:cNvSpPr txBox="1"/>
          <p:nvPr/>
        </p:nvSpPr>
        <p:spPr>
          <a:xfrm>
            <a:off x="7467905" y="1797898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 상태 연계</a:t>
            </a:r>
            <a:endParaRPr lang="en-US" sz="1200" dirty="0">
              <a:latin typeface="+mn-ea"/>
            </a:endParaRPr>
          </a:p>
        </p:txBody>
      </p:sp>
      <p:sp>
        <p:nvSpPr>
          <p:cNvPr id="55" name="Shape 47"/>
          <p:cNvSpPr/>
          <p:nvPr/>
        </p:nvSpPr>
        <p:spPr>
          <a:xfrm>
            <a:off x="10466222" y="1824415"/>
            <a:ext cx="933602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6" name="Text 48"/>
          <p:cNvSpPr/>
          <p:nvPr/>
        </p:nvSpPr>
        <p:spPr>
          <a:xfrm>
            <a:off x="10437876" y="1824415"/>
            <a:ext cx="9912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Room Status</a:t>
            </a:r>
            <a:endParaRPr lang="en-US" sz="800" dirty="0">
              <a:latin typeface="+mn-ea"/>
            </a:endParaRPr>
          </a:p>
        </p:txBody>
      </p:sp>
      <p:sp>
        <p:nvSpPr>
          <p:cNvPr id="57" name="Text 49"/>
          <p:cNvSpPr txBox="1"/>
          <p:nvPr/>
        </p:nvSpPr>
        <p:spPr>
          <a:xfrm>
            <a:off x="7467905" y="2160000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투숙 중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청소 요망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청소 완료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보수 중 상태를 예약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정산 흐름과 연결합니다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sp>
        <p:nvSpPr>
          <p:cNvPr id="58" name="Text 50"/>
          <p:cNvSpPr txBox="1"/>
          <p:nvPr/>
        </p:nvSpPr>
        <p:spPr>
          <a:xfrm>
            <a:off x="7467905" y="3540744"/>
            <a:ext cx="13405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정렬</a:t>
            </a:r>
            <a:r>
              <a:rPr lang="en-US" altLang="ko-KR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검색 기준</a:t>
            </a:r>
            <a:endParaRPr lang="en-US" sz="1200" dirty="0">
              <a:latin typeface="+mn-ea"/>
            </a:endParaRPr>
          </a:p>
        </p:txBody>
      </p:sp>
      <p:sp>
        <p:nvSpPr>
          <p:cNvPr id="59" name="Shape 51"/>
          <p:cNvSpPr/>
          <p:nvPr/>
        </p:nvSpPr>
        <p:spPr>
          <a:xfrm>
            <a:off x="10667390" y="3567262"/>
            <a:ext cx="733349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0" name="Text 52"/>
          <p:cNvSpPr/>
          <p:nvPr/>
        </p:nvSpPr>
        <p:spPr>
          <a:xfrm>
            <a:off x="10639044" y="3567262"/>
            <a:ext cx="7909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Control</a:t>
            </a:r>
            <a:endParaRPr lang="en-US" sz="800" dirty="0">
              <a:latin typeface="+mn-ea"/>
            </a:endParaRPr>
          </a:p>
        </p:txBody>
      </p:sp>
      <p:sp>
        <p:nvSpPr>
          <p:cNvPr id="61" name="Text 53"/>
          <p:cNvSpPr txBox="1"/>
          <p:nvPr/>
        </p:nvSpPr>
        <p:spPr>
          <a:xfrm>
            <a:off x="7467905" y="3902846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 유형 정렬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타워 필터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객실번호 검색을 일관된 레이아웃으로 제공합니다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sp>
        <p:nvSpPr>
          <p:cNvPr id="62" name="Text 54"/>
          <p:cNvSpPr txBox="1"/>
          <p:nvPr/>
        </p:nvSpPr>
        <p:spPr>
          <a:xfrm>
            <a:off x="7467905" y="5283590"/>
            <a:ext cx="166603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요금 적용 검증</a:t>
            </a:r>
            <a:endParaRPr lang="en-US" sz="1200" dirty="0">
              <a:latin typeface="+mn-ea"/>
            </a:endParaRPr>
          </a:p>
        </p:txBody>
      </p:sp>
      <p:sp>
        <p:nvSpPr>
          <p:cNvPr id="63" name="Shape 55"/>
          <p:cNvSpPr/>
          <p:nvPr/>
        </p:nvSpPr>
        <p:spPr>
          <a:xfrm>
            <a:off x="10642702" y="5310108"/>
            <a:ext cx="752551" cy="237744"/>
          </a:xfrm>
          <a:prstGeom prst="roundRect">
            <a:avLst>
              <a:gd name="adj" fmla="val 3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4" name="Text 56"/>
          <p:cNvSpPr/>
          <p:nvPr/>
        </p:nvSpPr>
        <p:spPr>
          <a:xfrm>
            <a:off x="10613441" y="5310108"/>
            <a:ext cx="8101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Validation</a:t>
            </a:r>
            <a:endParaRPr lang="en-US" sz="800" dirty="0">
              <a:latin typeface="+mn-ea"/>
            </a:endParaRPr>
          </a:p>
        </p:txBody>
      </p:sp>
      <p:sp>
        <p:nvSpPr>
          <p:cNvPr id="65" name="Text 57"/>
          <p:cNvSpPr txBox="1"/>
          <p:nvPr/>
        </p:nvSpPr>
        <p:spPr>
          <a:xfrm>
            <a:off x="7467905" y="5645693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요금 변경 시 예약 가능성과 정산 금액이 같은 기준으로 반영되는지 확인합니다</a:t>
            </a:r>
            <a:r>
              <a:rPr lang="en-US" altLang="ko-KR" sz="11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1100" dirty="0">
              <a:latin typeface="+mn-ea"/>
            </a:endParaRPr>
          </a:p>
        </p:txBody>
      </p:sp>
      <p:pic>
        <p:nvPicPr>
          <p:cNvPr id="66" name="Image 0" descr="preencoded.png">
            <a:extLst>
              <a:ext uri="{FF2B5EF4-FFF2-40B4-BE49-F238E27FC236}">
                <a16:creationId xmlns:a16="http://schemas.microsoft.com/office/drawing/2014/main" id="{E90F71B2-4667-B956-082E-44CC0532586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67" name="Text 8">
            <a:extLst>
              <a:ext uri="{FF2B5EF4-FFF2-40B4-BE49-F238E27FC236}">
                <a16:creationId xmlns:a16="http://schemas.microsoft.com/office/drawing/2014/main" id="{63F0685F-0F62-02C3-A006-865AAC75D706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객실 목록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객실 유형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요금 캘린더를 기준으로 객실 상태와 판매 요금을 표준화</a:t>
            </a:r>
          </a:p>
        </p:txBody>
      </p:sp>
    </p:spTree>
    <p:extLst>
      <p:ext uri="{BB962C8B-B14F-4D97-AF65-F5344CB8AC3E}">
        <p14:creationId xmlns:p14="http://schemas.microsoft.com/office/powerpoint/2010/main" val="2976860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rcRect l="-268" r="-268"/>
          <a:stretch/>
        </p:blipFill>
        <p:spPr>
          <a:xfrm>
            <a:off x="2548159" y="2915132"/>
            <a:ext cx="666598" cy="2670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649762" y="2915132"/>
            <a:ext cx="56499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b="1">
                <a:solidFill>
                  <a:srgbClr val="3B82F6"/>
                </a:solidFill>
                <a:latin typeface="+mn-ea"/>
                <a:cs typeface="Noto Sans KR" pitchFamily="34" charset="-120"/>
              </a:rPr>
              <a:t>청소 요청</a:t>
            </a:r>
            <a:endParaRPr lang="en-US" sz="900" dirty="0">
              <a:latin typeface="+mn-ea"/>
            </a:endParaRPr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rcRect l="-138" r="-138"/>
          <a:stretch/>
        </p:blipFill>
        <p:spPr>
          <a:xfrm>
            <a:off x="2620130" y="5040673"/>
            <a:ext cx="928758" cy="267005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738666" y="5040673"/>
            <a:ext cx="7992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 b="1">
                <a:solidFill>
                  <a:srgbClr val="8B5CF6"/>
                </a:solidFill>
                <a:latin typeface="+mn-ea"/>
                <a:cs typeface="Noto Sans KR" pitchFamily="34" charset="-120"/>
              </a:rPr>
              <a:t>시설보수 요청</a:t>
            </a:r>
            <a:endParaRPr lang="en-US" sz="900" dirty="0">
              <a:latin typeface="+mn-ea"/>
            </a:endParaRPr>
          </a:p>
        </p:txBody>
      </p:sp>
      <p:sp>
        <p:nvSpPr>
          <p:cNvPr id="10" name="Shape 5"/>
          <p:cNvSpPr/>
          <p:nvPr/>
        </p:nvSpPr>
        <p:spPr>
          <a:xfrm>
            <a:off x="476402" y="3581730"/>
            <a:ext cx="952805" cy="857707"/>
          </a:xfrm>
          <a:prstGeom prst="roundRect">
            <a:avLst>
              <a:gd name="adj" fmla="val 28429"/>
            </a:avLst>
          </a:prstGeom>
          <a:solidFill>
            <a:srgbClr val="FFFFFF"/>
          </a:solidFill>
          <a:ln w="254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rcRect l="-57" r="-57"/>
          <a:stretch/>
        </p:blipFill>
        <p:spPr>
          <a:xfrm>
            <a:off x="852221" y="3693287"/>
            <a:ext cx="200254" cy="22860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82726" y="3979494"/>
            <a:ext cx="3429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객실</a:t>
            </a:r>
            <a:endParaRPr lang="en-US" sz="1100" dirty="0">
              <a:latin typeface="+mn-ea"/>
            </a:endParaRPr>
          </a:p>
        </p:txBody>
      </p:sp>
      <p:sp>
        <p:nvSpPr>
          <p:cNvPr id="13" name="Text 7"/>
          <p:cNvSpPr txBox="1"/>
          <p:nvPr/>
        </p:nvSpPr>
        <p:spPr>
          <a:xfrm>
            <a:off x="584302" y="4169689"/>
            <a:ext cx="73700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청소</a:t>
            </a:r>
            <a:r>
              <a:rPr lang="en-US" altLang="ko-KR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보수 대상 선택</a:t>
            </a:r>
            <a:endParaRPr lang="en-US" sz="800" dirty="0">
              <a:latin typeface="+mn-ea"/>
            </a:endParaRPr>
          </a:p>
        </p:txBody>
      </p:sp>
      <p:sp>
        <p:nvSpPr>
          <p:cNvPr id="14" name="Shape 8"/>
          <p:cNvSpPr/>
          <p:nvPr/>
        </p:nvSpPr>
        <p:spPr>
          <a:xfrm rot="5400000">
            <a:off x="1708099" y="3336671"/>
            <a:ext cx="1352398" cy="1352398"/>
          </a:xfrm>
          <a:prstGeom prst="roundRect">
            <a:avLst>
              <a:gd name="adj" fmla="val 11428"/>
            </a:avLst>
          </a:prstGeom>
          <a:solidFill>
            <a:srgbClr val="F8FAFC"/>
          </a:solidFill>
          <a:ln w="25400">
            <a:solidFill>
              <a:srgbClr val="94A3B8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/>
          <a:srcRect l="-1648" r="-1648"/>
          <a:stretch/>
        </p:blipFill>
        <p:spPr>
          <a:xfrm>
            <a:off x="2295144" y="3724376"/>
            <a:ext cx="171907" cy="190195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2155241" y="3952976"/>
            <a:ext cx="4572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상태 확인</a:t>
            </a:r>
            <a:endParaRPr lang="en-US" sz="1100" dirty="0">
              <a:latin typeface="+mn-ea"/>
            </a:endParaRPr>
          </a:p>
        </p:txBody>
      </p:sp>
      <p:sp>
        <p:nvSpPr>
          <p:cNvPr id="17" name="Shape 10"/>
          <p:cNvSpPr/>
          <p:nvPr/>
        </p:nvSpPr>
        <p:spPr>
          <a:xfrm>
            <a:off x="7073901" y="2044421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EFF6FF"/>
          </a:solidFill>
          <a:ln w="25400">
            <a:solidFill>
              <a:srgbClr val="3B82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7596938" y="2184601"/>
            <a:ext cx="286207" cy="22860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7492696" y="2630740"/>
            <a:ext cx="4992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청소 시작</a:t>
            </a:r>
            <a:endParaRPr lang="en-US" sz="800" dirty="0">
              <a:latin typeface="+mn-ea"/>
            </a:endParaRPr>
          </a:p>
        </p:txBody>
      </p:sp>
      <p:sp>
        <p:nvSpPr>
          <p:cNvPr id="21" name="Shape 13"/>
          <p:cNvSpPr/>
          <p:nvPr/>
        </p:nvSpPr>
        <p:spPr>
          <a:xfrm>
            <a:off x="3835096" y="510512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4388308" y="5217591"/>
            <a:ext cx="228600" cy="22860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4132276" y="5502884"/>
            <a:ext cx="7434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보수 티켓</a:t>
            </a:r>
            <a:endParaRPr lang="en-US" sz="1100" dirty="0">
              <a:latin typeface="+mn-ea"/>
            </a:endParaRPr>
          </a:p>
        </p:txBody>
      </p:sp>
      <p:sp>
        <p:nvSpPr>
          <p:cNvPr id="24" name="Text 15"/>
          <p:cNvSpPr txBox="1"/>
          <p:nvPr/>
        </p:nvSpPr>
        <p:spPr>
          <a:xfrm>
            <a:off x="4248405" y="5693994"/>
            <a:ext cx="514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유형</a:t>
            </a:r>
            <a:r>
              <a:rPr lang="en-US" altLang="ko-KR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우선순위</a:t>
            </a:r>
            <a:endParaRPr lang="en-US" sz="800" dirty="0">
              <a:latin typeface="+mn-ea"/>
            </a:endParaRPr>
          </a:p>
        </p:txBody>
      </p:sp>
      <p:sp>
        <p:nvSpPr>
          <p:cNvPr id="25" name="Shape 16"/>
          <p:cNvSpPr/>
          <p:nvPr/>
        </p:nvSpPr>
        <p:spPr>
          <a:xfrm>
            <a:off x="5454499" y="510512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7" descr="preencoded.png"/>
          <p:cNvPicPr>
            <a:picLocks noChangeAspect="1"/>
          </p:cNvPicPr>
          <p:nvPr/>
        </p:nvPicPr>
        <p:blipFill>
          <a:blip r:embed="rId9"/>
          <a:srcRect l="-57" r="-57"/>
          <a:stretch/>
        </p:blipFill>
        <p:spPr>
          <a:xfrm>
            <a:off x="6021427" y="5217591"/>
            <a:ext cx="200254" cy="228600"/>
          </a:xfrm>
          <a:prstGeom prst="rect">
            <a:avLst/>
          </a:prstGeom>
        </p:spPr>
      </p:pic>
      <p:sp>
        <p:nvSpPr>
          <p:cNvPr id="27" name="Text 17"/>
          <p:cNvSpPr txBox="1"/>
          <p:nvPr/>
        </p:nvSpPr>
        <p:spPr>
          <a:xfrm>
            <a:off x="5773624" y="5502884"/>
            <a:ext cx="70134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담당 배정</a:t>
            </a:r>
            <a:endParaRPr lang="en-US" sz="1100" dirty="0">
              <a:latin typeface="+mn-ea"/>
            </a:endParaRPr>
          </a:p>
        </p:txBody>
      </p:sp>
      <p:sp>
        <p:nvSpPr>
          <p:cNvPr id="28" name="Text 18"/>
          <p:cNvSpPr txBox="1"/>
          <p:nvPr/>
        </p:nvSpPr>
        <p:spPr>
          <a:xfrm>
            <a:off x="5874208" y="5693994"/>
            <a:ext cx="4992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작업자</a:t>
            </a:r>
            <a:r>
              <a:rPr lang="en-US" altLang="ko-KR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시각</a:t>
            </a:r>
            <a:endParaRPr lang="en-US" sz="800" dirty="0">
              <a:latin typeface="+mn-ea"/>
            </a:endParaRPr>
          </a:p>
        </p:txBody>
      </p:sp>
      <p:sp>
        <p:nvSpPr>
          <p:cNvPr id="29" name="Shape 19"/>
          <p:cNvSpPr/>
          <p:nvPr/>
        </p:nvSpPr>
        <p:spPr>
          <a:xfrm>
            <a:off x="7073901" y="510512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F5F3FF"/>
          </a:solidFill>
          <a:ln w="25400">
            <a:solidFill>
              <a:srgbClr val="8B5CF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10"/>
          <a:srcRect l="-133" r="-133"/>
          <a:stretch/>
        </p:blipFill>
        <p:spPr>
          <a:xfrm>
            <a:off x="7654545" y="5217591"/>
            <a:ext cx="171907" cy="228600"/>
          </a:xfrm>
          <a:prstGeom prst="rect">
            <a:avLst/>
          </a:prstGeom>
        </p:spPr>
      </p:pic>
      <p:sp>
        <p:nvSpPr>
          <p:cNvPr id="31" name="Text 20"/>
          <p:cNvSpPr txBox="1"/>
          <p:nvPr/>
        </p:nvSpPr>
        <p:spPr>
          <a:xfrm>
            <a:off x="7297015" y="5502884"/>
            <a:ext cx="89062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완료 확인</a:t>
            </a:r>
            <a:endParaRPr lang="en-US" sz="1100" dirty="0">
              <a:latin typeface="+mn-ea"/>
            </a:endParaRPr>
          </a:p>
        </p:txBody>
      </p:sp>
      <p:sp>
        <p:nvSpPr>
          <p:cNvPr id="32" name="Text 21"/>
          <p:cNvSpPr txBox="1"/>
          <p:nvPr/>
        </p:nvSpPr>
        <p:spPr>
          <a:xfrm>
            <a:off x="7493611" y="5693994"/>
            <a:ext cx="4992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상태</a:t>
            </a:r>
            <a:r>
              <a:rPr lang="en-US" altLang="ko-KR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KPI </a:t>
            </a: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반영</a:t>
            </a:r>
            <a:endParaRPr lang="en-US" sz="800" dirty="0">
              <a:latin typeface="+mn-ea"/>
            </a:endParaRPr>
          </a:p>
        </p:txBody>
      </p:sp>
      <p:sp>
        <p:nvSpPr>
          <p:cNvPr id="33" name="Shape 22"/>
          <p:cNvSpPr/>
          <p:nvPr/>
        </p:nvSpPr>
        <p:spPr>
          <a:xfrm>
            <a:off x="7072784" y="358173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EEF2FF"/>
          </a:solidFill>
          <a:ln w="25400">
            <a:solidFill>
              <a:srgbClr val="6366F1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4" name="Image 9" descr="preencoded.png"/>
          <p:cNvPicPr>
            <a:picLocks noChangeAspect="1"/>
          </p:cNvPicPr>
          <p:nvPr/>
        </p:nvPicPr>
        <p:blipFill>
          <a:blip r:embed="rId11"/>
          <a:srcRect l="-57" r="-57"/>
          <a:stretch/>
        </p:blipFill>
        <p:spPr>
          <a:xfrm>
            <a:off x="7639712" y="3781069"/>
            <a:ext cx="200254" cy="228600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7316015" y="4133951"/>
            <a:ext cx="85405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정산</a:t>
            </a:r>
            <a:r>
              <a:rPr lang="en-US" altLang="ko-KR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100" b="1" dirty="0">
                <a:solidFill>
                  <a:srgbClr val="1E293B"/>
                </a:solidFill>
                <a:latin typeface="+mn-ea"/>
                <a:cs typeface="Noto Sans KR" pitchFamily="34" charset="-120"/>
              </a:rPr>
              <a:t>프론트 연계</a:t>
            </a:r>
            <a:endParaRPr lang="en-US" sz="1100" dirty="0">
              <a:latin typeface="+mn-ea"/>
            </a:endParaRPr>
          </a:p>
        </p:txBody>
      </p:sp>
      <p:sp>
        <p:nvSpPr>
          <p:cNvPr id="36" name="Shape 24"/>
          <p:cNvSpPr/>
          <p:nvPr/>
        </p:nvSpPr>
        <p:spPr>
          <a:xfrm>
            <a:off x="8952892" y="358173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37" name="Image 10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505189" y="3693287"/>
            <a:ext cx="228600" cy="228600"/>
          </a:xfrm>
          <a:prstGeom prst="rect">
            <a:avLst/>
          </a:prstGeom>
        </p:spPr>
      </p:pic>
      <p:sp>
        <p:nvSpPr>
          <p:cNvPr id="38" name="Text 25"/>
          <p:cNvSpPr txBox="1"/>
          <p:nvPr/>
        </p:nvSpPr>
        <p:spPr>
          <a:xfrm>
            <a:off x="9121141" y="3979494"/>
            <a:ext cx="1006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가동 가능</a:t>
            </a:r>
            <a:endParaRPr lang="en-US" sz="1100" dirty="0">
              <a:latin typeface="+mn-ea"/>
            </a:endParaRPr>
          </a:p>
        </p:txBody>
      </p:sp>
      <p:sp>
        <p:nvSpPr>
          <p:cNvPr id="39" name="Text 26"/>
          <p:cNvSpPr txBox="1"/>
          <p:nvPr/>
        </p:nvSpPr>
        <p:spPr>
          <a:xfrm>
            <a:off x="9398359" y="4169689"/>
            <a:ext cx="45049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프론트</a:t>
            </a:r>
            <a:endParaRPr lang="en-US" sz="800" dirty="0">
              <a:latin typeface="+mn-ea"/>
            </a:endParaRPr>
          </a:p>
        </p:txBody>
      </p:sp>
      <p:sp>
        <p:nvSpPr>
          <p:cNvPr id="40" name="Shape 27"/>
          <p:cNvSpPr/>
          <p:nvPr/>
        </p:nvSpPr>
        <p:spPr>
          <a:xfrm>
            <a:off x="10476282" y="3581730"/>
            <a:ext cx="761695" cy="857707"/>
          </a:xfrm>
          <a:prstGeom prst="roundRect">
            <a:avLst>
              <a:gd name="adj" fmla="val 36014"/>
            </a:avLst>
          </a:prstGeom>
          <a:solidFill>
            <a:srgbClr val="F0FDFA"/>
          </a:solidFill>
          <a:ln w="25400">
            <a:solidFill>
              <a:srgbClr val="0D9488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11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10743287" y="3696030"/>
            <a:ext cx="228600" cy="228600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10697567" y="3981323"/>
            <a:ext cx="3246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운영 완료</a:t>
            </a:r>
            <a:endParaRPr lang="en-US" sz="1100" dirty="0">
              <a:latin typeface="+mn-ea"/>
            </a:endParaRPr>
          </a:p>
        </p:txBody>
      </p:sp>
      <p:sp>
        <p:nvSpPr>
          <p:cNvPr id="43" name="Shape 29"/>
          <p:cNvSpPr/>
          <p:nvPr/>
        </p:nvSpPr>
        <p:spPr>
          <a:xfrm>
            <a:off x="8952892" y="5105120"/>
            <a:ext cx="1333195" cy="857707"/>
          </a:xfrm>
          <a:prstGeom prst="roundRect">
            <a:avLst>
              <a:gd name="adj" fmla="val 28429"/>
            </a:avLst>
          </a:prstGeom>
          <a:solidFill>
            <a:srgbClr val="FFF7ED"/>
          </a:solidFill>
          <a:ln w="25400">
            <a:solidFill>
              <a:srgbClr val="F97316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12" descr="preencoded.png"/>
          <p:cNvPicPr>
            <a:picLocks noChangeAspect="1"/>
          </p:cNvPicPr>
          <p:nvPr/>
        </p:nvPicPr>
        <p:blipFill>
          <a:blip r:embed="rId14"/>
          <a:srcRect l="-57" r="-57"/>
          <a:stretch/>
        </p:blipFill>
        <p:spPr>
          <a:xfrm>
            <a:off x="9518905" y="5217591"/>
            <a:ext cx="200254" cy="228600"/>
          </a:xfrm>
          <a:prstGeom prst="rect">
            <a:avLst/>
          </a:prstGeom>
        </p:spPr>
      </p:pic>
      <p:sp>
        <p:nvSpPr>
          <p:cNvPr id="45" name="Text 30"/>
          <p:cNvSpPr txBox="1"/>
          <p:nvPr/>
        </p:nvSpPr>
        <p:spPr>
          <a:xfrm>
            <a:off x="9196122" y="5502884"/>
            <a:ext cx="85405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로그 기록</a:t>
            </a:r>
            <a:endParaRPr lang="en-US" sz="1100" dirty="0">
              <a:latin typeface="+mn-ea"/>
            </a:endParaRPr>
          </a:p>
        </p:txBody>
      </p:sp>
      <p:sp>
        <p:nvSpPr>
          <p:cNvPr id="46" name="Text 31"/>
          <p:cNvSpPr txBox="1"/>
          <p:nvPr/>
        </p:nvSpPr>
        <p:spPr>
          <a:xfrm>
            <a:off x="9283905" y="5693994"/>
            <a:ext cx="67208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시작</a:t>
            </a:r>
            <a:r>
              <a:rPr lang="en-US" altLang="ko-KR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800">
                <a:solidFill>
                  <a:srgbClr val="64748B"/>
                </a:solidFill>
                <a:latin typeface="+mn-ea"/>
                <a:cs typeface="Noto Sans KR" pitchFamily="34" charset="-120"/>
              </a:rPr>
              <a:t>완료 시각</a:t>
            </a:r>
            <a:endParaRPr lang="en-US" sz="800" dirty="0">
              <a:latin typeface="+mn-ea"/>
            </a:endParaRPr>
          </a:p>
        </p:txBody>
      </p:sp>
      <p:sp>
        <p:nvSpPr>
          <p:cNvPr id="51" name="Text 36"/>
          <p:cNvSpPr txBox="1"/>
          <p:nvPr/>
        </p:nvSpPr>
        <p:spPr>
          <a:xfrm>
            <a:off x="381305" y="293522"/>
            <a:ext cx="389443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하우스키핑</a:t>
            </a:r>
            <a:r>
              <a:rPr lang="en-US" altLang="ko-KR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시설보수</a:t>
            </a:r>
            <a:endParaRPr lang="en-US" sz="2400" dirty="0">
              <a:latin typeface="+mn-ea"/>
            </a:endParaRPr>
          </a:p>
        </p:txBody>
      </p:sp>
      <p:sp>
        <p:nvSpPr>
          <p:cNvPr id="52" name="Text 37"/>
          <p:cNvSpPr txBox="1"/>
          <p:nvPr/>
        </p:nvSpPr>
        <p:spPr>
          <a:xfrm>
            <a:off x="10683850" y="247802"/>
            <a:ext cx="11338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HOUSEKEEPING &amp; MAINTENANCE</a:t>
            </a:r>
            <a:endParaRPr lang="en-US" sz="900" dirty="0">
              <a:latin typeface="+mn-ea"/>
            </a:endParaRPr>
          </a:p>
        </p:txBody>
      </p:sp>
      <p:sp>
        <p:nvSpPr>
          <p:cNvPr id="53" name="Text 38"/>
          <p:cNvSpPr txBox="1"/>
          <p:nvPr/>
        </p:nvSpPr>
        <p:spPr>
          <a:xfrm>
            <a:off x="10683850" y="400507"/>
            <a:ext cx="11338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07</a:t>
            </a:r>
            <a:endParaRPr lang="en-US" sz="1800" dirty="0">
              <a:latin typeface="+mn-ea"/>
            </a:endParaRPr>
          </a:p>
        </p:txBody>
      </p:sp>
      <p:cxnSp>
        <p:nvCxnSpPr>
          <p:cNvPr id="54" name="연결선: 꺾임 53">
            <a:extLst>
              <a:ext uri="{FF2B5EF4-FFF2-40B4-BE49-F238E27FC236}">
                <a16:creationId xmlns:a16="http://schemas.microsoft.com/office/drawing/2014/main" id="{5EB8AF3C-15D9-CF9C-11CF-14EE3DC2D8BD}"/>
              </a:ext>
            </a:extLst>
          </p:cNvPr>
          <p:cNvCxnSpPr>
            <a:cxnSpLocks/>
            <a:stCxn id="14" idx="1"/>
            <a:endCxn id="17" idx="1"/>
          </p:cNvCxnSpPr>
          <p:nvPr/>
        </p:nvCxnSpPr>
        <p:spPr>
          <a:xfrm rot="5400000" flipH="1" flipV="1">
            <a:off x="4297401" y="560172"/>
            <a:ext cx="863396" cy="4689603"/>
          </a:xfrm>
          <a:prstGeom prst="bentConnector2">
            <a:avLst/>
          </a:prstGeom>
          <a:ln w="28575">
            <a:solidFill>
              <a:srgbClr val="3B82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연결선: 꺾임 56">
            <a:extLst>
              <a:ext uri="{FF2B5EF4-FFF2-40B4-BE49-F238E27FC236}">
                <a16:creationId xmlns:a16="http://schemas.microsoft.com/office/drawing/2014/main" id="{B4779B55-BD60-C314-D6E1-6BBC8F45D8F6}"/>
              </a:ext>
            </a:extLst>
          </p:cNvPr>
          <p:cNvCxnSpPr>
            <a:cxnSpLocks/>
            <a:stCxn id="14" idx="3"/>
            <a:endCxn id="21" idx="1"/>
          </p:cNvCxnSpPr>
          <p:nvPr/>
        </p:nvCxnSpPr>
        <p:spPr>
          <a:xfrm rot="16200000" flipH="1">
            <a:off x="2687245" y="4386122"/>
            <a:ext cx="844905" cy="1450798"/>
          </a:xfrm>
          <a:prstGeom prst="bentConnector2">
            <a:avLst/>
          </a:prstGeom>
          <a:ln w="28575">
            <a:solidFill>
              <a:srgbClr val="8B5C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5594DE75-97AB-6446-1C7A-E3AB1EACDBAB}"/>
              </a:ext>
            </a:extLst>
          </p:cNvPr>
          <p:cNvCxnSpPr>
            <a:stCxn id="21" idx="3"/>
            <a:endCxn id="25" idx="1"/>
          </p:cNvCxnSpPr>
          <p:nvPr/>
        </p:nvCxnSpPr>
        <p:spPr>
          <a:xfrm>
            <a:off x="5168291" y="5533974"/>
            <a:ext cx="286208" cy="0"/>
          </a:xfrm>
          <a:prstGeom prst="straightConnector1">
            <a:avLst/>
          </a:prstGeom>
          <a:ln w="28575">
            <a:solidFill>
              <a:srgbClr val="8B5C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F0595042-B689-1158-142A-0D8294CEDD53}"/>
              </a:ext>
            </a:extLst>
          </p:cNvPr>
          <p:cNvCxnSpPr>
            <a:cxnSpLocks/>
            <a:stCxn id="25" idx="3"/>
            <a:endCxn id="29" idx="1"/>
          </p:cNvCxnSpPr>
          <p:nvPr/>
        </p:nvCxnSpPr>
        <p:spPr>
          <a:xfrm>
            <a:off x="6787694" y="5533974"/>
            <a:ext cx="286207" cy="0"/>
          </a:xfrm>
          <a:prstGeom prst="straightConnector1">
            <a:avLst/>
          </a:prstGeom>
          <a:ln w="28575">
            <a:solidFill>
              <a:srgbClr val="8B5C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화살표 연결선 65">
            <a:extLst>
              <a:ext uri="{FF2B5EF4-FFF2-40B4-BE49-F238E27FC236}">
                <a16:creationId xmlns:a16="http://schemas.microsoft.com/office/drawing/2014/main" id="{B287BF78-CF6A-81C0-F3DC-AC012A7748F6}"/>
              </a:ext>
            </a:extLst>
          </p:cNvPr>
          <p:cNvCxnSpPr>
            <a:cxnSpLocks/>
          </p:cNvCxnSpPr>
          <p:nvPr/>
        </p:nvCxnSpPr>
        <p:spPr>
          <a:xfrm flipV="1">
            <a:off x="7676357" y="4478483"/>
            <a:ext cx="0" cy="601236"/>
          </a:xfrm>
          <a:prstGeom prst="straightConnector1">
            <a:avLst/>
          </a:prstGeom>
          <a:ln w="28575">
            <a:solidFill>
              <a:srgbClr val="8B5C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>
            <a:extLst>
              <a:ext uri="{FF2B5EF4-FFF2-40B4-BE49-F238E27FC236}">
                <a16:creationId xmlns:a16="http://schemas.microsoft.com/office/drawing/2014/main" id="{63C50F40-17F2-1A5E-2408-698FD95C6448}"/>
              </a:ext>
            </a:extLst>
          </p:cNvPr>
          <p:cNvCxnSpPr>
            <a:cxnSpLocks/>
          </p:cNvCxnSpPr>
          <p:nvPr/>
        </p:nvCxnSpPr>
        <p:spPr>
          <a:xfrm flipV="1">
            <a:off x="7826452" y="4478483"/>
            <a:ext cx="0" cy="601236"/>
          </a:xfrm>
          <a:prstGeom prst="straightConnector1">
            <a:avLst/>
          </a:prstGeom>
          <a:ln w="28575">
            <a:solidFill>
              <a:srgbClr val="8B5CF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화살표 연결선 69">
            <a:extLst>
              <a:ext uri="{FF2B5EF4-FFF2-40B4-BE49-F238E27FC236}">
                <a16:creationId xmlns:a16="http://schemas.microsoft.com/office/drawing/2014/main" id="{C4C819D3-8466-BF4D-421A-13FA51E976E7}"/>
              </a:ext>
            </a:extLst>
          </p:cNvPr>
          <p:cNvCxnSpPr>
            <a:cxnSpLocks/>
          </p:cNvCxnSpPr>
          <p:nvPr/>
        </p:nvCxnSpPr>
        <p:spPr>
          <a:xfrm flipV="1">
            <a:off x="7676357" y="2943694"/>
            <a:ext cx="0" cy="601236"/>
          </a:xfrm>
          <a:prstGeom prst="straightConnector1">
            <a:avLst/>
          </a:prstGeom>
          <a:ln w="28575">
            <a:solidFill>
              <a:srgbClr val="8B5CF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직선 화살표 연결선 70">
            <a:extLst>
              <a:ext uri="{FF2B5EF4-FFF2-40B4-BE49-F238E27FC236}">
                <a16:creationId xmlns:a16="http://schemas.microsoft.com/office/drawing/2014/main" id="{D686F6AE-2DF8-E1DB-70FB-451A44EFB21F}"/>
              </a:ext>
            </a:extLst>
          </p:cNvPr>
          <p:cNvCxnSpPr>
            <a:cxnSpLocks/>
          </p:cNvCxnSpPr>
          <p:nvPr/>
        </p:nvCxnSpPr>
        <p:spPr>
          <a:xfrm flipV="1">
            <a:off x="7826452" y="2943694"/>
            <a:ext cx="0" cy="601236"/>
          </a:xfrm>
          <a:prstGeom prst="straightConnector1">
            <a:avLst/>
          </a:prstGeom>
          <a:ln w="28575">
            <a:solidFill>
              <a:srgbClr val="8B5CF6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 11"/>
          <p:cNvSpPr txBox="1"/>
          <p:nvPr/>
        </p:nvSpPr>
        <p:spPr>
          <a:xfrm>
            <a:off x="7468008" y="2470720"/>
            <a:ext cx="54406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청소팀</a:t>
            </a:r>
            <a:endParaRPr lang="en-US" sz="1100" dirty="0">
              <a:latin typeface="+mn-ea"/>
            </a:endParaRPr>
          </a:p>
        </p:txBody>
      </p: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23A0FF42-8984-9DCC-7C13-5F99C0BE5EC2}"/>
              </a:ext>
            </a:extLst>
          </p:cNvPr>
          <p:cNvCxnSpPr>
            <a:cxnSpLocks/>
            <a:stCxn id="33" idx="3"/>
            <a:endCxn id="36" idx="1"/>
          </p:cNvCxnSpPr>
          <p:nvPr/>
        </p:nvCxnSpPr>
        <p:spPr>
          <a:xfrm>
            <a:off x="8405979" y="4010584"/>
            <a:ext cx="546913" cy="0"/>
          </a:xfrm>
          <a:prstGeom prst="straightConnector1">
            <a:avLst/>
          </a:prstGeom>
          <a:ln w="28575">
            <a:solidFill>
              <a:srgbClr val="10B9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화살표 연결선 77">
            <a:extLst>
              <a:ext uri="{FF2B5EF4-FFF2-40B4-BE49-F238E27FC236}">
                <a16:creationId xmlns:a16="http://schemas.microsoft.com/office/drawing/2014/main" id="{AF8C4E3F-CA9F-F3FB-1893-59910C7F25F9}"/>
              </a:ext>
            </a:extLst>
          </p:cNvPr>
          <p:cNvCxnSpPr>
            <a:cxnSpLocks/>
            <a:stCxn id="36" idx="3"/>
            <a:endCxn id="40" idx="1"/>
          </p:cNvCxnSpPr>
          <p:nvPr/>
        </p:nvCxnSpPr>
        <p:spPr>
          <a:xfrm>
            <a:off x="10286087" y="4010584"/>
            <a:ext cx="190195" cy="0"/>
          </a:xfrm>
          <a:prstGeom prst="straightConnector1">
            <a:avLst/>
          </a:prstGeom>
          <a:ln w="28575">
            <a:solidFill>
              <a:srgbClr val="10B98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>
            <a:extLst>
              <a:ext uri="{FF2B5EF4-FFF2-40B4-BE49-F238E27FC236}">
                <a16:creationId xmlns:a16="http://schemas.microsoft.com/office/drawing/2014/main" id="{D771076B-76BA-E0E9-3C4C-16B4CB4A59AD}"/>
              </a:ext>
            </a:extLst>
          </p:cNvPr>
          <p:cNvCxnSpPr>
            <a:cxnSpLocks/>
            <a:stCxn id="36" idx="2"/>
            <a:endCxn id="43" idx="0"/>
          </p:cNvCxnSpPr>
          <p:nvPr/>
        </p:nvCxnSpPr>
        <p:spPr>
          <a:xfrm>
            <a:off x="9619490" y="4439437"/>
            <a:ext cx="0" cy="665683"/>
          </a:xfrm>
          <a:prstGeom prst="straightConnector1">
            <a:avLst/>
          </a:prstGeom>
          <a:ln w="28575">
            <a:solidFill>
              <a:srgbClr val="F9731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4" name="Image 0" descr="preencoded.png">
            <a:extLst>
              <a:ext uri="{FF2B5EF4-FFF2-40B4-BE49-F238E27FC236}">
                <a16:creationId xmlns:a16="http://schemas.microsoft.com/office/drawing/2014/main" id="{2B0007EA-6672-CEB2-BE36-AA86AE430822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85" name="Text 8">
            <a:extLst>
              <a:ext uri="{FF2B5EF4-FFF2-40B4-BE49-F238E27FC236}">
                <a16:creationId xmlns:a16="http://schemas.microsoft.com/office/drawing/2014/main" id="{BC9F5EDF-88C9-47D6-128D-1C7838DD862B}"/>
              </a:ext>
            </a:extLst>
          </p:cNvPr>
          <p:cNvSpPr txBox="1"/>
          <p:nvPr/>
        </p:nvSpPr>
        <p:spPr>
          <a:xfrm>
            <a:off x="562355" y="1095451"/>
            <a:ext cx="784362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청소 상태와 보수 티켓을 객실 운영 상태와 연결해 작업 시작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완료 확인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담당자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/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처리일시를 관리</a:t>
            </a:r>
          </a:p>
        </p:txBody>
      </p:sp>
    </p:spTree>
    <p:extLst>
      <p:ext uri="{BB962C8B-B14F-4D97-AF65-F5344CB8AC3E}">
        <p14:creationId xmlns:p14="http://schemas.microsoft.com/office/powerpoint/2010/main" val="3917453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 txBox="1"/>
          <p:nvPr/>
        </p:nvSpPr>
        <p:spPr>
          <a:xfrm>
            <a:off x="533095" y="6611755"/>
            <a:ext cx="65279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>
              <a:latin typeface="+mn-ea"/>
            </a:endParaRPr>
          </a:p>
        </p:txBody>
      </p:sp>
      <p:sp>
        <p:nvSpPr>
          <p:cNvPr id="8" name="Text 5"/>
          <p:cNvSpPr txBox="1"/>
          <p:nvPr/>
        </p:nvSpPr>
        <p:spPr>
          <a:xfrm>
            <a:off x="570586" y="1573682"/>
            <a:ext cx="24377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매출 분석</a:t>
            </a:r>
            <a:r>
              <a:rPr lang="en-US" altLang="ko-KR" sz="1000" b="1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(Revenue)</a:t>
            </a:r>
            <a:endParaRPr lang="en-US" sz="1000" dirty="0">
              <a:latin typeface="+mn-ea"/>
            </a:endParaRPr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rcRect l="-837" r="-837"/>
          <a:stretch/>
        </p:blipFill>
        <p:spPr>
          <a:xfrm>
            <a:off x="381305" y="1609344"/>
            <a:ext cx="152705" cy="133502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6483926" y="1621231"/>
            <a:ext cx="623026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dirty="0">
                <a:solidFill>
                  <a:srgbClr val="1E3A8A"/>
                </a:solidFill>
                <a:latin typeface="+mn-ea"/>
                <a:cs typeface="Noto Sans KR" pitchFamily="34" charset="-120"/>
              </a:rPr>
              <a:t>정산 신뢰성을 위한 금액 기준 통일</a:t>
            </a:r>
            <a:endParaRPr lang="en-US" sz="1200" dirty="0">
              <a:latin typeface="+mn-ea"/>
            </a:endParaRPr>
          </a:p>
        </p:txBody>
      </p:sp>
      <p:sp>
        <p:nvSpPr>
          <p:cNvPr id="40" name="Shape 31"/>
          <p:cNvSpPr/>
          <p:nvPr/>
        </p:nvSpPr>
        <p:spPr>
          <a:xfrm>
            <a:off x="6474687" y="2014423"/>
            <a:ext cx="38405" cy="457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2"/>
          <p:cNvSpPr txBox="1"/>
          <p:nvPr/>
        </p:nvSpPr>
        <p:spPr>
          <a:xfrm>
            <a:off x="6627392" y="2014423"/>
            <a:ext cx="53507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서비스별 매출 흐름을 통합 분석해 객실 매출과 부가서비스 매출의 기여도를 확인합니다</a:t>
            </a:r>
            <a:r>
              <a:rPr lang="en-US" altLang="ko-KR" sz="1200" dirty="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200" dirty="0">
              <a:latin typeface="+mn-ea"/>
            </a:endParaRPr>
          </a:p>
        </p:txBody>
      </p:sp>
      <p:sp>
        <p:nvSpPr>
          <p:cNvPr id="42" name="Shape 33"/>
          <p:cNvSpPr/>
          <p:nvPr/>
        </p:nvSpPr>
        <p:spPr>
          <a:xfrm>
            <a:off x="6456218" y="2709367"/>
            <a:ext cx="5521886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Shape 34"/>
          <p:cNvSpPr/>
          <p:nvPr/>
        </p:nvSpPr>
        <p:spPr>
          <a:xfrm>
            <a:off x="6618066" y="2871216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1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723222" y="2976372"/>
            <a:ext cx="171907" cy="171907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7142017" y="2871216"/>
            <a:ext cx="47025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항목별 매출</a:t>
            </a:r>
            <a:endParaRPr lang="en-US" sz="1100" dirty="0">
              <a:latin typeface="+mn-ea"/>
            </a:endParaRPr>
          </a:p>
        </p:txBody>
      </p:sp>
      <p:sp>
        <p:nvSpPr>
          <p:cNvPr id="46" name="Text 36"/>
          <p:cNvSpPr txBox="1"/>
          <p:nvPr/>
        </p:nvSpPr>
        <p:spPr>
          <a:xfrm>
            <a:off x="7142017" y="3123590"/>
            <a:ext cx="467111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통합 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POS,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골프장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렌터카 매출을 같은 날짜 기준으로 합산합니다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47" name="Shape 37"/>
          <p:cNvSpPr/>
          <p:nvPr/>
        </p:nvSpPr>
        <p:spPr>
          <a:xfrm>
            <a:off x="7142017" y="3543300"/>
            <a:ext cx="8951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8"/>
          <p:cNvSpPr txBox="1"/>
          <p:nvPr/>
        </p:nvSpPr>
        <p:spPr>
          <a:xfrm>
            <a:off x="7142017" y="3543300"/>
            <a:ext cx="1004926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객실</a:t>
            </a:r>
            <a:endParaRPr lang="en-US" sz="800" dirty="0">
              <a:latin typeface="+mn-ea"/>
            </a:endParaRPr>
          </a:p>
        </p:txBody>
      </p:sp>
      <p:sp>
        <p:nvSpPr>
          <p:cNvPr id="49" name="Shape 39"/>
          <p:cNvSpPr/>
          <p:nvPr/>
        </p:nvSpPr>
        <p:spPr>
          <a:xfrm>
            <a:off x="8085678" y="3543300"/>
            <a:ext cx="7808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40"/>
          <p:cNvSpPr txBox="1"/>
          <p:nvPr/>
        </p:nvSpPr>
        <p:spPr>
          <a:xfrm>
            <a:off x="8085678" y="3543300"/>
            <a:ext cx="8577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POS</a:t>
            </a:r>
            <a:endParaRPr lang="en-US" sz="800" dirty="0">
              <a:latin typeface="+mn-ea"/>
            </a:endParaRPr>
          </a:p>
        </p:txBody>
      </p:sp>
      <p:sp>
        <p:nvSpPr>
          <p:cNvPr id="51" name="Shape 41"/>
          <p:cNvSpPr/>
          <p:nvPr/>
        </p:nvSpPr>
        <p:spPr>
          <a:xfrm>
            <a:off x="8914124" y="3543300"/>
            <a:ext cx="6665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42"/>
          <p:cNvSpPr txBox="1"/>
          <p:nvPr/>
        </p:nvSpPr>
        <p:spPr>
          <a:xfrm>
            <a:off x="8914124" y="3543300"/>
            <a:ext cx="7434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렌터카</a:t>
            </a:r>
            <a:endParaRPr lang="en-US" sz="800" dirty="0">
              <a:latin typeface="+mn-ea"/>
            </a:endParaRPr>
          </a:p>
        </p:txBody>
      </p:sp>
      <p:sp>
        <p:nvSpPr>
          <p:cNvPr id="53" name="Shape 43"/>
          <p:cNvSpPr/>
          <p:nvPr/>
        </p:nvSpPr>
        <p:spPr>
          <a:xfrm>
            <a:off x="6456218" y="4028846"/>
            <a:ext cx="5521886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4"/>
          <p:cNvSpPr/>
          <p:nvPr/>
        </p:nvSpPr>
        <p:spPr>
          <a:xfrm>
            <a:off x="6618066" y="4190695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FF7E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5"/>
          <a:srcRect l="-1064" r="-1064"/>
          <a:stretch/>
        </p:blipFill>
        <p:spPr>
          <a:xfrm>
            <a:off x="6699448" y="4294937"/>
            <a:ext cx="219456" cy="171907"/>
          </a:xfrm>
          <a:prstGeom prst="rect">
            <a:avLst/>
          </a:prstGeom>
        </p:spPr>
      </p:pic>
      <p:sp>
        <p:nvSpPr>
          <p:cNvPr id="56" name="Text 45"/>
          <p:cNvSpPr txBox="1"/>
          <p:nvPr/>
        </p:nvSpPr>
        <p:spPr>
          <a:xfrm>
            <a:off x="7142017" y="4190695"/>
            <a:ext cx="470255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정산 목록</a:t>
            </a:r>
            <a:r>
              <a:rPr lang="en-US" altLang="ko-KR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명세서</a:t>
            </a:r>
            <a:endParaRPr lang="en-US" sz="1100" dirty="0">
              <a:latin typeface="+mn-ea"/>
            </a:endParaRPr>
          </a:p>
        </p:txBody>
      </p:sp>
      <p:sp>
        <p:nvSpPr>
          <p:cNvPr id="57" name="Text 46"/>
          <p:cNvSpPr txBox="1"/>
          <p:nvPr/>
        </p:nvSpPr>
        <p:spPr>
          <a:xfrm>
            <a:off x="7142017" y="4443070"/>
            <a:ext cx="467111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POS,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골프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렌터카별 항목이 다른 명세서 구조로 발행됩니다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58" name="Shape 47"/>
          <p:cNvSpPr/>
          <p:nvPr/>
        </p:nvSpPr>
        <p:spPr>
          <a:xfrm>
            <a:off x="7142017" y="4861865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8"/>
          <p:cNvSpPr txBox="1"/>
          <p:nvPr/>
        </p:nvSpPr>
        <p:spPr>
          <a:xfrm>
            <a:off x="7142017" y="4861865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명세서</a:t>
            </a:r>
            <a:endParaRPr lang="en-US" sz="800" dirty="0">
              <a:latin typeface="+mn-ea"/>
            </a:endParaRPr>
          </a:p>
        </p:txBody>
      </p:sp>
      <p:sp>
        <p:nvSpPr>
          <p:cNvPr id="60" name="Shape 49"/>
          <p:cNvSpPr/>
          <p:nvPr/>
        </p:nvSpPr>
        <p:spPr>
          <a:xfrm>
            <a:off x="7883596" y="4861865"/>
            <a:ext cx="780898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Text 50"/>
          <p:cNvSpPr txBox="1"/>
          <p:nvPr/>
        </p:nvSpPr>
        <p:spPr>
          <a:xfrm>
            <a:off x="7883596" y="4861865"/>
            <a:ext cx="857707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미수금</a:t>
            </a:r>
            <a:endParaRPr lang="en-US" sz="800" dirty="0">
              <a:latin typeface="+mn-ea"/>
            </a:endParaRPr>
          </a:p>
        </p:txBody>
      </p:sp>
      <p:sp>
        <p:nvSpPr>
          <p:cNvPr id="62" name="Shape 51"/>
          <p:cNvSpPr/>
          <p:nvPr/>
        </p:nvSpPr>
        <p:spPr>
          <a:xfrm>
            <a:off x="8712042" y="4861865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3" name="Text 52"/>
          <p:cNvSpPr txBox="1"/>
          <p:nvPr/>
        </p:nvSpPr>
        <p:spPr>
          <a:xfrm>
            <a:off x="8712042" y="4861865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발행시간</a:t>
            </a:r>
            <a:endParaRPr lang="en-US" sz="800" dirty="0">
              <a:latin typeface="+mn-ea"/>
            </a:endParaRPr>
          </a:p>
        </p:txBody>
      </p:sp>
      <p:sp>
        <p:nvSpPr>
          <p:cNvPr id="64" name="Shape 53"/>
          <p:cNvSpPr/>
          <p:nvPr/>
        </p:nvSpPr>
        <p:spPr>
          <a:xfrm>
            <a:off x="6456218" y="5347411"/>
            <a:ext cx="5521886" cy="1181405"/>
          </a:xfrm>
          <a:prstGeom prst="roundRect">
            <a:avLst>
              <a:gd name="adj" fmla="val 149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Shape 54"/>
          <p:cNvSpPr/>
          <p:nvPr/>
        </p:nvSpPr>
        <p:spPr>
          <a:xfrm>
            <a:off x="6618066" y="5510174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6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23222" y="5614416"/>
            <a:ext cx="171907" cy="171907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7142017" y="5510174"/>
            <a:ext cx="476468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일일 마감</a:t>
            </a:r>
            <a:endParaRPr lang="en-US" sz="1100" dirty="0">
              <a:latin typeface="+mn-ea"/>
            </a:endParaRPr>
          </a:p>
        </p:txBody>
      </p:sp>
      <p:sp>
        <p:nvSpPr>
          <p:cNvPr id="68" name="Text 56"/>
          <p:cNvSpPr txBox="1"/>
          <p:nvPr/>
        </p:nvSpPr>
        <p:spPr>
          <a:xfrm>
            <a:off x="7142017" y="5762549"/>
            <a:ext cx="467111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금일 정산액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미수금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항목별 합계가 일치하는지 마감 전 검증합니다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69" name="Shape 57"/>
          <p:cNvSpPr/>
          <p:nvPr/>
        </p:nvSpPr>
        <p:spPr>
          <a:xfrm>
            <a:off x="7142017" y="6181344"/>
            <a:ext cx="5806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58"/>
          <p:cNvSpPr txBox="1"/>
          <p:nvPr/>
        </p:nvSpPr>
        <p:spPr>
          <a:xfrm>
            <a:off x="7142017" y="6181344"/>
            <a:ext cx="6574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마감</a:t>
            </a:r>
            <a:endParaRPr lang="en-US" sz="800" dirty="0">
              <a:latin typeface="+mn-ea"/>
            </a:endParaRPr>
          </a:p>
        </p:txBody>
      </p:sp>
      <p:sp>
        <p:nvSpPr>
          <p:cNvPr id="71" name="Shape 59"/>
          <p:cNvSpPr/>
          <p:nvPr/>
        </p:nvSpPr>
        <p:spPr>
          <a:xfrm>
            <a:off x="7769296" y="6181344"/>
            <a:ext cx="990295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60"/>
          <p:cNvSpPr txBox="1"/>
          <p:nvPr/>
        </p:nvSpPr>
        <p:spPr>
          <a:xfrm>
            <a:off x="7769296" y="6181344"/>
            <a:ext cx="1107338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ko-KR" alt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검증</a:t>
            </a:r>
            <a:endParaRPr lang="en-US" sz="800" dirty="0">
              <a:latin typeface="+mn-ea"/>
            </a:endParaRPr>
          </a:p>
        </p:txBody>
      </p:sp>
      <p:sp>
        <p:nvSpPr>
          <p:cNvPr id="73" name="Shape 61"/>
          <p:cNvSpPr/>
          <p:nvPr/>
        </p:nvSpPr>
        <p:spPr>
          <a:xfrm>
            <a:off x="8799824" y="6181344"/>
            <a:ext cx="694944" cy="181051"/>
          </a:xfrm>
          <a:prstGeom prst="roundRect">
            <a:avLst>
              <a:gd name="adj" fmla="val 21265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Text 62"/>
          <p:cNvSpPr txBox="1"/>
          <p:nvPr/>
        </p:nvSpPr>
        <p:spPr>
          <a:xfrm>
            <a:off x="8799824" y="6181344"/>
            <a:ext cx="771754" cy="1810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Folio</a:t>
            </a:r>
            <a:endParaRPr lang="en-US" sz="800" dirty="0">
              <a:latin typeface="+mn-ea"/>
            </a:endParaRPr>
          </a:p>
        </p:txBody>
      </p:sp>
      <p:sp>
        <p:nvSpPr>
          <p:cNvPr id="76" name="Text 64"/>
          <p:cNvSpPr txBox="1"/>
          <p:nvPr/>
        </p:nvSpPr>
        <p:spPr>
          <a:xfrm>
            <a:off x="381305" y="313645"/>
            <a:ext cx="472196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매출 분석</a:t>
            </a:r>
            <a:r>
              <a:rPr lang="en-US" altLang="ko-KR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정산</a:t>
            </a:r>
            <a:endParaRPr lang="en-US" sz="2100" dirty="0">
              <a:latin typeface="+mn-ea"/>
            </a:endParaRPr>
          </a:p>
        </p:txBody>
      </p:sp>
      <p:sp>
        <p:nvSpPr>
          <p:cNvPr id="77" name="Text 65"/>
          <p:cNvSpPr txBox="1"/>
          <p:nvPr/>
        </p:nvSpPr>
        <p:spPr>
          <a:xfrm>
            <a:off x="10222078" y="254301"/>
            <a:ext cx="15910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REVENUE &amp; SETTLEMENT</a:t>
            </a:r>
            <a:endParaRPr lang="en-US" sz="900" dirty="0">
              <a:latin typeface="+mn-ea"/>
            </a:endParaRPr>
          </a:p>
        </p:txBody>
      </p:sp>
      <p:sp>
        <p:nvSpPr>
          <p:cNvPr id="78" name="Text 66"/>
          <p:cNvSpPr txBox="1"/>
          <p:nvPr/>
        </p:nvSpPr>
        <p:spPr>
          <a:xfrm>
            <a:off x="10222078" y="406091"/>
            <a:ext cx="15910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08</a:t>
            </a:r>
            <a:endParaRPr lang="en-US" sz="1800" dirty="0">
              <a:latin typeface="+mn-ea"/>
            </a:endParaRPr>
          </a:p>
        </p:txBody>
      </p:sp>
      <p:pic>
        <p:nvPicPr>
          <p:cNvPr id="79" name="Image 0" descr="preencoded.png">
            <a:extLst>
              <a:ext uri="{FF2B5EF4-FFF2-40B4-BE49-F238E27FC236}">
                <a16:creationId xmlns:a16="http://schemas.microsoft.com/office/drawing/2014/main" id="{40C2DFBD-896D-E906-C66F-6FB6E315CD8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80" name="Text 8">
            <a:extLst>
              <a:ext uri="{FF2B5EF4-FFF2-40B4-BE49-F238E27FC236}">
                <a16:creationId xmlns:a16="http://schemas.microsoft.com/office/drawing/2014/main" id="{AD6D7E65-1DC7-B406-A653-AF6C45C3E51E}"/>
              </a:ext>
            </a:extLst>
          </p:cNvPr>
          <p:cNvSpPr txBox="1"/>
          <p:nvPr/>
        </p:nvSpPr>
        <p:spPr>
          <a:xfrm>
            <a:off x="562355" y="1095451"/>
            <a:ext cx="8561711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최근 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7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일 매출 추이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항목별 매출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정산 목록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명세서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미수금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일일 마감을 같은 집계 기준으로 관리</a:t>
            </a:r>
          </a:p>
        </p:txBody>
      </p:sp>
      <p:pic>
        <p:nvPicPr>
          <p:cNvPr id="83" name="그림 82">
            <a:extLst>
              <a:ext uri="{FF2B5EF4-FFF2-40B4-BE49-F238E27FC236}">
                <a16:creationId xmlns:a16="http://schemas.microsoft.com/office/drawing/2014/main" id="{ABC0AEE8-2E3E-87E8-FD58-E41361DAF95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275" y="1936898"/>
            <a:ext cx="5981284" cy="4591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8206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381305" y="285937"/>
            <a:ext cx="2617013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부가서비스</a:t>
            </a:r>
            <a:endParaRPr lang="en-US" sz="2100" dirty="0">
              <a:latin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703052" y="245065"/>
            <a:ext cx="11146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ANCILLARY SERVICES</a:t>
            </a:r>
            <a:endParaRPr lang="en-US" sz="900" dirty="0">
              <a:latin typeface="+mn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703052" y="396855"/>
            <a:ext cx="11146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09</a:t>
            </a:r>
            <a:endParaRPr lang="en-US" sz="1800" dirty="0">
              <a:latin typeface="+mn-ea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533095" y="6623914"/>
            <a:ext cx="6980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>
              <a:latin typeface="+mn-ea"/>
            </a:endParaRPr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381305" y="1592885"/>
            <a:ext cx="3651199" cy="3161081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19049" y="1830629"/>
            <a:ext cx="476402" cy="476402"/>
          </a:xfrm>
          <a:prstGeom prst="ellipse">
            <a:avLst/>
          </a:prstGeom>
          <a:solidFill>
            <a:srgbClr val="EFF6FF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1648" r="-1648"/>
          <a:stretch/>
        </p:blipFill>
        <p:spPr>
          <a:xfrm>
            <a:off x="771754" y="1973275"/>
            <a:ext cx="171907" cy="190195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19049" y="2459736"/>
            <a:ext cx="33723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통합 </a:t>
            </a:r>
            <a:r>
              <a:rPr lang="en-US" sz="13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POS</a:t>
            </a:r>
            <a:endParaRPr lang="en-US" sz="1300" dirty="0">
              <a:latin typeface="+mn-ea"/>
            </a:endParaRPr>
          </a:p>
        </p:txBody>
      </p:sp>
      <p:sp>
        <p:nvSpPr>
          <p:cNvPr id="16" name="Text 12"/>
          <p:cNvSpPr txBox="1"/>
          <p:nvPr/>
        </p:nvSpPr>
        <p:spPr>
          <a:xfrm>
            <a:off x="619049" y="2811780"/>
            <a:ext cx="325800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식음료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리테일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룸서비스 주문을 객실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/Folio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와 연결하고 완료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미완료 상태로 관리합니다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19049" y="3820363"/>
            <a:ext cx="3181198" cy="694944"/>
          </a:xfrm>
          <a:prstGeom prst="roundRect">
            <a:avLst>
              <a:gd name="adj" fmla="val 288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4"/>
          <p:cNvSpPr txBox="1"/>
          <p:nvPr/>
        </p:nvSpPr>
        <p:spPr>
          <a:xfrm>
            <a:off x="743407" y="3943807"/>
            <a:ext cx="3048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>
                <a:solidFill>
                  <a:srgbClr val="475569"/>
                </a:solidFill>
                <a:latin typeface="+mn-ea"/>
                <a:cs typeface="Noto Sans KR" pitchFamily="34" charset="-120"/>
              </a:rPr>
              <a:t>Service Examples</a:t>
            </a:r>
            <a:endParaRPr lang="en-US" sz="800" dirty="0">
              <a:latin typeface="+mn-ea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772210" y="4158691"/>
            <a:ext cx="895198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829360" y="4158691"/>
            <a:ext cx="78089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룸서비스</a:t>
            </a:r>
            <a:endParaRPr lang="en-US" sz="800" dirty="0">
              <a:latin typeface="+mn-ea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1723186" y="4158691"/>
            <a:ext cx="905256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1784908" y="4158691"/>
            <a:ext cx="7818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미니바</a:t>
            </a:r>
            <a:endParaRPr lang="en-US" sz="800" dirty="0">
              <a:latin typeface="+mn-ea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2684221" y="4158691"/>
            <a:ext cx="914400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0"/>
          <p:cNvSpPr txBox="1"/>
          <p:nvPr/>
        </p:nvSpPr>
        <p:spPr>
          <a:xfrm>
            <a:off x="2741371" y="4158691"/>
            <a:ext cx="8001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리테일</a:t>
            </a:r>
            <a:endParaRPr lang="en-US" sz="800" dirty="0">
              <a:latin typeface="+mn-ea"/>
            </a:endParaRPr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5"/>
          <a:srcRect t="-4" b="-4"/>
          <a:stretch/>
        </p:blipFill>
        <p:spPr>
          <a:xfrm>
            <a:off x="4270248" y="1592885"/>
            <a:ext cx="3651199" cy="3161081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4508906" y="1830629"/>
            <a:ext cx="476402" cy="476402"/>
          </a:xfrm>
          <a:prstGeom prst="ellipse">
            <a:avLst/>
          </a:prstGeom>
          <a:solidFill>
            <a:srgbClr val="ECFDF5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651553" y="1973275"/>
            <a:ext cx="190195" cy="190195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4508906" y="2459736"/>
            <a:ext cx="33723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골프 예약</a:t>
            </a:r>
            <a:endParaRPr lang="en-US" sz="1300" dirty="0">
              <a:latin typeface="+mn-ea"/>
            </a:endParaRPr>
          </a:p>
        </p:txBody>
      </p:sp>
      <p:sp>
        <p:nvSpPr>
          <p:cNvPr id="32" name="Text 23"/>
          <p:cNvSpPr txBox="1"/>
          <p:nvPr/>
        </p:nvSpPr>
        <p:spPr>
          <a:xfrm>
            <a:off x="4508906" y="2811780"/>
            <a:ext cx="325800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업체 기반 골프장 예약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이용 일자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인원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요금을 관리하고 정산 항목으로 연결합니다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33" name="Shape 24"/>
          <p:cNvSpPr/>
          <p:nvPr/>
        </p:nvSpPr>
        <p:spPr>
          <a:xfrm>
            <a:off x="4508906" y="3820363"/>
            <a:ext cx="3181198" cy="694944"/>
          </a:xfrm>
          <a:prstGeom prst="roundRect">
            <a:avLst>
              <a:gd name="adj" fmla="val 288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5"/>
          <p:cNvSpPr txBox="1"/>
          <p:nvPr/>
        </p:nvSpPr>
        <p:spPr>
          <a:xfrm>
            <a:off x="4632350" y="3943807"/>
            <a:ext cx="3048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>
                <a:solidFill>
                  <a:srgbClr val="475569"/>
                </a:solidFill>
                <a:latin typeface="+mn-ea"/>
                <a:cs typeface="Noto Sans KR" pitchFamily="34" charset="-120"/>
              </a:rPr>
              <a:t>Vendor Data</a:t>
            </a:r>
            <a:endParaRPr lang="en-US" sz="800" dirty="0">
              <a:latin typeface="+mn-ea"/>
            </a:endParaRPr>
          </a:p>
        </p:txBody>
      </p:sp>
      <p:sp>
        <p:nvSpPr>
          <p:cNvPr id="35" name="Shape 26"/>
          <p:cNvSpPr/>
          <p:nvPr/>
        </p:nvSpPr>
        <p:spPr>
          <a:xfrm>
            <a:off x="4661154" y="4158691"/>
            <a:ext cx="981151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27"/>
          <p:cNvSpPr txBox="1"/>
          <p:nvPr/>
        </p:nvSpPr>
        <p:spPr>
          <a:xfrm>
            <a:off x="4713274" y="4158691"/>
            <a:ext cx="8769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업체</a:t>
            </a:r>
            <a:endParaRPr lang="en-US" sz="800" dirty="0">
              <a:latin typeface="+mn-ea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5698998" y="4158691"/>
            <a:ext cx="875995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9" name="Text 29"/>
          <p:cNvSpPr txBox="1"/>
          <p:nvPr/>
        </p:nvSpPr>
        <p:spPr>
          <a:xfrm>
            <a:off x="5746546" y="4158691"/>
            <a:ext cx="78089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티타임</a:t>
            </a:r>
            <a:endParaRPr lang="en-US" sz="800" dirty="0">
              <a:latin typeface="+mn-ea"/>
            </a:endParaRPr>
          </a:p>
        </p:txBody>
      </p:sp>
      <p:sp>
        <p:nvSpPr>
          <p:cNvPr id="41" name="Shape 30"/>
          <p:cNvSpPr/>
          <p:nvPr/>
        </p:nvSpPr>
        <p:spPr>
          <a:xfrm>
            <a:off x="6631686" y="4158691"/>
            <a:ext cx="895198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2" name="Text 31"/>
          <p:cNvSpPr txBox="1"/>
          <p:nvPr/>
        </p:nvSpPr>
        <p:spPr>
          <a:xfrm>
            <a:off x="6688836" y="4158691"/>
            <a:ext cx="78089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요금</a:t>
            </a:r>
            <a:endParaRPr lang="en-US" sz="800" dirty="0">
              <a:latin typeface="+mn-ea"/>
            </a:endParaRPr>
          </a:p>
        </p:txBody>
      </p:sp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8160106" y="1592885"/>
            <a:ext cx="3651199" cy="3161081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8397850" y="1830629"/>
            <a:ext cx="476402" cy="476402"/>
          </a:xfrm>
          <a:prstGeom prst="ellipse">
            <a:avLst/>
          </a:prstGeom>
          <a:solidFill>
            <a:srgbClr val="FFF1F2"/>
          </a:solidFill>
          <a:ln w="12700">
            <a:solidFill>
              <a:srgbClr val="000000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8540496" y="1973275"/>
            <a:ext cx="190195" cy="190195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8397850" y="2459736"/>
            <a:ext cx="3372307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렌터카 예약</a:t>
            </a:r>
            <a:endParaRPr lang="en-US" sz="1300" dirty="0">
              <a:latin typeface="+mn-ea"/>
            </a:endParaRPr>
          </a:p>
        </p:txBody>
      </p:sp>
      <p:sp>
        <p:nvSpPr>
          <p:cNvPr id="48" name="Text 34"/>
          <p:cNvSpPr txBox="1"/>
          <p:nvPr/>
        </p:nvSpPr>
        <p:spPr>
          <a:xfrm>
            <a:off x="8397850" y="2811780"/>
            <a:ext cx="3258007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차종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대여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반납일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업체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 정보를 기준으로 부가서비스 매출과 정산을 생성합니다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49" name="Shape 35"/>
          <p:cNvSpPr/>
          <p:nvPr/>
        </p:nvSpPr>
        <p:spPr>
          <a:xfrm>
            <a:off x="8397850" y="3820363"/>
            <a:ext cx="3181198" cy="694944"/>
          </a:xfrm>
          <a:prstGeom prst="roundRect">
            <a:avLst>
              <a:gd name="adj" fmla="val 2883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Text 36"/>
          <p:cNvSpPr txBox="1"/>
          <p:nvPr/>
        </p:nvSpPr>
        <p:spPr>
          <a:xfrm>
            <a:off x="8521294" y="3943807"/>
            <a:ext cx="3048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38">
                <a:solidFill>
                  <a:srgbClr val="475569"/>
                </a:solidFill>
                <a:latin typeface="+mn-ea"/>
                <a:cs typeface="Noto Sans KR" pitchFamily="34" charset="-120"/>
              </a:rPr>
              <a:t>Dynamic Category</a:t>
            </a:r>
            <a:endParaRPr lang="en-US" sz="800" dirty="0">
              <a:latin typeface="+mn-ea"/>
            </a:endParaRPr>
          </a:p>
        </p:txBody>
      </p:sp>
      <p:sp>
        <p:nvSpPr>
          <p:cNvPr id="51" name="Shape 37"/>
          <p:cNvSpPr/>
          <p:nvPr/>
        </p:nvSpPr>
        <p:spPr>
          <a:xfrm>
            <a:off x="8550097" y="4158691"/>
            <a:ext cx="771754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2" name="Text 38"/>
          <p:cNvSpPr txBox="1"/>
          <p:nvPr/>
        </p:nvSpPr>
        <p:spPr>
          <a:xfrm>
            <a:off x="8607247" y="4158691"/>
            <a:ext cx="657454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차종</a:t>
            </a:r>
            <a:endParaRPr lang="en-US" sz="800" dirty="0">
              <a:latin typeface="+mn-ea"/>
            </a:endParaRPr>
          </a:p>
        </p:txBody>
      </p:sp>
      <p:sp>
        <p:nvSpPr>
          <p:cNvPr id="54" name="Shape 39"/>
          <p:cNvSpPr/>
          <p:nvPr/>
        </p:nvSpPr>
        <p:spPr>
          <a:xfrm>
            <a:off x="9375800" y="4158691"/>
            <a:ext cx="905256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Text 40"/>
          <p:cNvSpPr txBox="1"/>
          <p:nvPr/>
        </p:nvSpPr>
        <p:spPr>
          <a:xfrm>
            <a:off x="9437522" y="4158691"/>
            <a:ext cx="7818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업체</a:t>
            </a:r>
            <a:endParaRPr lang="en-US" sz="800" dirty="0">
              <a:latin typeface="+mn-ea"/>
            </a:endParaRPr>
          </a:p>
        </p:txBody>
      </p:sp>
      <p:sp>
        <p:nvSpPr>
          <p:cNvPr id="57" name="Shape 41"/>
          <p:cNvSpPr/>
          <p:nvPr/>
        </p:nvSpPr>
        <p:spPr>
          <a:xfrm>
            <a:off x="10336834" y="4158691"/>
            <a:ext cx="905256" cy="237744"/>
          </a:xfrm>
          <a:prstGeom prst="roundRect">
            <a:avLst>
              <a:gd name="adj" fmla="val 1230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8" name="Text 42"/>
          <p:cNvSpPr txBox="1"/>
          <p:nvPr/>
        </p:nvSpPr>
        <p:spPr>
          <a:xfrm>
            <a:off x="10398556" y="4158691"/>
            <a:ext cx="78181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800">
                <a:solidFill>
                  <a:srgbClr val="334155"/>
                </a:solidFill>
                <a:latin typeface="+mn-ea"/>
                <a:cs typeface="Noto Sans KR" pitchFamily="34" charset="-120"/>
              </a:rPr>
              <a:t>상태</a:t>
            </a:r>
            <a:endParaRPr lang="en-US" sz="800" dirty="0">
              <a:latin typeface="+mn-ea"/>
            </a:endParaRPr>
          </a:p>
        </p:txBody>
      </p:sp>
      <p:sp>
        <p:nvSpPr>
          <p:cNvPr id="60" name="Shape 43"/>
          <p:cNvSpPr/>
          <p:nvPr/>
        </p:nvSpPr>
        <p:spPr>
          <a:xfrm>
            <a:off x="381305" y="4991710"/>
            <a:ext cx="7286854" cy="1580998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1" name="Shape 44"/>
          <p:cNvSpPr/>
          <p:nvPr/>
        </p:nvSpPr>
        <p:spPr>
          <a:xfrm>
            <a:off x="381305" y="4991710"/>
            <a:ext cx="38405" cy="1580998"/>
          </a:xfrm>
          <a:prstGeom prst="roundRect">
            <a:avLst>
              <a:gd name="adj" fmla="val 344232"/>
            </a:avLst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2" name="Image 15" descr="preencoded.png"/>
          <p:cNvPicPr>
            <a:picLocks noChangeAspect="1"/>
          </p:cNvPicPr>
          <p:nvPr/>
        </p:nvPicPr>
        <p:blipFill>
          <a:blip r:embed="rId8">
            <a:alphaModFix amt="80000"/>
          </a:blip>
          <a:srcRect l="-57" r="-57"/>
          <a:stretch/>
        </p:blipFill>
        <p:spPr>
          <a:xfrm>
            <a:off x="657454" y="5667451"/>
            <a:ext cx="200254" cy="228600"/>
          </a:xfrm>
          <a:prstGeom prst="rect">
            <a:avLst/>
          </a:prstGeom>
        </p:spPr>
      </p:pic>
      <p:sp>
        <p:nvSpPr>
          <p:cNvPr id="63" name="Text 45"/>
          <p:cNvSpPr txBox="1"/>
          <p:nvPr/>
        </p:nvSpPr>
        <p:spPr>
          <a:xfrm>
            <a:off x="1047902" y="5437022"/>
            <a:ext cx="471556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연동 데이터 소스</a:t>
            </a:r>
            <a:endParaRPr lang="en-US" sz="1100" dirty="0">
              <a:latin typeface="+mn-ea"/>
            </a:endParaRPr>
          </a:p>
        </p:txBody>
      </p:sp>
      <p:sp>
        <p:nvSpPr>
          <p:cNvPr id="64" name="Text 46"/>
          <p:cNvSpPr txBox="1"/>
          <p:nvPr/>
        </p:nvSpPr>
        <p:spPr>
          <a:xfrm>
            <a:off x="1047902" y="5689397"/>
            <a:ext cx="54068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부가서비스는 객실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업체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정산 데이터와 연결되어 단독 데이터가 되지 않도록 구성합니다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900" dirty="0">
              <a:latin typeface="+mn-ea"/>
            </a:endParaRPr>
          </a:p>
        </p:txBody>
      </p:sp>
      <p:sp>
        <p:nvSpPr>
          <p:cNvPr id="65" name="Shape 47"/>
          <p:cNvSpPr/>
          <p:nvPr/>
        </p:nvSpPr>
        <p:spPr>
          <a:xfrm>
            <a:off x="1047902" y="5931713"/>
            <a:ext cx="1238098" cy="200254"/>
          </a:xfrm>
          <a:prstGeom prst="roundRect">
            <a:avLst>
              <a:gd name="adj" fmla="val 173951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Text 48"/>
          <p:cNvSpPr txBox="1"/>
          <p:nvPr/>
        </p:nvSpPr>
        <p:spPr>
          <a:xfrm>
            <a:off x="1047902" y="5931713"/>
            <a:ext cx="1335938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338CA"/>
                </a:solidFill>
                <a:latin typeface="+mn-ea"/>
                <a:cs typeface="Noto Sans KR" pitchFamily="34" charset="-120"/>
              </a:rPr>
              <a:t>Room</a:t>
            </a:r>
            <a:endParaRPr lang="en-US" sz="800" dirty="0">
              <a:latin typeface="+mn-ea"/>
            </a:endParaRPr>
          </a:p>
        </p:txBody>
      </p:sp>
      <p:sp>
        <p:nvSpPr>
          <p:cNvPr id="67" name="Shape 49"/>
          <p:cNvSpPr/>
          <p:nvPr/>
        </p:nvSpPr>
        <p:spPr>
          <a:xfrm>
            <a:off x="2355494" y="5931713"/>
            <a:ext cx="1295705" cy="200254"/>
          </a:xfrm>
          <a:prstGeom prst="roundRect">
            <a:avLst>
              <a:gd name="adj" fmla="val 173951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8" name="Text 50"/>
          <p:cNvSpPr txBox="1"/>
          <p:nvPr/>
        </p:nvSpPr>
        <p:spPr>
          <a:xfrm>
            <a:off x="2355494" y="5931713"/>
            <a:ext cx="137708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338CA"/>
                </a:solidFill>
                <a:latin typeface="+mn-ea"/>
                <a:cs typeface="Noto Sans KR" pitchFamily="34" charset="-120"/>
              </a:rPr>
              <a:t>Guest</a:t>
            </a:r>
            <a:endParaRPr lang="en-US" sz="800" dirty="0">
              <a:latin typeface="+mn-ea"/>
            </a:endParaRPr>
          </a:p>
        </p:txBody>
      </p:sp>
      <p:sp>
        <p:nvSpPr>
          <p:cNvPr id="69" name="Shape 51"/>
          <p:cNvSpPr/>
          <p:nvPr/>
        </p:nvSpPr>
        <p:spPr>
          <a:xfrm>
            <a:off x="3724351" y="5931713"/>
            <a:ext cx="838505" cy="200254"/>
          </a:xfrm>
          <a:prstGeom prst="roundRect">
            <a:avLst>
              <a:gd name="adj" fmla="val 173951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0" name="Text 52"/>
          <p:cNvSpPr txBox="1"/>
          <p:nvPr/>
        </p:nvSpPr>
        <p:spPr>
          <a:xfrm>
            <a:off x="3724351" y="5931713"/>
            <a:ext cx="914400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338CA"/>
                </a:solidFill>
                <a:latin typeface="+mn-ea"/>
                <a:cs typeface="Noto Sans KR" pitchFamily="34" charset="-120"/>
              </a:rPr>
              <a:t>Vendor</a:t>
            </a:r>
            <a:endParaRPr lang="en-US" sz="800" dirty="0">
              <a:latin typeface="+mn-ea"/>
            </a:endParaRPr>
          </a:p>
        </p:txBody>
      </p:sp>
      <p:sp>
        <p:nvSpPr>
          <p:cNvPr id="71" name="Shape 53"/>
          <p:cNvSpPr/>
          <p:nvPr/>
        </p:nvSpPr>
        <p:spPr>
          <a:xfrm>
            <a:off x="4636008" y="5931713"/>
            <a:ext cx="590702" cy="200254"/>
          </a:xfrm>
          <a:prstGeom prst="roundRect">
            <a:avLst>
              <a:gd name="adj" fmla="val 173951"/>
            </a:avLst>
          </a:prstGeom>
          <a:solidFill>
            <a:srgbClr val="E0E7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2" name="Text 54"/>
          <p:cNvSpPr txBox="1"/>
          <p:nvPr/>
        </p:nvSpPr>
        <p:spPr>
          <a:xfrm>
            <a:off x="4636008" y="5931713"/>
            <a:ext cx="667512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338CA"/>
                </a:solidFill>
                <a:latin typeface="+mn-ea"/>
                <a:cs typeface="Noto Sans KR" pitchFamily="34" charset="-120"/>
              </a:rPr>
              <a:t>Folio</a:t>
            </a:r>
            <a:endParaRPr lang="en-US" sz="800" dirty="0">
              <a:latin typeface="+mn-ea"/>
            </a:endParaRPr>
          </a:p>
        </p:txBody>
      </p:sp>
      <p:sp>
        <p:nvSpPr>
          <p:cNvPr id="73" name="Shape 55"/>
          <p:cNvSpPr/>
          <p:nvPr/>
        </p:nvSpPr>
        <p:spPr>
          <a:xfrm>
            <a:off x="7905902" y="4991710"/>
            <a:ext cx="3905402" cy="1580998"/>
          </a:xfrm>
          <a:prstGeom prst="roundRect">
            <a:avLst>
              <a:gd name="adj" fmla="val 836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4" name="Shape 56"/>
          <p:cNvSpPr/>
          <p:nvPr/>
        </p:nvSpPr>
        <p:spPr>
          <a:xfrm>
            <a:off x="7905902" y="4991710"/>
            <a:ext cx="38405" cy="1580998"/>
          </a:xfrm>
          <a:prstGeom prst="roundRect">
            <a:avLst>
              <a:gd name="adj" fmla="val 344232"/>
            </a:avLst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5" name="Image 16" descr="preencoded.png"/>
          <p:cNvPicPr>
            <a:picLocks noChangeAspect="1"/>
          </p:cNvPicPr>
          <p:nvPr/>
        </p:nvPicPr>
        <p:blipFill>
          <a:blip r:embed="rId9">
            <a:alphaModFix amt="80000"/>
          </a:blip>
          <a:srcRect/>
          <a:stretch/>
        </p:blipFill>
        <p:spPr>
          <a:xfrm>
            <a:off x="8182051" y="5667451"/>
            <a:ext cx="228600" cy="228600"/>
          </a:xfrm>
          <a:prstGeom prst="rect">
            <a:avLst/>
          </a:prstGeom>
        </p:spPr>
      </p:pic>
      <p:sp>
        <p:nvSpPr>
          <p:cNvPr id="76" name="Text 57"/>
          <p:cNvSpPr txBox="1"/>
          <p:nvPr/>
        </p:nvSpPr>
        <p:spPr>
          <a:xfrm>
            <a:off x="8600846" y="5469941"/>
            <a:ext cx="18964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1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카테고리 관리</a:t>
            </a:r>
            <a:endParaRPr lang="en-US" sz="1100" dirty="0">
              <a:latin typeface="+mn-ea"/>
            </a:endParaRPr>
          </a:p>
        </p:txBody>
      </p:sp>
      <p:sp>
        <p:nvSpPr>
          <p:cNvPr id="77" name="Text 58"/>
          <p:cNvSpPr txBox="1"/>
          <p:nvPr/>
        </p:nvSpPr>
        <p:spPr>
          <a:xfrm>
            <a:off x="8600846" y="5722315"/>
            <a:ext cx="184343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임의 등록 카테고리는 아이콘 고정이 아니라 풀다운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텍스트 기준으로 확장 가능하게 관리</a:t>
            </a:r>
            <a:endParaRPr lang="en-US" sz="900" dirty="0">
              <a:latin typeface="+mn-ea"/>
            </a:endParaRPr>
          </a:p>
        </p:txBody>
      </p:sp>
      <p:pic>
        <p:nvPicPr>
          <p:cNvPr id="78" name="Image 17" descr="preencoded.png"/>
          <p:cNvPicPr>
            <a:picLocks noChangeAspect="1"/>
          </p:cNvPicPr>
          <p:nvPr/>
        </p:nvPicPr>
        <p:blipFill>
          <a:blip r:embed="rId10"/>
          <a:srcRect t="-1087" b="-1087"/>
          <a:stretch/>
        </p:blipFill>
        <p:spPr>
          <a:xfrm>
            <a:off x="4105662" y="3087014"/>
            <a:ext cx="105156" cy="171907"/>
          </a:xfrm>
          <a:prstGeom prst="rect">
            <a:avLst/>
          </a:prstGeom>
        </p:spPr>
      </p:pic>
      <p:pic>
        <p:nvPicPr>
          <p:cNvPr id="79" name="Image 18" descr="preencoded.png"/>
          <p:cNvPicPr>
            <a:picLocks noChangeAspect="1"/>
          </p:cNvPicPr>
          <p:nvPr/>
        </p:nvPicPr>
        <p:blipFill>
          <a:blip r:embed="rId10"/>
          <a:srcRect t="-1087" b="-1087"/>
          <a:stretch/>
        </p:blipFill>
        <p:spPr>
          <a:xfrm>
            <a:off x="7985369" y="3087014"/>
            <a:ext cx="105156" cy="171907"/>
          </a:xfrm>
          <a:prstGeom prst="rect">
            <a:avLst/>
          </a:prstGeom>
        </p:spPr>
      </p:pic>
      <p:pic>
        <p:nvPicPr>
          <p:cNvPr id="80" name="Image 0" descr="preencoded.png">
            <a:extLst>
              <a:ext uri="{FF2B5EF4-FFF2-40B4-BE49-F238E27FC236}">
                <a16:creationId xmlns:a16="http://schemas.microsoft.com/office/drawing/2014/main" id="{AC647B41-C625-0827-F9D7-5A2F06C215FA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81" name="Text 8">
            <a:extLst>
              <a:ext uri="{FF2B5EF4-FFF2-40B4-BE49-F238E27FC236}">
                <a16:creationId xmlns:a16="http://schemas.microsoft.com/office/drawing/2014/main" id="{14F64E9E-A43E-50F1-8465-096BD2E0B6A3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통합 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POS, 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룸서비스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골프 예약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렌터카 예약을 객실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·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업체</a:t>
            </a:r>
            <a:r>
              <a:rPr lang="en-US" altLang="ko-KR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·</a:t>
            </a:r>
            <a:r>
              <a:rPr lang="ko-KR" altLang="en-US" sz="1300" b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카테고리 기준으로 관리</a:t>
            </a:r>
            <a:endParaRPr lang="ko-KR" altLang="en-US" sz="1300" b="1" dirty="0">
              <a:solidFill>
                <a:srgbClr val="4B5563"/>
              </a:solidFill>
              <a:latin typeface="+mj-ea"/>
              <a:ea typeface="+mj-ea"/>
              <a:cs typeface="Noto Sans K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9098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381304" y="322881"/>
            <a:ext cx="323972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고객 </a:t>
            </a:r>
            <a:r>
              <a:rPr lang="en-US" altLang="ko-KR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CRM/</a:t>
            </a:r>
            <a:r>
              <a:rPr lang="ko-KR" altLang="en-US" sz="21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멤버십</a:t>
            </a:r>
            <a:endParaRPr lang="en-US" sz="2100" dirty="0">
              <a:latin typeface="+mn-ea"/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730484" y="254301"/>
            <a:ext cx="10863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GUEST CRM</a:t>
            </a:r>
            <a:endParaRPr lang="en-US" sz="900" dirty="0">
              <a:latin typeface="+mn-ea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0730484" y="406091"/>
            <a:ext cx="10863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10</a:t>
            </a:r>
            <a:endParaRPr lang="en-US" sz="1800" dirty="0">
              <a:latin typeface="+mn-ea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6402" y="1834286"/>
            <a:ext cx="7048195" cy="819302"/>
          </a:xfrm>
          <a:prstGeom prst="roundRect">
            <a:avLst>
              <a:gd name="adj" fmla="val 31146"/>
            </a:avLst>
          </a:prstGeom>
          <a:solidFill>
            <a:srgbClr val="F0FDF4"/>
          </a:solidFill>
          <a:ln w="12700">
            <a:solidFill>
              <a:srgbClr val="DCFCE7"/>
            </a:solidFill>
            <a:prstDash val="solid"/>
          </a:ln>
          <a:effectLst>
            <a:outerShdw blurRad="1143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676656" y="1976933"/>
            <a:ext cx="362102" cy="362102"/>
          </a:xfrm>
          <a:prstGeom prst="roundRect">
            <a:avLst>
              <a:gd name="adj" fmla="val 132908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80898" y="2082089"/>
            <a:ext cx="152705" cy="152705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181405" y="1976933"/>
            <a:ext cx="39346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투숙객 상세 정보</a:t>
            </a:r>
            <a:endParaRPr lang="en-US" sz="1200" dirty="0">
              <a:latin typeface="+mn-ea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1181405" y="2263140"/>
            <a:ext cx="1248156" cy="247802"/>
          </a:xfrm>
          <a:prstGeom prst="roundRect">
            <a:avLst>
              <a:gd name="adj" fmla="val 113540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 txBox="1"/>
          <p:nvPr/>
        </p:nvSpPr>
        <p:spPr>
          <a:xfrm>
            <a:off x="1343254" y="2263140"/>
            <a:ext cx="1118781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059669"/>
                </a:solidFill>
                <a:latin typeface="+mn-ea"/>
                <a:cs typeface="Noto Sans KR" pitchFamily="34" charset="-120"/>
              </a:rPr>
              <a:t>연락처는 상세에서</a:t>
            </a:r>
            <a:endParaRPr lang="en-US" sz="900" dirty="0">
              <a:latin typeface="+mn-ea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1266444" y="2343607"/>
            <a:ext cx="80047" cy="85954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2491372" y="2263140"/>
            <a:ext cx="1446630" cy="247802"/>
          </a:xfrm>
          <a:prstGeom prst="roundRect">
            <a:avLst>
              <a:gd name="adj" fmla="val 113540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6"/>
          <p:cNvSpPr txBox="1"/>
          <p:nvPr/>
        </p:nvSpPr>
        <p:spPr>
          <a:xfrm>
            <a:off x="2653221" y="2263140"/>
            <a:ext cx="133668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059669"/>
                </a:solidFill>
                <a:latin typeface="+mn-ea"/>
                <a:cs typeface="Noto Sans KR" pitchFamily="34" charset="-120"/>
              </a:rPr>
              <a:t>특이사항 확인</a:t>
            </a:r>
            <a:endParaRPr lang="en-US" sz="900" dirty="0">
              <a:latin typeface="+mn-ea"/>
            </a:endParaRPr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2577326" y="2343607"/>
            <a:ext cx="80047" cy="8595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967765" y="2263140"/>
            <a:ext cx="1114869" cy="247802"/>
          </a:xfrm>
          <a:prstGeom prst="roundRect">
            <a:avLst>
              <a:gd name="adj" fmla="val 113540"/>
            </a:avLst>
          </a:prstGeom>
          <a:solidFill>
            <a:srgbClr val="FFFFFF"/>
          </a:solidFill>
          <a:ln w="12700">
            <a:solidFill>
              <a:srgbClr val="D1FAE5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18"/>
          <p:cNvSpPr txBox="1"/>
          <p:nvPr/>
        </p:nvSpPr>
        <p:spPr>
          <a:xfrm>
            <a:off x="4129614" y="2263140"/>
            <a:ext cx="1004926" cy="24780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059669"/>
                </a:solidFill>
                <a:latin typeface="+mn-ea"/>
                <a:cs typeface="Noto Sans KR" pitchFamily="34" charset="-120"/>
              </a:rPr>
              <a:t>열람 로그</a:t>
            </a:r>
            <a:endParaRPr lang="en-US" sz="900" dirty="0">
              <a:latin typeface="+mn-ea"/>
            </a:endParaRPr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4052805" y="2343607"/>
            <a:ext cx="80047" cy="85954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476402" y="2767889"/>
            <a:ext cx="7048195" cy="800100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143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Shape 20"/>
          <p:cNvSpPr/>
          <p:nvPr/>
        </p:nvSpPr>
        <p:spPr>
          <a:xfrm>
            <a:off x="476402" y="2767889"/>
            <a:ext cx="9144" cy="800100"/>
          </a:xfrm>
          <a:prstGeom prst="roundRect">
            <a:avLst>
              <a:gd name="adj" fmla="val 285714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1"/>
          <p:cNvSpPr/>
          <p:nvPr/>
        </p:nvSpPr>
        <p:spPr>
          <a:xfrm>
            <a:off x="676656" y="2910535"/>
            <a:ext cx="362102" cy="362102"/>
          </a:xfrm>
          <a:prstGeom prst="roundRect">
            <a:avLst>
              <a:gd name="adj" fmla="val 1329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809244" y="3015691"/>
            <a:ext cx="95098" cy="152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181405" y="2910535"/>
            <a:ext cx="28337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멤버십 등급 관리</a:t>
            </a:r>
            <a:endParaRPr lang="en-US" sz="1200" dirty="0">
              <a:latin typeface="+mn-ea"/>
            </a:endParaRPr>
          </a:p>
        </p:txBody>
      </p:sp>
      <p:sp>
        <p:nvSpPr>
          <p:cNvPr id="30" name="Shape 23"/>
          <p:cNvSpPr/>
          <p:nvPr/>
        </p:nvSpPr>
        <p:spPr>
          <a:xfrm>
            <a:off x="1181405" y="3196742"/>
            <a:ext cx="871962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4"/>
          <p:cNvSpPr txBox="1"/>
          <p:nvPr/>
        </p:nvSpPr>
        <p:spPr>
          <a:xfrm>
            <a:off x="1334109" y="3196742"/>
            <a:ext cx="78728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일반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골드</a:t>
            </a:r>
            <a:endParaRPr lang="en-US" sz="900" dirty="0">
              <a:latin typeface="+mn-ea"/>
            </a:endParaRPr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1257300" y="3268066"/>
            <a:ext cx="83668" cy="85954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2089134" y="3196742"/>
            <a:ext cx="986880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6"/>
          <p:cNvSpPr txBox="1"/>
          <p:nvPr/>
        </p:nvSpPr>
        <p:spPr>
          <a:xfrm>
            <a:off x="2241837" y="3196742"/>
            <a:ext cx="90321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플래티넘</a:t>
            </a:r>
            <a:endParaRPr lang="en-US" sz="900" dirty="0">
              <a:latin typeface="+mn-ea"/>
            </a:endParaRPr>
          </a:p>
        </p:txBody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2165943" y="3268066"/>
            <a:ext cx="83668" cy="85954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3093696" y="3196742"/>
            <a:ext cx="1018129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28"/>
          <p:cNvSpPr txBox="1"/>
          <p:nvPr/>
        </p:nvSpPr>
        <p:spPr>
          <a:xfrm>
            <a:off x="3246402" y="3196742"/>
            <a:ext cx="93446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다이아몬드</a:t>
            </a:r>
            <a:endParaRPr lang="en-US" sz="900" dirty="0">
              <a:latin typeface="+mn-ea"/>
            </a:endParaRPr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3169592" y="3268066"/>
            <a:ext cx="83668" cy="85954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476402" y="3682289"/>
            <a:ext cx="7048195" cy="800100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143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0"/>
          <p:cNvSpPr/>
          <p:nvPr/>
        </p:nvSpPr>
        <p:spPr>
          <a:xfrm>
            <a:off x="476402" y="3682289"/>
            <a:ext cx="9144" cy="800100"/>
          </a:xfrm>
          <a:prstGeom prst="roundRect">
            <a:avLst>
              <a:gd name="adj" fmla="val 285714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Shape 31"/>
          <p:cNvSpPr/>
          <p:nvPr/>
        </p:nvSpPr>
        <p:spPr>
          <a:xfrm>
            <a:off x="676656" y="3824935"/>
            <a:ext cx="362102" cy="362102"/>
          </a:xfrm>
          <a:prstGeom prst="roundRect">
            <a:avLst>
              <a:gd name="adj" fmla="val 1329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6"/>
          <a:srcRect t="-180" b="-180"/>
          <a:stretch/>
        </p:blipFill>
        <p:spPr>
          <a:xfrm>
            <a:off x="761695" y="3930091"/>
            <a:ext cx="190195" cy="152705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181405" y="3824935"/>
            <a:ext cx="3439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등급 변동 이력</a:t>
            </a:r>
            <a:endParaRPr lang="en-US" sz="1200" dirty="0">
              <a:latin typeface="+mn-ea"/>
            </a:endParaRPr>
          </a:p>
        </p:txBody>
      </p:sp>
      <p:sp>
        <p:nvSpPr>
          <p:cNvPr id="44" name="Shape 33"/>
          <p:cNvSpPr/>
          <p:nvPr/>
        </p:nvSpPr>
        <p:spPr>
          <a:xfrm>
            <a:off x="1181405" y="4111142"/>
            <a:ext cx="1308707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Text 34"/>
          <p:cNvSpPr txBox="1"/>
          <p:nvPr/>
        </p:nvSpPr>
        <p:spPr>
          <a:xfrm>
            <a:off x="1334110" y="4111142"/>
            <a:ext cx="122848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변경 사유</a:t>
            </a:r>
            <a:endParaRPr lang="en-US" sz="900" dirty="0">
              <a:latin typeface="+mn-ea"/>
            </a:endParaRPr>
          </a:p>
        </p:txBody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1257300" y="4182466"/>
            <a:ext cx="80223" cy="85954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2539018" y="4111142"/>
            <a:ext cx="996510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8" name="Text 36"/>
          <p:cNvSpPr txBox="1"/>
          <p:nvPr/>
        </p:nvSpPr>
        <p:spPr>
          <a:xfrm>
            <a:off x="2691724" y="4111142"/>
            <a:ext cx="91628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변경일시</a:t>
            </a:r>
            <a:endParaRPr lang="en-US" sz="900" dirty="0">
              <a:latin typeface="+mn-ea"/>
            </a:endParaRPr>
          </a:p>
        </p:txBody>
      </p:sp>
      <p:pic>
        <p:nvPicPr>
          <p:cNvPr id="49" name="Image 10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2614914" y="4182466"/>
            <a:ext cx="80223" cy="85954"/>
          </a:xfrm>
          <a:prstGeom prst="rect">
            <a:avLst/>
          </a:prstGeom>
        </p:spPr>
      </p:pic>
      <p:sp>
        <p:nvSpPr>
          <p:cNvPr id="50" name="Shape 37"/>
          <p:cNvSpPr/>
          <p:nvPr/>
        </p:nvSpPr>
        <p:spPr>
          <a:xfrm>
            <a:off x="3579151" y="4111142"/>
            <a:ext cx="1097032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38"/>
          <p:cNvSpPr txBox="1"/>
          <p:nvPr/>
        </p:nvSpPr>
        <p:spPr>
          <a:xfrm>
            <a:off x="3731856" y="4111142"/>
            <a:ext cx="102454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담당자</a:t>
            </a:r>
            <a:endParaRPr lang="en-US" sz="900" dirty="0">
              <a:latin typeface="+mn-ea"/>
            </a:endParaRPr>
          </a:p>
        </p:txBody>
      </p:sp>
      <p:pic>
        <p:nvPicPr>
          <p:cNvPr id="52" name="Image 11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3655046" y="4182466"/>
            <a:ext cx="80223" cy="85954"/>
          </a:xfrm>
          <a:prstGeom prst="rect">
            <a:avLst/>
          </a:prstGeom>
        </p:spPr>
      </p:pic>
      <p:sp>
        <p:nvSpPr>
          <p:cNvPr id="53" name="Shape 39"/>
          <p:cNvSpPr/>
          <p:nvPr/>
        </p:nvSpPr>
        <p:spPr>
          <a:xfrm>
            <a:off x="476402" y="4596689"/>
            <a:ext cx="7048195" cy="800100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143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54" name="Shape 40"/>
          <p:cNvSpPr/>
          <p:nvPr/>
        </p:nvSpPr>
        <p:spPr>
          <a:xfrm>
            <a:off x="476402" y="4596689"/>
            <a:ext cx="9144" cy="800100"/>
          </a:xfrm>
          <a:prstGeom prst="roundRect">
            <a:avLst>
              <a:gd name="adj" fmla="val 285714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5" name="Shape 41"/>
          <p:cNvSpPr/>
          <p:nvPr/>
        </p:nvSpPr>
        <p:spPr>
          <a:xfrm>
            <a:off x="676656" y="4739335"/>
            <a:ext cx="362102" cy="362102"/>
          </a:xfrm>
          <a:prstGeom prst="roundRect">
            <a:avLst>
              <a:gd name="adj" fmla="val 1329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6" name="Image 12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80898" y="4844491"/>
            <a:ext cx="152705" cy="152705"/>
          </a:xfrm>
          <a:prstGeom prst="rect">
            <a:avLst/>
          </a:prstGeom>
        </p:spPr>
      </p:pic>
      <p:sp>
        <p:nvSpPr>
          <p:cNvPr id="57" name="Text 42"/>
          <p:cNvSpPr txBox="1"/>
          <p:nvPr/>
        </p:nvSpPr>
        <p:spPr>
          <a:xfrm>
            <a:off x="1181405" y="4739335"/>
            <a:ext cx="29525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개인정보 보호</a:t>
            </a:r>
            <a:endParaRPr lang="en-US" sz="1200" dirty="0">
              <a:latin typeface="+mn-ea"/>
            </a:endParaRPr>
          </a:p>
        </p:txBody>
      </p:sp>
      <p:sp>
        <p:nvSpPr>
          <p:cNvPr id="58" name="Shape 43"/>
          <p:cNvSpPr/>
          <p:nvPr/>
        </p:nvSpPr>
        <p:spPr>
          <a:xfrm>
            <a:off x="1181405" y="5025542"/>
            <a:ext cx="957802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Text 44"/>
          <p:cNvSpPr txBox="1"/>
          <p:nvPr/>
        </p:nvSpPr>
        <p:spPr>
          <a:xfrm>
            <a:off x="1334110" y="5025542"/>
            <a:ext cx="8783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목록 노출 최소화</a:t>
            </a:r>
            <a:endParaRPr lang="en-US" sz="900" dirty="0">
              <a:latin typeface="+mn-ea"/>
            </a:endParaRPr>
          </a:p>
        </p:txBody>
      </p:sp>
      <p:pic>
        <p:nvPicPr>
          <p:cNvPr id="60" name="Image 13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1257300" y="5096866"/>
            <a:ext cx="79497" cy="85954"/>
          </a:xfrm>
          <a:prstGeom prst="rect">
            <a:avLst/>
          </a:prstGeom>
        </p:spPr>
      </p:pic>
      <p:sp>
        <p:nvSpPr>
          <p:cNvPr id="61" name="Shape 45"/>
          <p:cNvSpPr/>
          <p:nvPr/>
        </p:nvSpPr>
        <p:spPr>
          <a:xfrm>
            <a:off x="2190447" y="5025542"/>
            <a:ext cx="937689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2" name="Text 46"/>
          <p:cNvSpPr txBox="1"/>
          <p:nvPr/>
        </p:nvSpPr>
        <p:spPr>
          <a:xfrm>
            <a:off x="2343153" y="5025542"/>
            <a:ext cx="85819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상세 열람 기록</a:t>
            </a:r>
            <a:endParaRPr lang="en-US" sz="900" dirty="0">
              <a:latin typeface="+mn-ea"/>
            </a:endParaRPr>
          </a:p>
        </p:txBody>
      </p:sp>
      <p:pic>
        <p:nvPicPr>
          <p:cNvPr id="63" name="Image 14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2267258" y="5096866"/>
            <a:ext cx="79497" cy="85954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3195011" y="5025542"/>
            <a:ext cx="967380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5" name="Text 48"/>
          <p:cNvSpPr txBox="1"/>
          <p:nvPr/>
        </p:nvSpPr>
        <p:spPr>
          <a:xfrm>
            <a:off x="3347716" y="5025542"/>
            <a:ext cx="88788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엑셀 다운로드 로그</a:t>
            </a:r>
            <a:endParaRPr lang="en-US" sz="900" dirty="0">
              <a:latin typeface="+mn-ea"/>
            </a:endParaRPr>
          </a:p>
        </p:txBody>
      </p:sp>
      <p:pic>
        <p:nvPicPr>
          <p:cNvPr id="66" name="Image 15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3270906" y="5096866"/>
            <a:ext cx="79497" cy="85954"/>
          </a:xfrm>
          <a:prstGeom prst="rect">
            <a:avLst/>
          </a:prstGeom>
        </p:spPr>
      </p:pic>
      <p:sp>
        <p:nvSpPr>
          <p:cNvPr id="67" name="Shape 49"/>
          <p:cNvSpPr/>
          <p:nvPr/>
        </p:nvSpPr>
        <p:spPr>
          <a:xfrm>
            <a:off x="476402" y="5511089"/>
            <a:ext cx="7048195" cy="800100"/>
          </a:xfrm>
          <a:prstGeom prst="roundRect">
            <a:avLst>
              <a:gd name="adj" fmla="val 32653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  <a:effectLst>
            <a:outerShdw blurRad="114300" dist="38100" dir="16200000" algn="bl" rotWithShape="0">
              <a:srgbClr val="3B82F6">
                <a:alpha val="10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8" name="Shape 50"/>
          <p:cNvSpPr/>
          <p:nvPr/>
        </p:nvSpPr>
        <p:spPr>
          <a:xfrm>
            <a:off x="476402" y="5511089"/>
            <a:ext cx="9144" cy="800100"/>
          </a:xfrm>
          <a:prstGeom prst="roundRect">
            <a:avLst>
              <a:gd name="adj" fmla="val 2857143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9" name="Shape 51"/>
          <p:cNvSpPr/>
          <p:nvPr/>
        </p:nvSpPr>
        <p:spPr>
          <a:xfrm>
            <a:off x="676656" y="5653735"/>
            <a:ext cx="362102" cy="362102"/>
          </a:xfrm>
          <a:prstGeom prst="roundRect">
            <a:avLst>
              <a:gd name="adj" fmla="val 132908"/>
            </a:avLst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0" name="Image 16" descr="preencoded.png"/>
          <p:cNvPicPr>
            <a:picLocks noChangeAspect="1"/>
          </p:cNvPicPr>
          <p:nvPr/>
        </p:nvPicPr>
        <p:blipFill>
          <a:blip r:embed="rId8"/>
          <a:srcRect t="-100" b="-100"/>
          <a:stretch/>
        </p:blipFill>
        <p:spPr>
          <a:xfrm>
            <a:off x="800100" y="5758891"/>
            <a:ext cx="114300" cy="152705"/>
          </a:xfrm>
          <a:prstGeom prst="rect">
            <a:avLst/>
          </a:prstGeom>
        </p:spPr>
      </p:pic>
      <p:sp>
        <p:nvSpPr>
          <p:cNvPr id="71" name="Text 52"/>
          <p:cNvSpPr txBox="1"/>
          <p:nvPr/>
        </p:nvSpPr>
        <p:spPr>
          <a:xfrm>
            <a:off x="1181405" y="5653735"/>
            <a:ext cx="3391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시연 데이터 품질</a:t>
            </a:r>
            <a:endParaRPr lang="en-US" sz="1200" dirty="0">
              <a:latin typeface="+mn-ea"/>
            </a:endParaRPr>
          </a:p>
        </p:txBody>
      </p:sp>
      <p:sp>
        <p:nvSpPr>
          <p:cNvPr id="72" name="Shape 53"/>
          <p:cNvSpPr/>
          <p:nvPr/>
        </p:nvSpPr>
        <p:spPr>
          <a:xfrm>
            <a:off x="1181404" y="5939942"/>
            <a:ext cx="994753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3" name="Text 54"/>
          <p:cNvSpPr txBox="1"/>
          <p:nvPr/>
        </p:nvSpPr>
        <p:spPr>
          <a:xfrm>
            <a:off x="1334110" y="5939942"/>
            <a:ext cx="9130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국적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연락처</a:t>
            </a:r>
            <a:endParaRPr lang="en-US" sz="900" dirty="0">
              <a:latin typeface="+mn-ea"/>
            </a:endParaRPr>
          </a:p>
        </p:txBody>
      </p:sp>
      <p:pic>
        <p:nvPicPr>
          <p:cNvPr id="74" name="Image 17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1257300" y="6011266"/>
            <a:ext cx="81747" cy="85954"/>
          </a:xfrm>
          <a:prstGeom prst="rect">
            <a:avLst/>
          </a:prstGeom>
        </p:spPr>
      </p:pic>
      <p:sp>
        <p:nvSpPr>
          <p:cNvPr id="75" name="Shape 55"/>
          <p:cNvSpPr/>
          <p:nvPr/>
        </p:nvSpPr>
        <p:spPr>
          <a:xfrm>
            <a:off x="2217058" y="5939942"/>
            <a:ext cx="1077486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6" name="Text 56"/>
          <p:cNvSpPr txBox="1"/>
          <p:nvPr/>
        </p:nvSpPr>
        <p:spPr>
          <a:xfrm>
            <a:off x="2369762" y="5939942"/>
            <a:ext cx="99967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검색 기준</a:t>
            </a:r>
            <a:endParaRPr lang="en-US" sz="900" dirty="0">
              <a:latin typeface="+mn-ea"/>
            </a:endParaRPr>
          </a:p>
        </p:txBody>
      </p:sp>
      <p:pic>
        <p:nvPicPr>
          <p:cNvPr id="77" name="Image 18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2293867" y="6011266"/>
            <a:ext cx="81747" cy="85954"/>
          </a:xfrm>
          <a:prstGeom prst="rect">
            <a:avLst/>
          </a:prstGeom>
        </p:spPr>
      </p:pic>
      <p:sp>
        <p:nvSpPr>
          <p:cNvPr id="78" name="Shape 57"/>
          <p:cNvSpPr/>
          <p:nvPr/>
        </p:nvSpPr>
        <p:spPr>
          <a:xfrm>
            <a:off x="3326776" y="5939942"/>
            <a:ext cx="1333561" cy="228600"/>
          </a:xfrm>
          <a:prstGeom prst="roundRect">
            <a:avLst>
              <a:gd name="adj" fmla="val 133333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9" name="Text 58"/>
          <p:cNvSpPr txBox="1"/>
          <p:nvPr/>
        </p:nvSpPr>
        <p:spPr>
          <a:xfrm>
            <a:off x="3479481" y="5939942"/>
            <a:ext cx="1251813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25400" rIns="76200" bIns="2540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 상세 팝업</a:t>
            </a:r>
            <a:endParaRPr lang="en-US" sz="900" dirty="0">
              <a:latin typeface="+mn-ea"/>
            </a:endParaRPr>
          </a:p>
        </p:txBody>
      </p:sp>
      <p:pic>
        <p:nvPicPr>
          <p:cNvPr id="80" name="Image 19" descr="preencoded.png"/>
          <p:cNvPicPr>
            <a:picLocks noChangeAspect="1"/>
          </p:cNvPicPr>
          <p:nvPr/>
        </p:nvPicPr>
        <p:blipFill>
          <a:blip r:embed="rId4"/>
          <a:srcRect l="-455" r="-455"/>
          <a:stretch/>
        </p:blipFill>
        <p:spPr>
          <a:xfrm>
            <a:off x="3402672" y="6011266"/>
            <a:ext cx="81747" cy="85954"/>
          </a:xfrm>
          <a:prstGeom prst="rect">
            <a:avLst/>
          </a:prstGeom>
        </p:spPr>
      </p:pic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AF0272A2-53B0-6538-2F52-8021CEF999F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114" name="Text 8">
            <a:extLst>
              <a:ext uri="{FF2B5EF4-FFF2-40B4-BE49-F238E27FC236}">
                <a16:creationId xmlns:a16="http://schemas.microsoft.com/office/drawing/2014/main" id="{9C7ACBF3-EF6D-C1AB-3A3B-4ECD32A1FE93}"/>
              </a:ext>
            </a:extLst>
          </p:cNvPr>
          <p:cNvSpPr txBox="1"/>
          <p:nvPr/>
        </p:nvSpPr>
        <p:spPr>
          <a:xfrm>
            <a:off x="562356" y="1095451"/>
            <a:ext cx="767648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투숙객 상세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등급 관리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등급 변동 이력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개인정보 상세 열람 기준을 고객 데이터 중심으로 관리</a:t>
            </a:r>
          </a:p>
        </p:txBody>
      </p:sp>
      <p:sp>
        <p:nvSpPr>
          <p:cNvPr id="115" name="CRM 운영 패널 배경"/>
          <p:cNvSpPr txBox="1"/>
          <p:nvPr/>
        </p:nvSpPr>
        <p:spPr>
          <a:xfrm>
            <a:off x="8000389" y="1834285"/>
            <a:ext cx="3429915" cy="4476903"/>
          </a:xfrm>
          <a:prstGeom prst="roundRect">
            <a:avLst>
              <a:gd name="adj" fmla="val 7293"/>
            </a:avLst>
          </a:prstGeom>
          <a:solidFill>
            <a:srgbClr val="F8FAFC"/>
          </a:solidFill>
          <a:ln w="9525">
            <a:solidFill>
              <a:srgbClr val="D8E2F0"/>
            </a:solidFill>
          </a:ln>
        </p:spPr>
        <p:txBody>
          <a:bodyPr wrap="square" lIns="0" tIns="0" rIns="0" bIns="0" anchor="t"/>
          <a:lstStyle/>
          <a:p>
            <a:endParaRPr/>
          </a:p>
        </p:txBody>
      </p:sp>
      <p:sp>
        <p:nvSpPr>
          <p:cNvPr id="116" name="CRM 운영 패널 제목"/>
          <p:cNvSpPr txBox="1"/>
          <p:nvPr/>
        </p:nvSpPr>
        <p:spPr>
          <a:xfrm>
            <a:off x="8238515" y="2053361"/>
            <a:ext cx="2333625" cy="285674"/>
          </a:xfrm>
          <a:prstGeom prst="roundRect">
            <a:avLst/>
          </a:prstGeom>
          <a:noFill/>
          <a:ln>
            <a:noFill/>
          </a:ln>
        </p:spPr>
        <p:txBody>
          <a:bodyPr wrap="square" lIns="76200" tIns="50800" rIns="76200" bIns="50800" anchor="t"/>
          <a:lstStyle/>
          <a:p>
            <a:r>
              <a:rPr lang="ko-KR" sz="150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고객 정보 운영 흐름</a:t>
            </a:r>
            <a:endParaRPr lang="ko-KR" sz="1500" dirty="0"/>
          </a:p>
        </p:txBody>
      </p:sp>
      <p:sp>
        <p:nvSpPr>
          <p:cNvPr id="117" name="CRM 운영 패널 번호 01"/>
          <p:cNvSpPr txBox="1"/>
          <p:nvPr/>
        </p:nvSpPr>
        <p:spPr>
          <a:xfrm>
            <a:off x="8238515" y="2994065"/>
            <a:ext cx="323850" cy="323850"/>
          </a:xfrm>
          <a:prstGeom prst="ellipse">
            <a:avLst/>
          </a:prstGeom>
          <a:solidFill>
            <a:srgbClr val="3B82F6"/>
          </a:solidFill>
          <a:ln w="9525">
            <a:solidFill>
              <a:srgbClr val="3B82F6"/>
            </a:solidFill>
          </a:ln>
        </p:spPr>
        <p:txBody>
          <a:bodyPr wrap="square" lIns="0" tIns="0" rIns="0" bIns="0" anchor="ctr"/>
          <a:lstStyle/>
          <a:p>
            <a:r>
              <a:rPr lang="ko-KR"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01</a:t>
            </a:r>
            <a:endParaRPr lang="ko-KR" sz="1050"/>
          </a:p>
        </p:txBody>
      </p:sp>
      <p:sp>
        <p:nvSpPr>
          <p:cNvPr id="118" name="CRM 운영 패널 항목 01"/>
          <p:cNvSpPr txBox="1"/>
          <p:nvPr/>
        </p:nvSpPr>
        <p:spPr>
          <a:xfrm>
            <a:off x="8638565" y="2955965"/>
            <a:ext cx="2500490" cy="55245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ko-KR" sz="118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고객 상세 확인</a:t>
            </a:r>
            <a:endParaRPr lang="ko-KR" sz="1180"/>
          </a:p>
          <a:p>
            <a:r>
              <a:rPr lang="ko-KR" sz="90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목록은 최소 정보만 노출하고 연락처·특이사항은 상세 화면에서 확인</a:t>
            </a:r>
            <a:endParaRPr lang="ko-KR" sz="900"/>
          </a:p>
        </p:txBody>
      </p:sp>
      <p:sp>
        <p:nvSpPr>
          <p:cNvPr id="119" name="CRM 운영 패널 번호 02"/>
          <p:cNvSpPr txBox="1"/>
          <p:nvPr/>
        </p:nvSpPr>
        <p:spPr>
          <a:xfrm>
            <a:off x="8238515" y="3860929"/>
            <a:ext cx="323850" cy="323850"/>
          </a:xfrm>
          <a:prstGeom prst="ellipse">
            <a:avLst/>
          </a:prstGeom>
          <a:solidFill>
            <a:srgbClr val="3B82F6"/>
          </a:solidFill>
          <a:ln w="9525">
            <a:solidFill>
              <a:srgbClr val="3B82F6"/>
            </a:solidFill>
          </a:ln>
        </p:spPr>
        <p:txBody>
          <a:bodyPr wrap="square" lIns="0" tIns="0" rIns="0" bIns="0" anchor="ctr"/>
          <a:lstStyle/>
          <a:p>
            <a:r>
              <a:rPr lang="ko-KR"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02</a:t>
            </a:r>
            <a:endParaRPr lang="ko-KR" sz="1050"/>
          </a:p>
        </p:txBody>
      </p:sp>
      <p:sp>
        <p:nvSpPr>
          <p:cNvPr id="120" name="CRM 운영 패널 항목 02"/>
          <p:cNvSpPr txBox="1"/>
          <p:nvPr/>
        </p:nvSpPr>
        <p:spPr>
          <a:xfrm>
            <a:off x="8638565" y="3822829"/>
            <a:ext cx="2500490" cy="55245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ko-KR" sz="1180" b="1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멤버십 관리</a:t>
            </a:r>
            <a:endParaRPr lang="ko-KR" sz="1180"/>
          </a:p>
          <a:p>
            <a:r>
              <a:rPr lang="ko-KR" sz="90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투숙 이력과 등급 기준을 바탕으로 등급 변경 사유와 담당자를 기록</a:t>
            </a:r>
            <a:endParaRPr lang="ko-KR" sz="900"/>
          </a:p>
        </p:txBody>
      </p:sp>
      <p:sp>
        <p:nvSpPr>
          <p:cNvPr id="121" name="CRM 운영 패널 번호 03"/>
          <p:cNvSpPr txBox="1"/>
          <p:nvPr/>
        </p:nvSpPr>
        <p:spPr>
          <a:xfrm>
            <a:off x="8238515" y="4759071"/>
            <a:ext cx="323850" cy="323850"/>
          </a:xfrm>
          <a:prstGeom prst="ellipse">
            <a:avLst/>
          </a:prstGeom>
          <a:solidFill>
            <a:srgbClr val="3B82F6"/>
          </a:solidFill>
          <a:ln w="9525">
            <a:solidFill>
              <a:srgbClr val="3B82F6"/>
            </a:solidFill>
          </a:ln>
        </p:spPr>
        <p:txBody>
          <a:bodyPr wrap="square" lIns="0" tIns="0" rIns="0" bIns="0" anchor="ctr"/>
          <a:lstStyle/>
          <a:p>
            <a:r>
              <a:rPr lang="ko-KR" sz="105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03</a:t>
            </a:r>
            <a:endParaRPr lang="ko-KR" sz="1050"/>
          </a:p>
        </p:txBody>
      </p:sp>
      <p:sp>
        <p:nvSpPr>
          <p:cNvPr id="122" name="CRM 운영 패널 항목 03"/>
          <p:cNvSpPr txBox="1"/>
          <p:nvPr/>
        </p:nvSpPr>
        <p:spPr>
          <a:xfrm>
            <a:off x="8638565" y="4720971"/>
            <a:ext cx="2500490" cy="552450"/>
          </a:xfrm>
          <a:prstGeom prst="roundRect">
            <a:avLst/>
          </a:prstGeom>
          <a:noFill/>
          <a:ln>
            <a:noFill/>
          </a:ln>
        </p:spPr>
        <p:txBody>
          <a:bodyPr wrap="square" lIns="0" tIns="0" rIns="0" bIns="0" anchor="t"/>
          <a:lstStyle/>
          <a:p>
            <a:r>
              <a:rPr lang="ko-KR" sz="1180" b="1" dirty="0">
                <a:solidFill>
                  <a:srgbClr val="111827"/>
                </a:solidFill>
                <a:latin typeface="맑은 고딕"/>
                <a:ea typeface="맑은 고딕"/>
                <a:cs typeface="맑은 고딕"/>
              </a:rPr>
              <a:t>개인정보 보호</a:t>
            </a:r>
            <a:endParaRPr lang="ko-KR" sz="1180" dirty="0"/>
          </a:p>
          <a:p>
            <a:r>
              <a:rPr lang="ko-KR" sz="900" dirty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상세 열람과 엑셀 다운로드는 </a:t>
            </a:r>
            <a:r>
              <a:rPr lang="ko-KR" sz="900" dirty="0" err="1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직원·시간·대상</a:t>
            </a:r>
            <a:r>
              <a:rPr lang="ko-KR" sz="900" dirty="0">
                <a:solidFill>
                  <a:srgbClr val="64748B"/>
                </a:solidFill>
                <a:latin typeface="맑은 고딕"/>
                <a:ea typeface="맑은 고딕"/>
                <a:cs typeface="맑은 고딕"/>
              </a:rPr>
              <a:t> 고객 기준으로 감사 로그에 기록</a:t>
            </a:r>
            <a:endParaRPr lang="ko-KR" sz="900" dirty="0"/>
          </a:p>
        </p:txBody>
      </p:sp>
      <p:sp>
        <p:nvSpPr>
          <p:cNvPr id="123" name="CRM 운영 패널 강조 문구"/>
          <p:cNvSpPr txBox="1"/>
          <p:nvPr/>
        </p:nvSpPr>
        <p:spPr>
          <a:xfrm>
            <a:off x="8238515" y="5464047"/>
            <a:ext cx="3029849" cy="607976"/>
          </a:xfrm>
          <a:prstGeom prst="roundRect">
            <a:avLst/>
          </a:prstGeom>
          <a:solidFill>
            <a:srgbClr val="ECFDF5"/>
          </a:solidFill>
          <a:ln w="9525">
            <a:solidFill>
              <a:srgbClr val="BBF7D0"/>
            </a:solidFill>
          </a:ln>
        </p:spPr>
        <p:txBody>
          <a:bodyPr wrap="square" lIns="76200" tIns="38100" rIns="76200" bIns="38100" anchor="ctr"/>
          <a:lstStyle/>
          <a:p>
            <a:r>
              <a:rPr lang="ko-KR" sz="900" b="1" dirty="0" err="1">
                <a:solidFill>
                  <a:srgbClr val="0F766E"/>
                </a:solidFill>
                <a:latin typeface="맑은 고딕"/>
                <a:ea typeface="맑은 고딕"/>
                <a:cs typeface="맑은 고딕"/>
              </a:rPr>
              <a:t>CRM은</a:t>
            </a:r>
            <a:r>
              <a:rPr lang="ko-KR" sz="900" b="1" dirty="0">
                <a:solidFill>
                  <a:srgbClr val="0F766E"/>
                </a:solidFill>
                <a:latin typeface="맑은 고딕"/>
                <a:ea typeface="맑은 고딕"/>
                <a:cs typeface="맑은 고딕"/>
              </a:rPr>
              <a:t> 고객 응대와 개인정보 통제를 동시에 담당하는 운영 영역입니다.</a:t>
            </a:r>
            <a:endParaRPr lang="ko-KR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8AE212-1BD8-6CC0-627B-970EC51F2D87}"/>
              </a:ext>
            </a:extLst>
          </p:cNvPr>
          <p:cNvSpPr txBox="1"/>
          <p:nvPr/>
        </p:nvSpPr>
        <p:spPr>
          <a:xfrm>
            <a:off x="8229600" y="2387805"/>
            <a:ext cx="3121891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50" b="0" i="0" u="none" strike="noStrike" kern="1200" cap="none" spc="0" normalizeH="0" baseline="0" noProof="0" dirty="0">
                <a:ln>
                  <a:noFill/>
                </a:ln>
                <a:solidFill>
                  <a:srgbClr val="64748B"/>
                </a:solidFill>
                <a:effectLst/>
                <a:uLnTx/>
                <a:uFillTx/>
                <a:latin typeface="맑은 고딕"/>
                <a:ea typeface="맑은 고딕"/>
                <a:cs typeface="맑은 고딕"/>
              </a:rPr>
              <a:t>응대 품질과 개인정보 통제를 함께 관리</a:t>
            </a:r>
            <a:endParaRPr kumimoji="0" lang="ko-KR" altLang="en-US" sz="9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11000402020202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80614DEE-4501-B8B6-D692-AA24E43CE779}"/>
              </a:ext>
            </a:extLst>
          </p:cNvPr>
          <p:cNvSpPr/>
          <p:nvPr/>
        </p:nvSpPr>
        <p:spPr>
          <a:xfrm rot="5400000">
            <a:off x="9592009" y="3372103"/>
            <a:ext cx="246673" cy="572655"/>
          </a:xfrm>
          <a:prstGeom prst="chevron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화살표: 갈매기형 수장 9">
            <a:extLst>
              <a:ext uri="{FF2B5EF4-FFF2-40B4-BE49-F238E27FC236}">
                <a16:creationId xmlns:a16="http://schemas.microsoft.com/office/drawing/2014/main" id="{F01BDE2B-F1A5-FCBA-624C-6B983D90F489}"/>
              </a:ext>
            </a:extLst>
          </p:cNvPr>
          <p:cNvSpPr/>
          <p:nvPr/>
        </p:nvSpPr>
        <p:spPr>
          <a:xfrm rot="5400000">
            <a:off x="9592009" y="4232638"/>
            <a:ext cx="246673" cy="572655"/>
          </a:xfrm>
          <a:prstGeom prst="chevron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5772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6"/>
          <p:cNvSpPr/>
          <p:nvPr/>
        </p:nvSpPr>
        <p:spPr>
          <a:xfrm>
            <a:off x="381305" y="1775109"/>
            <a:ext cx="11430000" cy="2009851"/>
          </a:xfrm>
          <a:prstGeom prst="roundRect">
            <a:avLst>
              <a:gd name="adj" fmla="val 517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985387" y="2022911"/>
            <a:ext cx="48390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개인정보 열람 이벤트 흐름</a:t>
            </a:r>
            <a:endParaRPr lang="en-US" sz="1500" dirty="0">
              <a:latin typeface="+mn-ea"/>
            </a:endParaRPr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76656" y="2075032"/>
            <a:ext cx="190195" cy="190195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398" b="-398"/>
          <a:stretch/>
        </p:blipFill>
        <p:spPr>
          <a:xfrm>
            <a:off x="1152144" y="2784607"/>
            <a:ext cx="9887407" cy="384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6048" y="4229100"/>
            <a:ext cx="43059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5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주요 보안 관리 포인트</a:t>
            </a:r>
            <a:endParaRPr lang="en-US" sz="1500" dirty="0">
              <a:latin typeface="+mn-ea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1305" y="4281221"/>
            <a:ext cx="237744" cy="19019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381305" y="4657954"/>
            <a:ext cx="2714854" cy="1629239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0"/>
          <p:cNvSpPr/>
          <p:nvPr/>
        </p:nvSpPr>
        <p:spPr>
          <a:xfrm>
            <a:off x="381305" y="4657954"/>
            <a:ext cx="9144" cy="1629239"/>
          </a:xfrm>
          <a:prstGeom prst="roundRect">
            <a:avLst>
              <a:gd name="adj" fmla="val 104347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1"/>
          <p:cNvSpPr txBox="1"/>
          <p:nvPr/>
        </p:nvSpPr>
        <p:spPr>
          <a:xfrm>
            <a:off x="580644" y="4858207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역할</a:t>
            </a:r>
            <a:r>
              <a:rPr lang="en-US" altLang="ko-KR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권한 관리</a:t>
            </a:r>
            <a:endParaRPr lang="en-US" sz="1200" dirty="0">
              <a:latin typeface="+mn-ea"/>
            </a:endParaRPr>
          </a:p>
        </p:txBody>
      </p:sp>
      <p:sp>
        <p:nvSpPr>
          <p:cNvPr id="17" name="Shape 12"/>
          <p:cNvSpPr/>
          <p:nvPr/>
        </p:nvSpPr>
        <p:spPr>
          <a:xfrm>
            <a:off x="580644" y="5143500"/>
            <a:ext cx="790956" cy="237744"/>
          </a:xfrm>
          <a:prstGeom prst="roundRect">
            <a:avLst>
              <a:gd name="adj" fmla="val 1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3"/>
          <p:cNvSpPr txBox="1"/>
          <p:nvPr/>
        </p:nvSpPr>
        <p:spPr>
          <a:xfrm>
            <a:off x="580644" y="5143500"/>
            <a:ext cx="848563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RBAC</a:t>
            </a:r>
            <a:endParaRPr lang="en-US" sz="800" dirty="0">
              <a:latin typeface="+mn-ea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580644" y="5490972"/>
            <a:ext cx="23911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직원 역할별 메뉴 접근 권한을 분리하고 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Admin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은 단일 계정 기준으로 관리합니다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3286354" y="4657954"/>
            <a:ext cx="2714854" cy="1629239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6"/>
          <p:cNvSpPr/>
          <p:nvPr/>
        </p:nvSpPr>
        <p:spPr>
          <a:xfrm>
            <a:off x="3286354" y="4657954"/>
            <a:ext cx="9144" cy="1629239"/>
          </a:xfrm>
          <a:prstGeom prst="roundRect">
            <a:avLst>
              <a:gd name="adj" fmla="val 1043478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7"/>
          <p:cNvSpPr txBox="1"/>
          <p:nvPr/>
        </p:nvSpPr>
        <p:spPr>
          <a:xfrm>
            <a:off x="3486607" y="4858207"/>
            <a:ext cx="21295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개인정보 열람 로그</a:t>
            </a:r>
            <a:endParaRPr lang="en-US" sz="1200" dirty="0">
              <a:latin typeface="+mn-ea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3486607" y="5143500"/>
            <a:ext cx="819302" cy="237744"/>
          </a:xfrm>
          <a:prstGeom prst="roundRect">
            <a:avLst>
              <a:gd name="adj" fmla="val 1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19"/>
          <p:cNvSpPr txBox="1"/>
          <p:nvPr/>
        </p:nvSpPr>
        <p:spPr>
          <a:xfrm>
            <a:off x="3486607" y="5143500"/>
            <a:ext cx="87691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Audit</a:t>
            </a:r>
            <a:endParaRPr lang="en-US" sz="800" dirty="0">
              <a:latin typeface="+mn-ea"/>
            </a:endParaRPr>
          </a:p>
        </p:txBody>
      </p:sp>
      <p:sp>
        <p:nvSpPr>
          <p:cNvPr id="25" name="Text 20"/>
          <p:cNvSpPr txBox="1"/>
          <p:nvPr/>
        </p:nvSpPr>
        <p:spPr>
          <a:xfrm>
            <a:off x="3486607" y="5490972"/>
            <a:ext cx="23911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 연락처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특이사항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신분증 확인처럼 민감 정보 열람 시 사용자와 시각을 기록합니다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6191402" y="4657954"/>
            <a:ext cx="2714854" cy="1629239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Shape 22"/>
          <p:cNvSpPr/>
          <p:nvPr/>
        </p:nvSpPr>
        <p:spPr>
          <a:xfrm>
            <a:off x="6191402" y="4657954"/>
            <a:ext cx="9144" cy="1629239"/>
          </a:xfrm>
          <a:prstGeom prst="roundRect">
            <a:avLst>
              <a:gd name="adj" fmla="val 1043478"/>
            </a:avLst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 txBox="1"/>
          <p:nvPr/>
        </p:nvSpPr>
        <p:spPr>
          <a:xfrm>
            <a:off x="6391656" y="4858207"/>
            <a:ext cx="14511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다운로드 이력</a:t>
            </a:r>
            <a:endParaRPr lang="en-US" sz="1200" dirty="0">
              <a:latin typeface="+mn-ea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6391656" y="5143500"/>
            <a:ext cx="629107" cy="237744"/>
          </a:xfrm>
          <a:prstGeom prst="roundRect">
            <a:avLst>
              <a:gd name="adj" fmla="val 1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5"/>
          <p:cNvSpPr txBox="1"/>
          <p:nvPr/>
        </p:nvSpPr>
        <p:spPr>
          <a:xfrm>
            <a:off x="6391656" y="5143500"/>
            <a:ext cx="685800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Export</a:t>
            </a:r>
            <a:endParaRPr lang="en-US" sz="800" dirty="0">
              <a:latin typeface="+mn-ea"/>
            </a:endParaRPr>
          </a:p>
        </p:txBody>
      </p:sp>
      <p:sp>
        <p:nvSpPr>
          <p:cNvPr id="31" name="Text 26"/>
          <p:cNvSpPr txBox="1"/>
          <p:nvPr/>
        </p:nvSpPr>
        <p:spPr>
          <a:xfrm>
            <a:off x="6391656" y="5490972"/>
            <a:ext cx="23911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투숙객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예약 엑셀 다운로드는 별도 이벤트로 남겨 유출 추적 가능성을 확보합니다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9096451" y="4657954"/>
            <a:ext cx="2714854" cy="1629239"/>
          </a:xfrm>
          <a:prstGeom prst="roundRect">
            <a:avLst>
              <a:gd name="adj" fmla="val 4355"/>
            </a:avLst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Shape 28"/>
          <p:cNvSpPr/>
          <p:nvPr/>
        </p:nvSpPr>
        <p:spPr>
          <a:xfrm>
            <a:off x="9096451" y="4657954"/>
            <a:ext cx="9144" cy="1629239"/>
          </a:xfrm>
          <a:prstGeom prst="roundRect">
            <a:avLst>
              <a:gd name="adj" fmla="val 1043478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Text 29"/>
          <p:cNvSpPr txBox="1"/>
          <p:nvPr/>
        </p:nvSpPr>
        <p:spPr>
          <a:xfrm>
            <a:off x="9296705" y="4858207"/>
            <a:ext cx="16632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외부 </a:t>
            </a:r>
            <a:r>
              <a:rPr 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API </a:t>
            </a:r>
            <a:r>
              <a:rPr lang="ko-KR" altLang="en-US" sz="12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보안</a:t>
            </a:r>
            <a:endParaRPr lang="en-US" sz="1200" dirty="0">
              <a:latin typeface="+mn-ea"/>
            </a:endParaRPr>
          </a:p>
        </p:txBody>
      </p:sp>
      <p:sp>
        <p:nvSpPr>
          <p:cNvPr id="35" name="Shape 30"/>
          <p:cNvSpPr/>
          <p:nvPr/>
        </p:nvSpPr>
        <p:spPr>
          <a:xfrm>
            <a:off x="9296705" y="5143500"/>
            <a:ext cx="619049" cy="237744"/>
          </a:xfrm>
          <a:prstGeom prst="roundRect">
            <a:avLst>
              <a:gd name="adj" fmla="val 184615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6" name="Text 31"/>
          <p:cNvSpPr txBox="1"/>
          <p:nvPr/>
        </p:nvSpPr>
        <p:spPr>
          <a:xfrm>
            <a:off x="9296705" y="5143500"/>
            <a:ext cx="6766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76200" tIns="38100" rIns="76200" bIns="38100" rtlCol="0" anchor="ctr"/>
          <a:lstStyle/>
          <a:p>
            <a:pPr marL="0" indent="0" algn="l">
              <a:buNone/>
            </a:pPr>
            <a:r>
              <a:rPr lang="en-US" sz="800" b="1">
                <a:solidFill>
                  <a:srgbClr val="475569"/>
                </a:solidFill>
                <a:latin typeface="+mn-ea"/>
                <a:cs typeface="Noto Sans KR" pitchFamily="34" charset="-120"/>
              </a:rPr>
              <a:t>API</a:t>
            </a:r>
            <a:endParaRPr lang="en-US" sz="800" dirty="0">
              <a:latin typeface="+mn-ea"/>
            </a:endParaRPr>
          </a:p>
        </p:txBody>
      </p:sp>
      <p:sp>
        <p:nvSpPr>
          <p:cNvPr id="37" name="Text 32"/>
          <p:cNvSpPr txBox="1"/>
          <p:nvPr/>
        </p:nvSpPr>
        <p:spPr>
          <a:xfrm>
            <a:off x="9296705" y="5490972"/>
            <a:ext cx="2391156" cy="428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연동 시 입력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출력 기준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실패 재시도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마스킹 정책을 백엔드 계약에 반영합니다</a:t>
            </a:r>
            <a:r>
              <a:rPr lang="en-US" altLang="ko-KR" sz="1000">
                <a:solidFill>
                  <a:srgbClr val="64748B"/>
                </a:solidFill>
                <a:latin typeface="+mn-ea"/>
                <a:cs typeface="Noto Sans KR" pitchFamily="34" charset="-120"/>
              </a:rPr>
              <a:t>.</a:t>
            </a:r>
            <a:endParaRPr lang="en-US" sz="1000" dirty="0">
              <a:latin typeface="+mn-ea"/>
            </a:endParaRPr>
          </a:p>
        </p:txBody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7046" y="2499314"/>
            <a:ext cx="571500" cy="571500"/>
          </a:xfrm>
          <a:prstGeom prst="rect">
            <a:avLst/>
          </a:prstGeom>
        </p:spPr>
      </p:pic>
      <p:pic>
        <p:nvPicPr>
          <p:cNvPr id="39" name="Image 4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1242670" y="2670307"/>
            <a:ext cx="200254" cy="228600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1018642" y="3165911"/>
            <a:ext cx="654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직원 접근</a:t>
            </a:r>
            <a:endParaRPr lang="en-US" sz="1000" dirty="0">
              <a:latin typeface="+mn-ea"/>
            </a:endParaRPr>
          </a:p>
        </p:txBody>
      </p:sp>
      <p:sp>
        <p:nvSpPr>
          <p:cNvPr id="41" name="Text 34"/>
          <p:cNvSpPr txBox="1"/>
          <p:nvPr/>
        </p:nvSpPr>
        <p:spPr>
          <a:xfrm>
            <a:off x="919886" y="3357935"/>
            <a:ext cx="85313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권한 확인</a:t>
            </a:r>
            <a:endParaRPr lang="en-US" sz="900" dirty="0">
              <a:latin typeface="+mn-ea"/>
            </a:endParaRPr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958084" y="2499314"/>
            <a:ext cx="571500" cy="571500"/>
          </a:xfrm>
          <a:prstGeom prst="rect">
            <a:avLst/>
          </a:prstGeom>
        </p:spPr>
      </p:pic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8"/>
          <a:srcRect l="-133" r="-133"/>
          <a:stretch/>
        </p:blipFill>
        <p:spPr>
          <a:xfrm>
            <a:off x="3158338" y="2670307"/>
            <a:ext cx="171907" cy="22860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2937967" y="3165911"/>
            <a:ext cx="61722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고객 상세</a:t>
            </a:r>
            <a:endParaRPr lang="en-US" sz="1000" dirty="0">
              <a:latin typeface="+mn-ea"/>
            </a:endParaRPr>
          </a:p>
        </p:txBody>
      </p:sp>
      <p:sp>
        <p:nvSpPr>
          <p:cNvPr id="45" name="Text 36"/>
          <p:cNvSpPr txBox="1"/>
          <p:nvPr/>
        </p:nvSpPr>
        <p:spPr>
          <a:xfrm>
            <a:off x="2776118" y="3357935"/>
            <a:ext cx="9409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연락처 열람</a:t>
            </a:r>
            <a:endParaRPr lang="en-US" sz="900" dirty="0">
              <a:latin typeface="+mn-ea"/>
            </a:endParaRPr>
          </a:p>
        </p:txBody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860036" y="2499314"/>
            <a:ext cx="571500" cy="571500"/>
          </a:xfrm>
          <a:prstGeom prst="rect">
            <a:avLst/>
          </a:prstGeom>
        </p:spPr>
      </p:pic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031029" y="2670307"/>
            <a:ext cx="228600" cy="22860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4820717" y="3165911"/>
            <a:ext cx="654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감사 로그</a:t>
            </a:r>
            <a:endParaRPr lang="en-US" sz="1000" dirty="0">
              <a:latin typeface="+mn-ea"/>
            </a:endParaRPr>
          </a:p>
        </p:txBody>
      </p:sp>
      <p:sp>
        <p:nvSpPr>
          <p:cNvPr id="49" name="Text 38"/>
          <p:cNvSpPr txBox="1"/>
          <p:nvPr/>
        </p:nvSpPr>
        <p:spPr>
          <a:xfrm>
            <a:off x="4766767" y="3357935"/>
            <a:ext cx="7626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사용자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시각</a:t>
            </a:r>
            <a:endParaRPr lang="en-US" sz="900" dirty="0">
              <a:latin typeface="+mn-ea"/>
            </a:endParaRPr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761074" y="2499314"/>
            <a:ext cx="571500" cy="571500"/>
          </a:xfrm>
          <a:prstGeom prst="rect">
            <a:avLst/>
          </a:prstGeom>
        </p:spPr>
      </p:pic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6932066" y="2670307"/>
            <a:ext cx="228600" cy="228600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6719011" y="3165911"/>
            <a:ext cx="655625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엑셀 저장</a:t>
            </a:r>
            <a:endParaRPr lang="en-US" sz="1000" dirty="0">
              <a:latin typeface="+mn-ea"/>
            </a:endParaRPr>
          </a:p>
        </p:txBody>
      </p:sp>
      <p:sp>
        <p:nvSpPr>
          <p:cNvPr id="53" name="Text 40"/>
          <p:cNvSpPr txBox="1"/>
          <p:nvPr/>
        </p:nvSpPr>
        <p:spPr>
          <a:xfrm>
            <a:off x="6685178" y="3357935"/>
            <a:ext cx="7242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이력 기록</a:t>
            </a:r>
            <a:endParaRPr lang="en-US" sz="900" dirty="0">
              <a:latin typeface="+mn-ea"/>
            </a:endParaRPr>
          </a:p>
        </p:txBody>
      </p:sp>
      <p:pic>
        <p:nvPicPr>
          <p:cNvPr id="54" name="Image 11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662111" y="2499314"/>
            <a:ext cx="571500" cy="571500"/>
          </a:xfrm>
          <a:prstGeom prst="rect">
            <a:avLst/>
          </a:prstGeom>
        </p:spPr>
      </p:pic>
      <p:pic>
        <p:nvPicPr>
          <p:cNvPr id="55" name="Image 12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833104" y="2670307"/>
            <a:ext cx="228600" cy="228600"/>
          </a:xfrm>
          <a:prstGeom prst="rect">
            <a:avLst/>
          </a:prstGeom>
        </p:spPr>
      </p:pic>
      <p:sp>
        <p:nvSpPr>
          <p:cNvPr id="56" name="Text 41"/>
          <p:cNvSpPr txBox="1"/>
          <p:nvPr/>
        </p:nvSpPr>
        <p:spPr>
          <a:xfrm>
            <a:off x="8622792" y="3165911"/>
            <a:ext cx="654710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Admin</a:t>
            </a:r>
            <a:endParaRPr lang="en-US" sz="1000" dirty="0">
              <a:latin typeface="+mn-ea"/>
            </a:endParaRPr>
          </a:p>
        </p:txBody>
      </p:sp>
      <p:sp>
        <p:nvSpPr>
          <p:cNvPr id="57" name="Text 42"/>
          <p:cNvSpPr txBox="1"/>
          <p:nvPr/>
        </p:nvSpPr>
        <p:spPr>
          <a:xfrm>
            <a:off x="8631022" y="3357935"/>
            <a:ext cx="64008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감사 확인</a:t>
            </a:r>
            <a:endParaRPr lang="en-US" sz="900" dirty="0">
              <a:latin typeface="+mn-ea"/>
            </a:endParaRPr>
          </a:p>
        </p:txBody>
      </p:sp>
      <p:pic>
        <p:nvPicPr>
          <p:cNvPr id="58" name="Image 1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63149" y="2499314"/>
            <a:ext cx="571500" cy="571500"/>
          </a:xfrm>
          <a:prstGeom prst="rect">
            <a:avLst/>
          </a:prstGeom>
        </p:spPr>
      </p:pic>
      <p:pic>
        <p:nvPicPr>
          <p:cNvPr id="59" name="Image 14" descr="preencoded.png"/>
          <p:cNvPicPr>
            <a:picLocks noChangeAspect="1"/>
          </p:cNvPicPr>
          <p:nvPr/>
        </p:nvPicPr>
        <p:blipFill>
          <a:blip r:embed="rId12"/>
          <a:srcRect l="-133" r="-133"/>
          <a:stretch/>
        </p:blipFill>
        <p:spPr>
          <a:xfrm>
            <a:off x="10763402" y="2670307"/>
            <a:ext cx="171907" cy="228600"/>
          </a:xfrm>
          <a:prstGeom prst="rect">
            <a:avLst/>
          </a:prstGeom>
        </p:spPr>
      </p:pic>
      <p:sp>
        <p:nvSpPr>
          <p:cNvPr id="60" name="Text 43"/>
          <p:cNvSpPr txBox="1"/>
          <p:nvPr/>
        </p:nvSpPr>
        <p:spPr>
          <a:xfrm>
            <a:off x="10383012" y="3165911"/>
            <a:ext cx="939089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1000" b="1">
                <a:solidFill>
                  <a:srgbClr val="1E293B"/>
                </a:solidFill>
                <a:latin typeface="+mn-ea"/>
                <a:cs typeface="Noto Sans KR" pitchFamily="34" charset="-120"/>
              </a:rPr>
              <a:t>보안</a:t>
            </a:r>
            <a:endParaRPr lang="en-US" sz="1000" dirty="0">
              <a:latin typeface="+mn-ea"/>
            </a:endParaRPr>
          </a:p>
        </p:txBody>
      </p:sp>
      <p:sp>
        <p:nvSpPr>
          <p:cNvPr id="61" name="Text 44"/>
          <p:cNvSpPr txBox="1"/>
          <p:nvPr/>
        </p:nvSpPr>
        <p:spPr>
          <a:xfrm>
            <a:off x="10506456" y="3357935"/>
            <a:ext cx="6894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정책 반영</a:t>
            </a:r>
            <a:endParaRPr lang="en-US" sz="900" dirty="0">
              <a:latin typeface="+mn-ea"/>
            </a:endParaRPr>
          </a:p>
        </p:txBody>
      </p:sp>
      <p:sp>
        <p:nvSpPr>
          <p:cNvPr id="63" name="Text 46"/>
          <p:cNvSpPr txBox="1"/>
          <p:nvPr/>
        </p:nvSpPr>
        <p:spPr>
          <a:xfrm>
            <a:off x="381305" y="297730"/>
            <a:ext cx="48774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권한</a:t>
            </a:r>
            <a:r>
              <a:rPr lang="en-US" altLang="ko-KR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24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감사 로그</a:t>
            </a:r>
            <a:endParaRPr lang="en-US" sz="2400" dirty="0">
              <a:latin typeface="+mn-ea"/>
            </a:endParaRPr>
          </a:p>
        </p:txBody>
      </p:sp>
      <p:sp>
        <p:nvSpPr>
          <p:cNvPr id="64" name="Text 47"/>
          <p:cNvSpPr txBox="1"/>
          <p:nvPr/>
        </p:nvSpPr>
        <p:spPr>
          <a:xfrm>
            <a:off x="10462565" y="261246"/>
            <a:ext cx="13542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SECURITY &amp; AUDIT</a:t>
            </a:r>
            <a:endParaRPr lang="en-US" sz="900" dirty="0">
              <a:latin typeface="+mn-ea"/>
            </a:endParaRPr>
          </a:p>
        </p:txBody>
      </p:sp>
      <p:sp>
        <p:nvSpPr>
          <p:cNvPr id="65" name="Text 48"/>
          <p:cNvSpPr txBox="1"/>
          <p:nvPr/>
        </p:nvSpPr>
        <p:spPr>
          <a:xfrm>
            <a:off x="10472623" y="413036"/>
            <a:ext cx="134325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11</a:t>
            </a:r>
            <a:endParaRPr lang="en-US" sz="1800" dirty="0">
              <a:latin typeface="+mn-ea"/>
            </a:endParaRPr>
          </a:p>
        </p:txBody>
      </p:sp>
      <p:pic>
        <p:nvPicPr>
          <p:cNvPr id="68" name="Image 0" descr="preencoded.png">
            <a:extLst>
              <a:ext uri="{FF2B5EF4-FFF2-40B4-BE49-F238E27FC236}">
                <a16:creationId xmlns:a16="http://schemas.microsoft.com/office/drawing/2014/main" id="{561DFDB6-AFAB-230C-D67C-E5008EB11671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69" name="Text 8">
            <a:extLst>
              <a:ext uri="{FF2B5EF4-FFF2-40B4-BE49-F238E27FC236}">
                <a16:creationId xmlns:a16="http://schemas.microsoft.com/office/drawing/2014/main" id="{3EEE5491-2127-4B15-7969-190BB82F64F1}"/>
              </a:ext>
            </a:extLst>
          </p:cNvPr>
          <p:cNvSpPr txBox="1"/>
          <p:nvPr/>
        </p:nvSpPr>
        <p:spPr>
          <a:xfrm>
            <a:off x="562355" y="1095451"/>
            <a:ext cx="7556409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직원 역할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접근 권한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 err="1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어드민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 전용 감사 로그로 개인정보 열람 및 다운로드 이력을 관리</a:t>
            </a:r>
            <a:endParaRPr lang="en-US" altLang="ko-KR" sz="1400" b="1" dirty="0">
              <a:latin typeface="+mj-ea"/>
              <a:ea typeface="+mj-ea"/>
            </a:endParaRPr>
          </a:p>
        </p:txBody>
      </p:sp>
      <p:sp>
        <p:nvSpPr>
          <p:cNvPr id="70" name="Text 11">
            <a:extLst>
              <a:ext uri="{FF2B5EF4-FFF2-40B4-BE49-F238E27FC236}">
                <a16:creationId xmlns:a16="http://schemas.microsoft.com/office/drawing/2014/main" id="{F35C04D9-396F-4992-24D4-EF2584EC2ED8}"/>
              </a:ext>
            </a:extLst>
          </p:cNvPr>
          <p:cNvSpPr txBox="1"/>
          <p:nvPr/>
        </p:nvSpPr>
        <p:spPr>
          <a:xfrm>
            <a:off x="9249156" y="4359203"/>
            <a:ext cx="2514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05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RBAC : Role Based Access Control</a:t>
            </a:r>
            <a:endParaRPr lang="en-US" sz="12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406197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571500" y="6696761"/>
            <a:ext cx="739109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1300" dirty="0">
              <a:latin typeface="+mn-ea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1305" y="1762049"/>
            <a:ext cx="3685946" cy="2095805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381305" y="1762049"/>
            <a:ext cx="47549" cy="2076602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alphaModFix amt="8000"/>
          </a:blip>
          <a:srcRect/>
          <a:stretch/>
        </p:blipFill>
        <p:spPr>
          <a:xfrm>
            <a:off x="3359506" y="2009851"/>
            <a:ext cx="457200" cy="4572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29107" y="2007108"/>
            <a:ext cx="338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운영 표준화</a:t>
            </a:r>
            <a:endParaRPr lang="en-US" sz="1200" dirty="0">
              <a:latin typeface="+mn-ea"/>
            </a:endParaRPr>
          </a:p>
        </p:txBody>
      </p:sp>
      <p:sp>
        <p:nvSpPr>
          <p:cNvPr id="12" name="Text 9"/>
          <p:cNvSpPr txBox="1"/>
          <p:nvPr/>
        </p:nvSpPr>
        <p:spPr>
          <a:xfrm>
            <a:off x="629106" y="2379269"/>
            <a:ext cx="318759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kern="0" spc="-37" dirty="0">
                <a:solidFill>
                  <a:srgbClr val="2563EB"/>
                </a:solidFill>
                <a:latin typeface="+mn-ea"/>
                <a:cs typeface="Noto Sans KR" pitchFamily="34" charset="-120"/>
              </a:rPr>
              <a:t>업무 흐름 통합</a:t>
            </a:r>
            <a:endParaRPr lang="en-US" dirty="0">
              <a:latin typeface="+mn-ea"/>
            </a:endParaRPr>
          </a:p>
        </p:txBody>
      </p:sp>
      <p:sp>
        <p:nvSpPr>
          <p:cNvPr id="13" name="Text 10"/>
          <p:cNvSpPr txBox="1"/>
          <p:nvPr/>
        </p:nvSpPr>
        <p:spPr>
          <a:xfrm>
            <a:off x="838505" y="3192170"/>
            <a:ext cx="3172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1D4ED8"/>
                </a:solidFill>
                <a:latin typeface="+mn-ea"/>
                <a:cs typeface="Noto Sans KR" pitchFamily="34" charset="-120"/>
              </a:rPr>
              <a:t>예약</a:t>
            </a:r>
            <a:r>
              <a:rPr lang="en-US" altLang="ko-KR" sz="1000">
                <a:solidFill>
                  <a:srgbClr val="1D4ED8"/>
                </a:solidFill>
                <a:latin typeface="+mn-ea"/>
                <a:cs typeface="Noto Sans KR" pitchFamily="34" charset="-120"/>
              </a:rPr>
              <a:t>-</a:t>
            </a:r>
            <a:r>
              <a:rPr lang="ko-KR" altLang="en-US" sz="1000">
                <a:solidFill>
                  <a:srgbClr val="1D4ED8"/>
                </a:solidFill>
                <a:latin typeface="+mn-ea"/>
                <a:cs typeface="Noto Sans KR" pitchFamily="34" charset="-120"/>
              </a:rPr>
              <a:t>정산 단일 기준</a:t>
            </a:r>
            <a:endParaRPr lang="en-US" sz="1000" dirty="0">
              <a:latin typeface="+mn-ea"/>
            </a:endParaRPr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29107" y="3218688"/>
            <a:ext cx="133502" cy="13350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629107" y="3426257"/>
            <a:ext cx="3381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프론트</a:t>
            </a:r>
            <a:r>
              <a:rPr lang="en-US" altLang="ko-KR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정산</a:t>
            </a:r>
            <a:r>
              <a:rPr lang="en-US" altLang="ko-KR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, CRM</a:t>
            </a: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이 같은 상태 값을 사용</a:t>
            </a:r>
            <a:endParaRPr lang="en-US" sz="1000" dirty="0">
              <a:latin typeface="+mn-ea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4254703" y="1762049"/>
            <a:ext cx="3685946" cy="2095805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4254703" y="1762049"/>
            <a:ext cx="47549" cy="2076602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>
            <a:alphaModFix amt="8000"/>
          </a:blip>
          <a:srcRect/>
          <a:stretch/>
        </p:blipFill>
        <p:spPr>
          <a:xfrm>
            <a:off x="7347204" y="2009851"/>
            <a:ext cx="342900" cy="4572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502506" y="2007108"/>
            <a:ext cx="338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실시간 현황</a:t>
            </a:r>
            <a:endParaRPr lang="en-US" sz="1200" dirty="0">
              <a:latin typeface="+mn-ea"/>
            </a:endParaRPr>
          </a:p>
        </p:txBody>
      </p:sp>
      <p:sp>
        <p:nvSpPr>
          <p:cNvPr id="20" name="Text 15"/>
          <p:cNvSpPr txBox="1"/>
          <p:nvPr/>
        </p:nvSpPr>
        <p:spPr>
          <a:xfrm>
            <a:off x="4502505" y="2379269"/>
            <a:ext cx="3671129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kern="0" spc="-37" dirty="0">
                <a:solidFill>
                  <a:srgbClr val="059669"/>
                </a:solidFill>
                <a:latin typeface="+mn-ea"/>
                <a:cs typeface="Noto Sans KR" pitchFamily="34" charset="-120"/>
              </a:rPr>
              <a:t>현황 즉시 파악</a:t>
            </a:r>
            <a:endParaRPr lang="en-US" dirty="0">
              <a:latin typeface="+mn-ea"/>
            </a:endParaRPr>
          </a:p>
        </p:txBody>
      </p:sp>
      <p:sp>
        <p:nvSpPr>
          <p:cNvPr id="21" name="Text 16"/>
          <p:cNvSpPr txBox="1"/>
          <p:nvPr/>
        </p:nvSpPr>
        <p:spPr>
          <a:xfrm>
            <a:off x="4711903" y="3192170"/>
            <a:ext cx="3172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047857"/>
                </a:solidFill>
                <a:latin typeface="+mn-ea"/>
                <a:cs typeface="Noto Sans KR" pitchFamily="34" charset="-120"/>
              </a:rPr>
              <a:t>대시보드 기반 운영 판단</a:t>
            </a:r>
            <a:endParaRPr lang="en-US" sz="1000" dirty="0">
              <a:latin typeface="+mn-ea"/>
            </a:endParaRPr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502506" y="3218688"/>
            <a:ext cx="133502" cy="13350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502506" y="3426257"/>
            <a:ext cx="3305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OCC, ADR, RevPAR, </a:t>
            </a: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체크인</a:t>
            </a:r>
            <a:r>
              <a:rPr lang="en-US" altLang="ko-KR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청소 현황 통합</a:t>
            </a:r>
            <a:endParaRPr lang="en-US" sz="1000" dirty="0">
              <a:latin typeface="+mn-ea"/>
            </a:endParaRPr>
          </a:p>
        </p:txBody>
      </p:sp>
      <p:sp>
        <p:nvSpPr>
          <p:cNvPr id="24" name="Shape 18"/>
          <p:cNvSpPr/>
          <p:nvPr/>
        </p:nvSpPr>
        <p:spPr>
          <a:xfrm>
            <a:off x="8128102" y="1762049"/>
            <a:ext cx="3685946" cy="2095805"/>
          </a:xfrm>
          <a:prstGeom prst="roundRect">
            <a:avLst>
              <a:gd name="adj" fmla="val 47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162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19"/>
          <p:cNvSpPr/>
          <p:nvPr/>
        </p:nvSpPr>
        <p:spPr>
          <a:xfrm>
            <a:off x="8128102" y="1762049"/>
            <a:ext cx="47549" cy="2076602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>
            <a:alphaModFix amt="8000"/>
          </a:blip>
          <a:srcRect/>
          <a:stretch/>
        </p:blipFill>
        <p:spPr>
          <a:xfrm>
            <a:off x="10992002" y="2009851"/>
            <a:ext cx="571500" cy="4572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8375904" y="2007108"/>
            <a:ext cx="33814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보안</a:t>
            </a:r>
            <a:r>
              <a:rPr lang="en-US" altLang="ko-KR" sz="12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200" b="1">
                <a:solidFill>
                  <a:srgbClr val="64748B"/>
                </a:solidFill>
                <a:latin typeface="+mn-ea"/>
                <a:cs typeface="Noto Sans KR" pitchFamily="34" charset="-120"/>
              </a:rPr>
              <a:t>감사</a:t>
            </a:r>
            <a:endParaRPr lang="en-US" sz="1200" dirty="0">
              <a:latin typeface="+mn-ea"/>
            </a:endParaRPr>
          </a:p>
        </p:txBody>
      </p:sp>
      <p:sp>
        <p:nvSpPr>
          <p:cNvPr id="28" name="Text 21"/>
          <p:cNvSpPr txBox="1"/>
          <p:nvPr/>
        </p:nvSpPr>
        <p:spPr>
          <a:xfrm>
            <a:off x="8375903" y="2379269"/>
            <a:ext cx="3255265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b="1" kern="0" spc="-37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열람</a:t>
            </a:r>
            <a:r>
              <a:rPr lang="en-US" altLang="ko-KR" b="1" kern="0" spc="-37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b="1" kern="0" spc="-37" dirty="0">
                <a:solidFill>
                  <a:srgbClr val="7C3AED"/>
                </a:solidFill>
                <a:latin typeface="+mn-ea"/>
                <a:cs typeface="Noto Sans KR" pitchFamily="34" charset="-120"/>
              </a:rPr>
              <a:t>다운로드 추적</a:t>
            </a:r>
            <a:endParaRPr lang="en-US" dirty="0">
              <a:latin typeface="+mn-ea"/>
            </a:endParaRPr>
          </a:p>
        </p:txBody>
      </p:sp>
      <p:sp>
        <p:nvSpPr>
          <p:cNvPr id="29" name="Text 22"/>
          <p:cNvSpPr txBox="1"/>
          <p:nvPr/>
        </p:nvSpPr>
        <p:spPr>
          <a:xfrm>
            <a:off x="8585302" y="3192170"/>
            <a:ext cx="31720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>
                <a:solidFill>
                  <a:srgbClr val="6D28D9"/>
                </a:solidFill>
                <a:latin typeface="+mn-ea"/>
                <a:cs typeface="Noto Sans KR" pitchFamily="34" charset="-120"/>
              </a:rPr>
              <a:t>권한 기반 접근 통제</a:t>
            </a:r>
            <a:endParaRPr lang="en-US" sz="1000" dirty="0">
              <a:latin typeface="+mn-ea"/>
            </a:endParaRPr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375904" y="3218688"/>
            <a:ext cx="133502" cy="1335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8375904" y="3426257"/>
            <a:ext cx="33814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altLang="ko-KR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Admin </a:t>
            </a:r>
            <a:r>
              <a:rPr lang="ko-KR" altLang="en-US" sz="1000">
                <a:solidFill>
                  <a:srgbClr val="94A3B8"/>
                </a:solidFill>
                <a:latin typeface="+mn-ea"/>
                <a:cs typeface="Noto Sans KR" pitchFamily="34" charset="-120"/>
              </a:rPr>
              <a:t>전용 감사 로그로 유출 리스크 대응</a:t>
            </a:r>
            <a:endParaRPr lang="en-US" sz="1000" dirty="0">
              <a:latin typeface="+mn-ea"/>
            </a:endParaRPr>
          </a:p>
        </p:txBody>
      </p:sp>
      <p:sp>
        <p:nvSpPr>
          <p:cNvPr id="32" name="Shape 24"/>
          <p:cNvSpPr/>
          <p:nvPr/>
        </p:nvSpPr>
        <p:spPr>
          <a:xfrm>
            <a:off x="381305" y="3993998"/>
            <a:ext cx="2752344" cy="945489"/>
          </a:xfrm>
          <a:prstGeom prst="roundRect">
            <a:avLst>
              <a:gd name="adj" fmla="val 1136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29107" y="4203700"/>
            <a:ext cx="514807" cy="514807"/>
          </a:xfrm>
          <a:prstGeom prst="rect">
            <a:avLst/>
          </a:prstGeom>
        </p:spPr>
      </p:pic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80898" y="4356405"/>
            <a:ext cx="209398" cy="209398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1314907" y="4154322"/>
            <a:ext cx="13578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데이터 연계</a:t>
            </a:r>
            <a:endParaRPr lang="en-US" sz="1200" dirty="0">
              <a:latin typeface="+mn-ea"/>
            </a:endParaRPr>
          </a:p>
        </p:txBody>
      </p:sp>
      <p:sp>
        <p:nvSpPr>
          <p:cNvPr id="36" name="Text 26"/>
          <p:cNvSpPr txBox="1"/>
          <p:nvPr/>
        </p:nvSpPr>
        <p:spPr>
          <a:xfrm>
            <a:off x="1314907" y="4435043"/>
            <a:ext cx="151241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예약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·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정산 연결</a:t>
            </a:r>
            <a:endParaRPr lang="en-US" sz="900" dirty="0">
              <a:latin typeface="+mn-ea"/>
            </a:endParaRPr>
          </a:p>
        </p:txBody>
      </p:sp>
      <p:sp>
        <p:nvSpPr>
          <p:cNvPr id="37" name="Text 27"/>
          <p:cNvSpPr txBox="1"/>
          <p:nvPr/>
        </p:nvSpPr>
        <p:spPr>
          <a:xfrm>
            <a:off x="1314907" y="4615180"/>
            <a:ext cx="13341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단독 데이터 없이 업무 이벤트로 연결</a:t>
            </a:r>
            <a:endParaRPr lang="en-US" sz="900" dirty="0">
              <a:latin typeface="+mn-ea"/>
            </a:endParaRPr>
          </a:p>
        </p:txBody>
      </p:sp>
      <p:sp>
        <p:nvSpPr>
          <p:cNvPr id="38" name="Shape 28"/>
          <p:cNvSpPr/>
          <p:nvPr/>
        </p:nvSpPr>
        <p:spPr>
          <a:xfrm>
            <a:off x="3274466" y="3993998"/>
            <a:ext cx="2752344" cy="945489"/>
          </a:xfrm>
          <a:prstGeom prst="roundRect">
            <a:avLst>
              <a:gd name="adj" fmla="val 1136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522269" y="4203700"/>
            <a:ext cx="514807" cy="514807"/>
          </a:xfrm>
          <a:prstGeom prst="rect">
            <a:avLst/>
          </a:prstGeom>
        </p:spPr>
      </p:pic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11"/>
          <a:srcRect l="-1528" r="-1528"/>
          <a:stretch/>
        </p:blipFill>
        <p:spPr>
          <a:xfrm>
            <a:off x="3697834" y="4356405"/>
            <a:ext cx="161849" cy="209398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4208069" y="4154322"/>
            <a:ext cx="138897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API </a:t>
            </a:r>
            <a:r>
              <a:rPr lang="ko-KR" altLang="en-US" sz="12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준비</a:t>
            </a:r>
            <a:endParaRPr lang="en-US" sz="1200" dirty="0">
              <a:latin typeface="+mn-ea"/>
            </a:endParaRPr>
          </a:p>
        </p:txBody>
      </p:sp>
      <p:sp>
        <p:nvSpPr>
          <p:cNvPr id="42" name="Text 30"/>
          <p:cNvSpPr txBox="1"/>
          <p:nvPr/>
        </p:nvSpPr>
        <p:spPr>
          <a:xfrm>
            <a:off x="4208069" y="4435043"/>
            <a:ext cx="158922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입력</a:t>
            </a:r>
            <a:r>
              <a:rPr lang="en-US" altLang="ko-KR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출력 기준 명확화</a:t>
            </a:r>
            <a:endParaRPr lang="en-US" sz="900" dirty="0">
              <a:latin typeface="+mn-ea"/>
            </a:endParaRPr>
          </a:p>
        </p:txBody>
      </p:sp>
      <p:sp>
        <p:nvSpPr>
          <p:cNvPr id="43" name="Text 31"/>
          <p:cNvSpPr txBox="1"/>
          <p:nvPr/>
        </p:nvSpPr>
        <p:spPr>
          <a:xfrm>
            <a:off x="4208069" y="4615180"/>
            <a:ext cx="140634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화면별 백엔드 구현 항목 정리</a:t>
            </a:r>
            <a:endParaRPr lang="en-US" sz="900" dirty="0">
              <a:latin typeface="+mn-ea"/>
            </a:endParaRPr>
          </a:p>
        </p:txBody>
      </p:sp>
      <p:sp>
        <p:nvSpPr>
          <p:cNvPr id="44" name="Shape 32"/>
          <p:cNvSpPr/>
          <p:nvPr/>
        </p:nvSpPr>
        <p:spPr>
          <a:xfrm>
            <a:off x="6167628" y="3993998"/>
            <a:ext cx="2752344" cy="945489"/>
          </a:xfrm>
          <a:prstGeom prst="roundRect">
            <a:avLst>
              <a:gd name="adj" fmla="val 1136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10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415430" y="4203700"/>
            <a:ext cx="514807" cy="514807"/>
          </a:xfrm>
          <a:prstGeom prst="rect">
            <a:avLst/>
          </a:prstGeom>
        </p:spPr>
      </p:pic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2"/>
          <a:srcRect l="-461" r="-461"/>
          <a:stretch/>
        </p:blipFill>
        <p:spPr>
          <a:xfrm>
            <a:off x="6553505" y="4356405"/>
            <a:ext cx="237744" cy="209398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7101230" y="4154322"/>
            <a:ext cx="129661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운영 효율</a:t>
            </a:r>
            <a:endParaRPr lang="en-US" sz="1200" dirty="0">
              <a:latin typeface="+mn-ea"/>
            </a:endParaRPr>
          </a:p>
        </p:txBody>
      </p:sp>
      <p:sp>
        <p:nvSpPr>
          <p:cNvPr id="48" name="Text 34"/>
          <p:cNvSpPr txBox="1"/>
          <p:nvPr/>
        </p:nvSpPr>
        <p:spPr>
          <a:xfrm>
            <a:off x="7101230" y="4435043"/>
            <a:ext cx="138897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반복 확인 업무 감소</a:t>
            </a:r>
            <a:endParaRPr lang="en-US" sz="900" dirty="0">
              <a:latin typeface="+mn-ea"/>
            </a:endParaRPr>
          </a:p>
        </p:txBody>
      </p:sp>
      <p:sp>
        <p:nvSpPr>
          <p:cNvPr id="49" name="Text 35"/>
          <p:cNvSpPr txBox="1"/>
          <p:nvPr/>
        </p:nvSpPr>
        <p:spPr>
          <a:xfrm>
            <a:off x="7101230" y="4615180"/>
            <a:ext cx="145389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상태 필터와 상세 팝업으로 처리 속도 향상</a:t>
            </a:r>
            <a:endParaRPr lang="en-US" sz="900" dirty="0">
              <a:latin typeface="+mn-ea"/>
            </a:endParaRPr>
          </a:p>
        </p:txBody>
      </p:sp>
      <p:sp>
        <p:nvSpPr>
          <p:cNvPr id="50" name="Shape 36"/>
          <p:cNvSpPr/>
          <p:nvPr/>
        </p:nvSpPr>
        <p:spPr>
          <a:xfrm>
            <a:off x="9060790" y="3993998"/>
            <a:ext cx="2752344" cy="945489"/>
          </a:xfrm>
          <a:prstGeom prst="roundRect">
            <a:avLst>
              <a:gd name="adj" fmla="val 11362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12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308592" y="4203700"/>
            <a:ext cx="514807" cy="514807"/>
          </a:xfrm>
          <a:prstGeom prst="rect">
            <a:avLst/>
          </a:prstGeom>
        </p:spPr>
      </p:pic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460382" y="4356405"/>
            <a:ext cx="209398" cy="209398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9994392" y="4154322"/>
            <a:ext cx="151241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>
                <a:solidFill>
                  <a:srgbClr val="1E3A8A"/>
                </a:solidFill>
                <a:latin typeface="+mn-ea"/>
                <a:cs typeface="Noto Sans KR" pitchFamily="34" charset="-120"/>
              </a:rPr>
              <a:t>시연 가능성</a:t>
            </a:r>
            <a:endParaRPr lang="en-US" sz="1200" dirty="0">
              <a:latin typeface="+mn-ea"/>
            </a:endParaRPr>
          </a:p>
        </p:txBody>
      </p:sp>
      <p:sp>
        <p:nvSpPr>
          <p:cNvPr id="54" name="Text 38"/>
          <p:cNvSpPr txBox="1"/>
          <p:nvPr/>
        </p:nvSpPr>
        <p:spPr>
          <a:xfrm>
            <a:off x="9994392" y="4435043"/>
            <a:ext cx="171724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475569"/>
                </a:solidFill>
                <a:latin typeface="+mn-ea"/>
                <a:cs typeface="Noto Sans KR" pitchFamily="34" charset="-120"/>
              </a:rPr>
              <a:t>수요일 기준 데이터 정합성</a:t>
            </a:r>
            <a:endParaRPr lang="en-US" sz="900" dirty="0">
              <a:latin typeface="+mn-ea"/>
            </a:endParaRPr>
          </a:p>
        </p:txBody>
      </p:sp>
      <p:sp>
        <p:nvSpPr>
          <p:cNvPr id="55" name="Text 39"/>
          <p:cNvSpPr txBox="1"/>
          <p:nvPr/>
        </p:nvSpPr>
        <p:spPr>
          <a:xfrm>
            <a:off x="9994392" y="4615180"/>
            <a:ext cx="151241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금액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날짜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상태 기준 통일</a:t>
            </a:r>
            <a:endParaRPr lang="en-US" sz="900" dirty="0">
              <a:latin typeface="+mn-ea"/>
            </a:endParaRPr>
          </a:p>
        </p:txBody>
      </p:sp>
      <p:sp>
        <p:nvSpPr>
          <p:cNvPr id="56" name="Shape 40"/>
          <p:cNvSpPr/>
          <p:nvPr/>
        </p:nvSpPr>
        <p:spPr>
          <a:xfrm>
            <a:off x="381305" y="5038954"/>
            <a:ext cx="11430000" cy="1657807"/>
          </a:xfrm>
          <a:prstGeom prst="roundRect">
            <a:avLst>
              <a:gd name="adj" fmla="val 76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7" name="Text 41"/>
          <p:cNvSpPr txBox="1"/>
          <p:nvPr/>
        </p:nvSpPr>
        <p:spPr>
          <a:xfrm>
            <a:off x="676656" y="5239207"/>
            <a:ext cx="109545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200" b="1" kern="0" spc="75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Noto Sans KR" pitchFamily="34" charset="-120"/>
              </a:rPr>
              <a:t>향후 백엔드</a:t>
            </a:r>
            <a:r>
              <a:rPr lang="en-US" altLang="ko-KR" sz="1200" b="1" kern="0" spc="75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Noto Sans KR" pitchFamily="34" charset="-120"/>
              </a:rPr>
              <a:t>/API </a:t>
            </a:r>
            <a:r>
              <a:rPr lang="ko-KR" altLang="en-US" sz="1200" b="1" kern="0" spc="75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cs typeface="Noto Sans KR" pitchFamily="34" charset="-120"/>
              </a:rPr>
              <a:t>연계 방향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  <a:latin typeface="+mn-ea"/>
            </a:endParaRPr>
          </a:p>
        </p:txBody>
      </p:sp>
      <p:sp>
        <p:nvSpPr>
          <p:cNvPr id="59" name="Shape 43"/>
          <p:cNvSpPr/>
          <p:nvPr/>
        </p:nvSpPr>
        <p:spPr>
          <a:xfrm>
            <a:off x="676656" y="5567477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0" name="Image 14" descr="preencoded.png"/>
          <p:cNvPicPr>
            <a:picLocks noChangeAspect="1"/>
          </p:cNvPicPr>
          <p:nvPr/>
        </p:nvPicPr>
        <p:blipFill>
          <a:blip r:embed="rId14"/>
          <a:srcRect l="-1507" r="-1507"/>
          <a:stretch/>
        </p:blipFill>
        <p:spPr>
          <a:xfrm>
            <a:off x="743407" y="5653430"/>
            <a:ext cx="171907" cy="133502"/>
          </a:xfrm>
          <a:prstGeom prst="rect">
            <a:avLst/>
          </a:prstGeom>
        </p:spPr>
      </p:pic>
      <p:sp>
        <p:nvSpPr>
          <p:cNvPr id="61" name="Text 44"/>
          <p:cNvSpPr txBox="1"/>
          <p:nvPr/>
        </p:nvSpPr>
        <p:spPr>
          <a:xfrm>
            <a:off x="1095451" y="5567477"/>
            <a:ext cx="25511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데이터 항목 정리</a:t>
            </a:r>
            <a:endParaRPr lang="en-US" sz="1000" dirty="0">
              <a:latin typeface="+mn-ea"/>
            </a:endParaRPr>
          </a:p>
        </p:txBody>
      </p:sp>
      <p:sp>
        <p:nvSpPr>
          <p:cNvPr id="62" name="Text 45"/>
          <p:cNvSpPr txBox="1"/>
          <p:nvPr/>
        </p:nvSpPr>
        <p:spPr>
          <a:xfrm>
            <a:off x="1095451" y="5796077"/>
            <a:ext cx="293248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현재 프론트 화면 기준으로 필요한 필드와 상태 코드 확보</a:t>
            </a:r>
            <a:endParaRPr lang="en-US" sz="900" dirty="0">
              <a:latin typeface="+mn-ea"/>
            </a:endParaRPr>
          </a:p>
        </p:txBody>
      </p:sp>
      <p:sp>
        <p:nvSpPr>
          <p:cNvPr id="63" name="Shape 46"/>
          <p:cNvSpPr/>
          <p:nvPr/>
        </p:nvSpPr>
        <p:spPr>
          <a:xfrm>
            <a:off x="4384548" y="5567477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4" name="Image 15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4470502" y="5653430"/>
            <a:ext cx="133502" cy="133502"/>
          </a:xfrm>
          <a:prstGeom prst="rect">
            <a:avLst/>
          </a:prstGeom>
        </p:spPr>
      </p:pic>
      <p:sp>
        <p:nvSpPr>
          <p:cNvPr id="65" name="Text 47"/>
          <p:cNvSpPr txBox="1"/>
          <p:nvPr/>
        </p:nvSpPr>
        <p:spPr>
          <a:xfrm>
            <a:off x="4803343" y="5567477"/>
            <a:ext cx="26581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연관 구조 확보</a:t>
            </a:r>
            <a:endParaRPr lang="en-US" sz="1000" dirty="0">
              <a:latin typeface="+mn-ea"/>
            </a:endParaRPr>
          </a:p>
        </p:txBody>
      </p:sp>
      <p:sp>
        <p:nvSpPr>
          <p:cNvPr id="66" name="Text 48"/>
          <p:cNvSpPr txBox="1"/>
          <p:nvPr/>
        </p:nvSpPr>
        <p:spPr>
          <a:xfrm>
            <a:off x="4803343" y="5796077"/>
            <a:ext cx="30577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예약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객실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정산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고객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부가서비스 간 관계 정의</a:t>
            </a:r>
            <a:endParaRPr lang="en-US" sz="900" dirty="0">
              <a:latin typeface="+mn-ea"/>
            </a:endParaRPr>
          </a:p>
        </p:txBody>
      </p:sp>
      <p:sp>
        <p:nvSpPr>
          <p:cNvPr id="67" name="Shape 49"/>
          <p:cNvSpPr/>
          <p:nvPr/>
        </p:nvSpPr>
        <p:spPr>
          <a:xfrm>
            <a:off x="8093354" y="5567477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68" name="Image 16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178394" y="5653430"/>
            <a:ext cx="133502" cy="133502"/>
          </a:xfrm>
          <a:prstGeom prst="rect">
            <a:avLst/>
          </a:prstGeom>
        </p:spPr>
      </p:pic>
      <p:sp>
        <p:nvSpPr>
          <p:cNvPr id="69" name="Text 50"/>
          <p:cNvSpPr txBox="1"/>
          <p:nvPr/>
        </p:nvSpPr>
        <p:spPr>
          <a:xfrm>
            <a:off x="8512150" y="5567477"/>
            <a:ext cx="25658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입출력 기준</a:t>
            </a:r>
            <a:endParaRPr lang="en-US" sz="1000" dirty="0">
              <a:latin typeface="+mn-ea"/>
            </a:endParaRPr>
          </a:p>
        </p:txBody>
      </p:sp>
      <p:sp>
        <p:nvSpPr>
          <p:cNvPr id="70" name="Text 51"/>
          <p:cNvSpPr txBox="1"/>
          <p:nvPr/>
        </p:nvSpPr>
        <p:spPr>
          <a:xfrm>
            <a:off x="8512150" y="5796077"/>
            <a:ext cx="304403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외부 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API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연동 시 화면별 요청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응답 기준으로 구현 가능</a:t>
            </a:r>
            <a:endParaRPr lang="en-US" sz="900" dirty="0">
              <a:latin typeface="+mn-ea"/>
            </a:endParaRPr>
          </a:p>
        </p:txBody>
      </p:sp>
      <p:sp>
        <p:nvSpPr>
          <p:cNvPr id="71" name="Shape 52"/>
          <p:cNvSpPr/>
          <p:nvPr/>
        </p:nvSpPr>
        <p:spPr>
          <a:xfrm>
            <a:off x="676656" y="6098743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2" name="Image 17" descr="preencoded.png"/>
          <p:cNvPicPr>
            <a:picLocks noChangeAspect="1"/>
          </p:cNvPicPr>
          <p:nvPr/>
        </p:nvPicPr>
        <p:blipFill>
          <a:blip r:embed="rId17"/>
          <a:srcRect t="-1100" b="-1100"/>
          <a:stretch/>
        </p:blipFill>
        <p:spPr>
          <a:xfrm>
            <a:off x="771754" y="6184697"/>
            <a:ext cx="114300" cy="133502"/>
          </a:xfrm>
          <a:prstGeom prst="rect">
            <a:avLst/>
          </a:prstGeom>
        </p:spPr>
      </p:pic>
      <p:sp>
        <p:nvSpPr>
          <p:cNvPr id="73" name="Text 53"/>
          <p:cNvSpPr txBox="1"/>
          <p:nvPr/>
        </p:nvSpPr>
        <p:spPr>
          <a:xfrm>
            <a:off x="1095451" y="6098743"/>
            <a:ext cx="28008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감사 로그</a:t>
            </a:r>
            <a:endParaRPr lang="en-US" sz="1000" dirty="0">
              <a:latin typeface="+mn-ea"/>
            </a:endParaRPr>
          </a:p>
        </p:txBody>
      </p:sp>
      <p:sp>
        <p:nvSpPr>
          <p:cNvPr id="74" name="Text 54"/>
          <p:cNvSpPr txBox="1"/>
          <p:nvPr/>
        </p:nvSpPr>
        <p:spPr>
          <a:xfrm>
            <a:off x="1095451" y="6327343"/>
            <a:ext cx="322234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개인정보 열람 및 다운로드 이력으로 보안 운영 기준 반영</a:t>
            </a:r>
            <a:endParaRPr lang="en-US" sz="900" dirty="0">
              <a:latin typeface="+mn-ea"/>
            </a:endParaRPr>
          </a:p>
        </p:txBody>
      </p:sp>
      <p:sp>
        <p:nvSpPr>
          <p:cNvPr id="75" name="Shape 55"/>
          <p:cNvSpPr/>
          <p:nvPr/>
        </p:nvSpPr>
        <p:spPr>
          <a:xfrm>
            <a:off x="4384548" y="6098743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76" name="Image 18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4470502" y="6184697"/>
            <a:ext cx="133502" cy="133502"/>
          </a:xfrm>
          <a:prstGeom prst="rect">
            <a:avLst/>
          </a:prstGeom>
        </p:spPr>
      </p:pic>
      <p:sp>
        <p:nvSpPr>
          <p:cNvPr id="77" name="Text 56"/>
          <p:cNvSpPr txBox="1"/>
          <p:nvPr/>
        </p:nvSpPr>
        <p:spPr>
          <a:xfrm>
            <a:off x="4803343" y="6098743"/>
            <a:ext cx="283921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실패</a:t>
            </a:r>
            <a:r>
              <a:rPr lang="en-US" altLang="ko-KR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/</a:t>
            </a: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재시도</a:t>
            </a:r>
            <a:endParaRPr lang="en-US" sz="1000" dirty="0">
              <a:latin typeface="+mn-ea"/>
            </a:endParaRPr>
          </a:p>
        </p:txBody>
      </p:sp>
      <p:sp>
        <p:nvSpPr>
          <p:cNvPr id="78" name="Text 57"/>
          <p:cNvSpPr txBox="1"/>
          <p:nvPr/>
        </p:nvSpPr>
        <p:spPr>
          <a:xfrm>
            <a:off x="4803343" y="6327343"/>
            <a:ext cx="3277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결제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예약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, POS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연동 실패 시 재처리 정책 수립</a:t>
            </a:r>
            <a:endParaRPr lang="en-US" sz="900" dirty="0">
              <a:latin typeface="+mn-ea"/>
            </a:endParaRPr>
          </a:p>
        </p:txBody>
      </p:sp>
      <p:sp>
        <p:nvSpPr>
          <p:cNvPr id="79" name="Shape 58"/>
          <p:cNvSpPr/>
          <p:nvPr/>
        </p:nvSpPr>
        <p:spPr>
          <a:xfrm>
            <a:off x="8093354" y="6098743"/>
            <a:ext cx="304495" cy="304495"/>
          </a:xfrm>
          <a:prstGeom prst="roundRect">
            <a:avLst>
              <a:gd name="adj" fmla="val 150150"/>
            </a:avLst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80" name="Image 19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8178394" y="6184697"/>
            <a:ext cx="133502" cy="133502"/>
          </a:xfrm>
          <a:prstGeom prst="rect">
            <a:avLst/>
          </a:prstGeom>
        </p:spPr>
      </p:pic>
      <p:sp>
        <p:nvSpPr>
          <p:cNvPr id="81" name="Text 59"/>
          <p:cNvSpPr txBox="1"/>
          <p:nvPr/>
        </p:nvSpPr>
        <p:spPr>
          <a:xfrm>
            <a:off x="8512150" y="6098743"/>
            <a:ext cx="26005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000" b="1">
                <a:solidFill>
                  <a:srgbClr val="334155"/>
                </a:solidFill>
                <a:latin typeface="+mn-ea"/>
                <a:cs typeface="Noto Sans KR" pitchFamily="34" charset="-120"/>
              </a:rPr>
              <a:t>확장성</a:t>
            </a:r>
            <a:endParaRPr lang="en-US" sz="1000" dirty="0">
              <a:latin typeface="+mn-ea"/>
            </a:endParaRPr>
          </a:p>
        </p:txBody>
      </p:sp>
      <p:sp>
        <p:nvSpPr>
          <p:cNvPr id="82" name="Text 60"/>
          <p:cNvSpPr txBox="1"/>
          <p:nvPr/>
        </p:nvSpPr>
        <p:spPr>
          <a:xfrm>
            <a:off x="8512150" y="6327343"/>
            <a:ext cx="290687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입점형 서비스나 </a:t>
            </a:r>
            <a:r>
              <a:rPr lang="en-US" altLang="ko-KR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OTA/API </a:t>
            </a:r>
            <a:r>
              <a:rPr lang="ko-KR" altLang="en-US" sz="900">
                <a:solidFill>
                  <a:srgbClr val="64748B"/>
                </a:solidFill>
                <a:latin typeface="+mn-ea"/>
                <a:cs typeface="Noto Sans KR" pitchFamily="34" charset="-120"/>
              </a:rPr>
              <a:t>연동 확장에 대응 가능한 구조</a:t>
            </a:r>
            <a:endParaRPr lang="en-US" sz="900" dirty="0">
              <a:latin typeface="+mn-ea"/>
            </a:endParaRPr>
          </a:p>
        </p:txBody>
      </p:sp>
      <p:sp>
        <p:nvSpPr>
          <p:cNvPr id="84" name="Text 62"/>
          <p:cNvSpPr txBox="1"/>
          <p:nvPr/>
        </p:nvSpPr>
        <p:spPr>
          <a:xfrm>
            <a:off x="381305" y="261524"/>
            <a:ext cx="6324295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기대 효과 및 향후 </a:t>
            </a:r>
            <a:r>
              <a:rPr lang="ko-KR" altLang="en-US" sz="2400" b="1" dirty="0" err="1">
                <a:solidFill>
                  <a:srgbClr val="FFFFFF"/>
                </a:solidFill>
                <a:latin typeface="+mn-ea"/>
                <a:cs typeface="Noto Sans KR" pitchFamily="34" charset="-120"/>
              </a:rPr>
              <a:t>백엔드</a:t>
            </a:r>
            <a:r>
              <a:rPr lang="en-US" altLang="ko-KR" sz="24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/API </a:t>
            </a:r>
            <a:r>
              <a:rPr lang="ko-KR" altLang="en-US" sz="2400" b="1" dirty="0">
                <a:solidFill>
                  <a:srgbClr val="FFFFFF"/>
                </a:solidFill>
                <a:latin typeface="+mn-ea"/>
                <a:cs typeface="Noto Sans KR" pitchFamily="34" charset="-120"/>
              </a:rPr>
              <a:t>연계 방향</a:t>
            </a:r>
            <a:endParaRPr lang="en-US" sz="2400" dirty="0">
              <a:latin typeface="+mn-ea"/>
            </a:endParaRPr>
          </a:p>
        </p:txBody>
      </p:sp>
      <p:sp>
        <p:nvSpPr>
          <p:cNvPr id="86" name="Text 64"/>
          <p:cNvSpPr txBox="1"/>
          <p:nvPr/>
        </p:nvSpPr>
        <p:spPr>
          <a:xfrm>
            <a:off x="10747858" y="238566"/>
            <a:ext cx="10661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93C5FD"/>
                </a:solidFill>
                <a:latin typeface="+mn-ea"/>
                <a:cs typeface="Noto Sans KR" pitchFamily="34" charset="-120"/>
              </a:rPr>
              <a:t>IMPACT &amp; API</a:t>
            </a:r>
            <a:endParaRPr lang="en-US" sz="900" dirty="0">
              <a:latin typeface="+mn-ea"/>
            </a:endParaRPr>
          </a:p>
        </p:txBody>
      </p:sp>
      <p:sp>
        <p:nvSpPr>
          <p:cNvPr id="87" name="Text 65"/>
          <p:cNvSpPr txBox="1"/>
          <p:nvPr/>
        </p:nvSpPr>
        <p:spPr>
          <a:xfrm>
            <a:off x="10803636" y="391271"/>
            <a:ext cx="101041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800" b="1">
                <a:solidFill>
                  <a:srgbClr val="FFFFFF"/>
                </a:solidFill>
                <a:latin typeface="+mn-ea"/>
                <a:cs typeface="Noto Sans KR" pitchFamily="34" charset="-120"/>
              </a:rPr>
              <a:t>12</a:t>
            </a:r>
            <a:endParaRPr lang="en-US" sz="1800" dirty="0">
              <a:latin typeface="+mn-ea"/>
            </a:endParaRPr>
          </a:p>
        </p:txBody>
      </p:sp>
      <p:pic>
        <p:nvPicPr>
          <p:cNvPr id="88" name="Image 0" descr="preencoded.png">
            <a:extLst>
              <a:ext uri="{FF2B5EF4-FFF2-40B4-BE49-F238E27FC236}">
                <a16:creationId xmlns:a16="http://schemas.microsoft.com/office/drawing/2014/main" id="{C242985F-CD02-9F5D-A611-F96D01F74E43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l="-400" r="-400"/>
          <a:stretch/>
        </p:blipFill>
        <p:spPr>
          <a:xfrm>
            <a:off x="381305" y="1110082"/>
            <a:ext cx="38405" cy="228600"/>
          </a:xfrm>
          <a:prstGeom prst="rect">
            <a:avLst/>
          </a:prstGeom>
        </p:spPr>
      </p:pic>
      <p:sp>
        <p:nvSpPr>
          <p:cNvPr id="89" name="Text 8">
            <a:extLst>
              <a:ext uri="{FF2B5EF4-FFF2-40B4-BE49-F238E27FC236}">
                <a16:creationId xmlns:a16="http://schemas.microsoft.com/office/drawing/2014/main" id="{338AA55C-A288-24E9-3EBB-61A6E14B3E32}"/>
              </a:ext>
            </a:extLst>
          </p:cNvPr>
          <p:cNvSpPr txBox="1"/>
          <p:nvPr/>
        </p:nvSpPr>
        <p:spPr>
          <a:xfrm>
            <a:off x="562356" y="1095451"/>
            <a:ext cx="673364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운영 표준화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데이터 연계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보안 강화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,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외부 </a:t>
            </a:r>
            <a:r>
              <a:rPr lang="en-US" altLang="ko-KR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API </a:t>
            </a:r>
            <a:r>
              <a:rPr lang="ko-KR" altLang="en-US" sz="1400" b="1" dirty="0">
                <a:solidFill>
                  <a:srgbClr val="4B5563"/>
                </a:solidFill>
                <a:latin typeface="+mj-ea"/>
                <a:ea typeface="+mj-ea"/>
                <a:cs typeface="Noto Sans KR" pitchFamily="34" charset="-120"/>
              </a:rPr>
              <a:t>구현 기준 확보</a:t>
            </a:r>
          </a:p>
        </p:txBody>
      </p:sp>
    </p:spTree>
    <p:extLst>
      <p:ext uri="{BB962C8B-B14F-4D97-AF65-F5344CB8AC3E}">
        <p14:creationId xmlns:p14="http://schemas.microsoft.com/office/powerpoint/2010/main" val="2013430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1637</Words>
  <Application>Microsoft Office PowerPoint</Application>
  <PresentationFormat>와이드스크린</PresentationFormat>
  <Paragraphs>366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8" baseType="lpstr">
      <vt:lpstr>Noto Sans KR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명길 정</dc:creator>
  <cp:lastModifiedBy>명길 정</cp:lastModifiedBy>
  <cp:revision>8</cp:revision>
  <dcterms:created xsi:type="dcterms:W3CDTF">2026-06-09T08:41:26Z</dcterms:created>
  <dcterms:modified xsi:type="dcterms:W3CDTF">2026-06-09T10:47:17Z</dcterms:modified>
</cp:coreProperties>
</file>