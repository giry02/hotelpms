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2fe421879744b1" /><Relationship Type="http://schemas.openxmlformats.org/officeDocument/2006/relationships/extended-properties" Target="/docProps/app.xml" Id="Rfeb5283c10bb42ff" /><Relationship Type="http://schemas.openxmlformats.org/officeDocument/2006/relationships/officeDocument" Target="/ppt/presentation.xml" Id="R8a44e6712d4a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b99642fb44953"/>
  </p:sldMasterIdLst>
  <p:notesMasterIdLst>
    <p:notesMasterId xmlns:r="http://schemas.openxmlformats.org/officeDocument/2006/relationships" r:id="R010e6bd4920d4507"/>
  </p:notesMasterIdLst>
  <p:sldIdLst>
    <p:sldId xmlns:r="http://schemas.openxmlformats.org/officeDocument/2006/relationships" id="256" r:id="R1b52dc88340f4402"/>
    <p:sldId xmlns:r="http://schemas.openxmlformats.org/officeDocument/2006/relationships" id="257" r:id="Rd86f36224d034304"/>
    <p:sldId xmlns:r="http://schemas.openxmlformats.org/officeDocument/2006/relationships" id="258" r:id="Rf5f2d1d5df6a4455"/>
    <p:sldId xmlns:r="http://schemas.openxmlformats.org/officeDocument/2006/relationships" id="259" r:id="Rdbecf6d9b2fe4f24"/>
    <p:sldId xmlns:r="http://schemas.openxmlformats.org/officeDocument/2006/relationships" id="260" r:id="Rfb62fe196d4c4fe3"/>
    <p:sldId xmlns:r="http://schemas.openxmlformats.org/officeDocument/2006/relationships" id="261" r:id="R74a1665696c14c64"/>
    <p:sldId xmlns:r="http://schemas.openxmlformats.org/officeDocument/2006/relationships" id="262" r:id="R4082821a1934419f"/>
    <p:sldId xmlns:r="http://schemas.openxmlformats.org/officeDocument/2006/relationships" id="263" r:id="R0f0f2305a0194432"/>
    <p:sldId xmlns:r="http://schemas.openxmlformats.org/officeDocument/2006/relationships" id="264" r:id="R91ff1e4fcd7c46b6"/>
    <p:sldId xmlns:r="http://schemas.openxmlformats.org/officeDocument/2006/relationships" id="265" r:id="R58974c0c091f4f01"/>
    <p:sldId xmlns:r="http://schemas.openxmlformats.org/officeDocument/2006/relationships" id="266" r:id="Ra8a606d26cc94861"/>
    <p:sldId xmlns:r="http://schemas.openxmlformats.org/officeDocument/2006/relationships" id="267" r:id="R58ef0d57123f42c6"/>
    <p:sldId xmlns:r="http://schemas.openxmlformats.org/officeDocument/2006/relationships" id="268" r:id="R58532199d106437a"/>
    <p:sldId xmlns:r="http://schemas.openxmlformats.org/officeDocument/2006/relationships" id="269" r:id="Re0b4c8bd16804af9"/>
    <p:sldId xmlns:r="http://schemas.openxmlformats.org/officeDocument/2006/relationships" id="270" r:id="R34b4e62450b94a48"/>
    <p:sldId xmlns:r="http://schemas.openxmlformats.org/officeDocument/2006/relationships" id="271" r:id="Ra111248717014a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8fb8536ceb4653" /><Relationship Type="http://schemas.openxmlformats.org/officeDocument/2006/relationships/slideMaster" Target="/ppt/slideMasters/slideMaster1.xml" Id="R0c5b99642fb44953" /><Relationship Type="http://schemas.openxmlformats.org/officeDocument/2006/relationships/notesMaster" Target="/ppt/notesMasters/notesMaster1.xml" Id="R010e6bd4920d4507" /><Relationship Type="http://schemas.openxmlformats.org/officeDocument/2006/relationships/presProps" Target="/ppt/presProps.xml" Id="Rc91efbb539e64541" /><Relationship Type="http://schemas.openxmlformats.org/officeDocument/2006/relationships/viewProps" Target="/ppt/viewProps.xml" Id="R96d15db1699f481a" /><Relationship Type="http://schemas.openxmlformats.org/officeDocument/2006/relationships/tableStyles" Target="/ppt/tableStyles.xml" Id="R0d3ede5db92249f7" /><Relationship Type="http://schemas.openxmlformats.org/officeDocument/2006/relationships/slide" Target="/ppt/slides/slide1.xml" Id="R1b52dc88340f4402" /><Relationship Type="http://schemas.openxmlformats.org/officeDocument/2006/relationships/slide" Target="/ppt/slides/slide2.xml" Id="Rd86f36224d034304" /><Relationship Type="http://schemas.openxmlformats.org/officeDocument/2006/relationships/slide" Target="/ppt/slides/slide3.xml" Id="Rf5f2d1d5df6a4455" /><Relationship Type="http://schemas.openxmlformats.org/officeDocument/2006/relationships/slide" Target="/ppt/slides/slide4.xml" Id="Rdbecf6d9b2fe4f24" /><Relationship Type="http://schemas.openxmlformats.org/officeDocument/2006/relationships/slide" Target="/ppt/slides/slide5.xml" Id="Rfb62fe196d4c4fe3" /><Relationship Type="http://schemas.openxmlformats.org/officeDocument/2006/relationships/slide" Target="/ppt/slides/slide6.xml" Id="R74a1665696c14c64" /><Relationship Type="http://schemas.openxmlformats.org/officeDocument/2006/relationships/slide" Target="/ppt/slides/slide7.xml" Id="R4082821a1934419f" /><Relationship Type="http://schemas.openxmlformats.org/officeDocument/2006/relationships/slide" Target="/ppt/slides/slide8.xml" Id="R0f0f2305a0194432" /><Relationship Type="http://schemas.openxmlformats.org/officeDocument/2006/relationships/slide" Target="/ppt/slides/slide9.xml" Id="R91ff1e4fcd7c46b6" /><Relationship Type="http://schemas.openxmlformats.org/officeDocument/2006/relationships/slide" Target="/ppt/slides/slide10.xml" Id="R58974c0c091f4f01" /><Relationship Type="http://schemas.openxmlformats.org/officeDocument/2006/relationships/slide" Target="/ppt/slides/slide11.xml" Id="Ra8a606d26cc94861" /><Relationship Type="http://schemas.openxmlformats.org/officeDocument/2006/relationships/slide" Target="/ppt/slides/slide12.xml" Id="R58ef0d57123f42c6" /><Relationship Type="http://schemas.openxmlformats.org/officeDocument/2006/relationships/slide" Target="/ppt/slides/slide13.xml" Id="R58532199d106437a" /><Relationship Type="http://schemas.openxmlformats.org/officeDocument/2006/relationships/slide" Target="/ppt/slides/slide14.xml" Id="Re0b4c8bd16804af9" /><Relationship Type="http://schemas.openxmlformats.org/officeDocument/2006/relationships/slide" Target="/ppt/slides/slide15.xml" Id="R34b4e62450b94a48" /><Relationship Type="http://schemas.openxmlformats.org/officeDocument/2006/relationships/slide" Target="/ppt/slides/slide16.xml" Id="Ra111248717014a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6553693533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a7c1e9f8634337" /><Relationship Type="http://schemas.openxmlformats.org/officeDocument/2006/relationships/notesMaster" Target="/ppt/notesMasters/notesMaster1.xml" Id="R0b1d085901d5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77b64ac3ee4455" /><Relationship Type="http://schemas.openxmlformats.org/officeDocument/2006/relationships/notesMaster" Target="/ppt/notesMasters/notesMaster1.xml" Id="R3896dcea4a13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9ac83259324a6d" /><Relationship Type="http://schemas.openxmlformats.org/officeDocument/2006/relationships/notesMaster" Target="/ppt/notesMasters/notesMaster1.xml" Id="R06405f974a8b42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35f400d1eb4216" /><Relationship Type="http://schemas.openxmlformats.org/officeDocument/2006/relationships/notesMaster" Target="/ppt/notesMasters/notesMaster1.xml" Id="R2a71be61b5e2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0d3e22498f4ba9" /><Relationship Type="http://schemas.openxmlformats.org/officeDocument/2006/relationships/notesMaster" Target="/ppt/notesMasters/notesMaster1.xml" Id="R59e3a49ff62649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8e0be9c7cc4c56" /><Relationship Type="http://schemas.openxmlformats.org/officeDocument/2006/relationships/notesMaster" Target="/ppt/notesMasters/notesMaster1.xml" Id="R93321055012e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479b1044614723" /><Relationship Type="http://schemas.openxmlformats.org/officeDocument/2006/relationships/notesMaster" Target="/ppt/notesMasters/notesMaster1.xml" Id="R067e991aa72b46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98882349bf48d4" /><Relationship Type="http://schemas.openxmlformats.org/officeDocument/2006/relationships/notesMaster" Target="/ppt/notesMasters/notesMaster1.xml" Id="R0ee9e5c4c32240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3097db00504e7f" /><Relationship Type="http://schemas.openxmlformats.org/officeDocument/2006/relationships/notesMaster" Target="/ppt/notesMasters/notesMaster1.xml" Id="R2fed317412ee4f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3e317eedd74cfc" /><Relationship Type="http://schemas.openxmlformats.org/officeDocument/2006/relationships/notesMaster" Target="/ppt/notesMasters/notesMaster1.xml" Id="R1f1a7612704f47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5ed3bfed1c4c43" /><Relationship Type="http://schemas.openxmlformats.org/officeDocument/2006/relationships/notesMaster" Target="/ppt/notesMasters/notesMaster1.xml" Id="R832e76f5ef4742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5250e758de46df" /><Relationship Type="http://schemas.openxmlformats.org/officeDocument/2006/relationships/notesMaster" Target="/ppt/notesMasters/notesMaster1.xml" Id="R55a64d410de241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954c15dedc4d07" /><Relationship Type="http://schemas.openxmlformats.org/officeDocument/2006/relationships/notesMaster" Target="/ppt/notesMasters/notesMaster1.xml" Id="R4727ece3aae045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d6fd02091742b6" /><Relationship Type="http://schemas.openxmlformats.org/officeDocument/2006/relationships/notesMaster" Target="/ppt/notesMasters/notesMaster1.xml" Id="R77b0406a0b674e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cf5d62ae0344ca" /><Relationship Type="http://schemas.openxmlformats.org/officeDocument/2006/relationships/notesMaster" Target="/ppt/notesMasters/notesMaster1.xml" Id="Redc45f6c43cc49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792b5d73614c1a" /><Relationship Type="http://schemas.openxmlformats.org/officeDocument/2006/relationships/notesMaster" Target="/ppt/notesMasters/notesMaster1.xml" Id="Rdb75731d751040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2628568134b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80866360e4096" /><Relationship Type="http://schemas.openxmlformats.org/officeDocument/2006/relationships/slideLayout" Target="/ppt/slideLayouts/slideLayout1.xml" Id="R748922f07f7f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8922f07f7f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172d396e74f70" /><Relationship Type="http://schemas.openxmlformats.org/officeDocument/2006/relationships/notesSlide" Target="/ppt/notesSlides/notesSlide1.xml" Id="R998226702e584e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018d2f9b44ec7" /><Relationship Type="http://schemas.openxmlformats.org/officeDocument/2006/relationships/notesSlide" Target="/ppt/notesSlides/notesSlide2.xml" Id="Rd82ea4e2c69748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dc6514fab4e89" /><Relationship Type="http://schemas.openxmlformats.org/officeDocument/2006/relationships/notesSlide" Target="/ppt/notesSlides/notesSlide3.xml" Id="R44807820ef0544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82b694bb24a1b" /><Relationship Type="http://schemas.openxmlformats.org/officeDocument/2006/relationships/image" Target="/ppt/media/image.png" Id="Rcc0f37f7fd4b4250" /><Relationship Type="http://schemas.openxmlformats.org/officeDocument/2006/relationships/notesSlide" Target="/ppt/notesSlides/notesSlide4.xml" Id="Recaf3c306dd548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bb822a48f4db7" /><Relationship Type="http://schemas.openxmlformats.org/officeDocument/2006/relationships/image" Target="/ppt/media/image2.png" Id="R043055f316e54903" /><Relationship Type="http://schemas.openxmlformats.org/officeDocument/2006/relationships/notesSlide" Target="/ppt/notesSlides/notesSlide5.xml" Id="R71e7ee3dc0544d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045fb221b4fce" /><Relationship Type="http://schemas.openxmlformats.org/officeDocument/2006/relationships/notesSlide" Target="/ppt/notesSlides/notesSlide6.xml" Id="Rdd505677a9bf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ea38ddc98472d" /><Relationship Type="http://schemas.openxmlformats.org/officeDocument/2006/relationships/notesSlide" Target="/ppt/notesSlides/notesSlide7.xml" Id="R22dbf333c9804c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4cadf1ee94d4f" /><Relationship Type="http://schemas.openxmlformats.org/officeDocument/2006/relationships/notesSlide" Target="/ppt/notesSlides/notesSlide8.xml" Id="Rff933455c27a48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27e02fa7d49d1" /><Relationship Type="http://schemas.openxmlformats.org/officeDocument/2006/relationships/notesSlide" Target="/ppt/notesSlides/notesSlide9.xml" Id="R4b22be541b8844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2fa7d3bb442e7" /><Relationship Type="http://schemas.openxmlformats.org/officeDocument/2006/relationships/image" Target="/ppt/media/image3.png" Id="Rdc0d0da57ee04ecb" /><Relationship Type="http://schemas.openxmlformats.org/officeDocument/2006/relationships/notesSlide" Target="/ppt/notesSlides/notesSlide10.xml" Id="Re55580dd669045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94ceffac648b8" /><Relationship Type="http://schemas.openxmlformats.org/officeDocument/2006/relationships/notesSlide" Target="/ppt/notesSlides/notesSlide11.xml" Id="R181f409e0b504e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705d31a414d3c" /><Relationship Type="http://schemas.openxmlformats.org/officeDocument/2006/relationships/notesSlide" Target="/ppt/notesSlides/notesSlide12.xml" Id="Ra14fc61c15224c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23325b39e42e7" /><Relationship Type="http://schemas.openxmlformats.org/officeDocument/2006/relationships/notesSlide" Target="/ppt/notesSlides/notesSlide13.xml" Id="R1478ba0cf4994b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75756da864b3a" /><Relationship Type="http://schemas.openxmlformats.org/officeDocument/2006/relationships/notesSlide" Target="/ppt/notesSlides/notesSlide14.xml" Id="R2beabd0f0f0541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9f344546248b5" /><Relationship Type="http://schemas.openxmlformats.org/officeDocument/2006/relationships/image" Target="/ppt/media/image4.png" Id="Rf9ece35195b54413" /><Relationship Type="http://schemas.openxmlformats.org/officeDocument/2006/relationships/notesSlide" Target="/ppt/notesSlides/notesSlide15.xml" Id="Re07b9719df6f48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eb5ccd7df4ea2" /><Relationship Type="http://schemas.openxmlformats.org/officeDocument/2006/relationships/notesSlide" Target="/ppt/notesSlides/notesSlide16.xml" Id="R83b194e4116d4c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9B3F7-0071-4F63-859A-EBCD612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A3F57-D730-4EBF-B3D9-ABCDB82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Hotel PMS 구축 보고서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F6882-2B94-47F4-AC3E-641FD97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통합 운영 대시보드 화면 및 데이터 연계 설계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883F6-1D14-4983-9A0C-08E9FDD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85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시연 화면만 보는 사람이 전체 구조를 이해할 수 있도록, 각 메뉴의 역할과 데이터 연결 기준을 설명 중심으로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3183D-184F-4F3B-9953-4D062FA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F4331-7CF4-4FD2-A707-7CD71CA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기준일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BEC4C-3F0C-400E-BD26-0C308B91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2026.06.10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12CC8-BE76-4E6D-BEEF-DE65D710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수요일 시연 데이터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9B433-B78B-40B2-B785-3DD169B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955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5E778-2475-4F09-8CCC-DF662EF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38375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7D4A4-5679-4A61-9F99-D1F2E657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59669"/>
                </a:solidFill>
                <a:latin typeface="Malgun Gothic"/>
                <a:ea typeface="Malgun Gothic"/>
                <a:cs typeface="Malgun Gothic"/>
              </a:rPr>
              <a:t>운영 + 정산 + 보안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2C375-992E-40DA-A692-3102274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051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호텔 PMS 핵심 업무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A10E5-CE72-4E28-BD94-9DBFBDCA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2762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7897C-6C45-414C-BD7A-A866392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2419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작성 원칙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9682A-DA5F-4CA5-B3BF-86A7B7A1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384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API 연계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6EB63-B782-420F-90CC-1C32115C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05100"/>
            <a:ext cx="2419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화면별 데이터 소유자 명확화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DDAC6-FB18-4C20-9E3C-04DB1AF8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287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7A99B-019E-405D-A37B-F60F54A8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보고서에서 확인할 핵심 질문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A5E94-F880-44DD-9374-6535FBE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29A33-171E-44A5-A9C3-9F14135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901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이 화면이 실제 호텔 업무에서 어떤 결정을 돕는가?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AB28E-604E-41AD-9533-355D52C2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53F59-E82D-457A-9BF7-83BFB9E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901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사용자가 직접 입력하는 데이터와 시스템이 관리해야 하는 코드성 데이터가 구분되어 있는가?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38D96-AC97-464B-9303-F1964431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D1B5D-6130-467F-9F34-DA1FAF53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901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예약, 객실, 정산, 부가서비스, 고객정보가 단독으로 보이지 않고 서로 연결되어 있는가?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65D55A-9446-4034-8C70-D81DE301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67FFA-FE8D-40DD-8197-5503250A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901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외부 API를 붙였을 때 어떤 데이터가 들어오고 어떤 이벤트가 나가야 하는지 설명 가능한가?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F2C2F-3585-4C66-8C7A-7A0F1CBA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D6140-CC70-4268-9EA2-7C9557A0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9178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1E3E8-A0BF-4079-9D72-7A504D0C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6E4C8A-BE5E-4427-B63B-5EE59FD9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문서 방향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4969C-10A0-453C-874B-0881B50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이번 보고서는 화면 디자인보다 운영 설명을 우선합니다.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05210-27EF-4265-A789-F52869B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 피드백을 반영해 과한 타이틀, 검정 배경, 장식 중심 구성을 제거하고 설명 밀도를 높였습니다.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55F17-FF02-4DD0-AA0E-228A072A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53865-DD89-4A89-8B95-2142B44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990F4-0E04-4E28-B261-770AF171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42EDB-59F3-4E89-8F10-BF14251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BA8F9-CBB0-4A7D-847B-2C971816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수정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9AC47-185C-474E-AAFB-72F343CE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97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이전 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6FC4E-1353-41FF-8671-3A82042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개선 방향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7E5CD-E2D5-4C6C-B8C4-1C29B4C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8EC4F-F52B-489D-A9CB-AB92FD8F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F8C10-2818-4914-8938-8D5FC7BA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타이틀 크기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0974B-C4EF-4423-B9CF-3FF53B23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제목이 너무 커서 본문이 빈약해 보임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4912A-525E-42A3-8865-7DE3377D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제목은 28~32px 수준으로 낮추고 본문 설명 영역을 확대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58C22-F6DB-48A9-B980-9EA4BA91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CFA59-65BC-4E69-A61F-7F1DE00E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FB9F3-6200-4946-8541-F9CE1713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배경/디자인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FD66C-B79B-4739-BEC4-7DAF176F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검정 배경과 과한 대비가 보고서보다 홍보물처럼 보임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F74FD-2BDC-4EAC-BFF5-5869DE2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흰색/연회색 기반의 운영 보고서 톤으로 정리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4F407-1C18-48FD-9473-34B10865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6D9B4-171A-4AF2-8EA9-EEB93C01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B81B9-F815-4B0E-BB5F-A2DCB9D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본문 구조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AB548-C48D-406B-A59F-AF78E298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956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한 문장 주장 위주라 세부 항목 이해가 어려움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3C490-0396-4335-BC6C-8D582DD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역할, 데이터, 운영 판단, API 연계 기준을 표로 설명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48535-18F2-440A-89CA-B7155A35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A77DD-63DF-46DA-A140-4A750CCB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6FEF03-F8DB-4F00-BDFD-4940ECC0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시연 적합성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66094-4C6C-4DFE-8985-8069AF4D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909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화면을 보지 않으면 어떤 로직인지 설명이 부족함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1D3A34-90AF-44AD-8CA5-47670653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909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PPT만 읽어도 각 메뉴가 왜 필요한지 이해되도록 구성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C31D0-7A90-48D9-87DE-D9164719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C0545F-DA82-49E6-9A27-2CA3FAD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952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B57A0B-BBAC-425A-90D5-A2CA6AD3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952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5B8F2-C551-487E-91A4-0A718134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보고서 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DB17C-BC8E-4F1B-AA01-D78B4A58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디자인은 얌전하게 뒤로 물러나고, 실제 고객이 질문할 만한 '왜 이 화면이 필요한지', '데이터가 어디서 오는지', '백엔드/API에서 무엇을 구현해야 하는지'를 앞으로 꺼냈습니다.</a:t>
            </a:r>
          </a:p>
        </p:txBody>
      </p:sp>
    </p:spTree>
    <p:extLst>
      <p:ext uri="{BB962C8B-B14F-4D97-AF65-F5344CB8AC3E}">
        <p14:creationId xmlns:p14="http://schemas.microsoft.com/office/powerpoint/2010/main" val="5852016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D2DFB-3C29-43D2-A9DC-BB27910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E6CA9C-9432-425F-93DC-76453575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CF9CD-E122-476D-890E-7F9F30B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각 메뉴는 하나의 운영 도메인과 데이터 소유자를 가져야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C141A-AED9-4BDA-9E2E-684F9A3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화면마다 임의 데이터를 만들면 외부 API 연계 시 중복/불일치가 생기므로, 메뉴 단위로 데이터 책임을 정리합니다.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875AE-EADD-41B9-A160-121D960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6A315-86C5-4533-8269-46347E8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71271-CA4D-4B0A-AF04-15C969B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08FF-5635-4A3B-899E-139B96F1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51C7A-754A-4FA5-A281-4B7E205A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FD3C-6B57-4BE6-93E7-6028595E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주요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FFBB7-DE01-4DCC-B09D-A604F1D8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66900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데이터 소유자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01F4B-E9FE-4B5F-8D9E-F6FC49A4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다른 화면으로 전달되는 이벤트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4540D-AADF-4E02-A1ED-6B8CCB8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2FDA-1AEB-4FA9-B9E2-3AB32113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46C5E-75B2-481D-996D-199ED38E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프론트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A5D66-D1F1-4340-8D08-7F8A656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95525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타임라인, 예약 관리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6AC5E-82F8-4EFD-ABA1-D117F9B9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295525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Reservation, RoomAssignment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D8B07-CD19-4D9C-B514-F801FE53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생성, 체크인, 체크아웃, 취소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1030F-7533-462C-A5BA-C2662F0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BB52C-E251-4E7F-BE79-10EAC518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056FA-0AC5-4B48-B987-9D942C9A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단체/행사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B2A97-E8FD-4CE7-80B3-6936D4C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단체/행사 목록, 업체 관리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7AF31-0158-47A8-BC05-6CD95C96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24150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Company, GroupBlock, EventContract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95931-D172-4A55-9B32-75F2EEF7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단체 객실 배정, 행사 정산 필요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D0795-1401-4FB4-BB4E-1187B989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8B372-BC60-42C8-BCB3-9D221B4A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22E228-34E5-49D1-A984-2D80C30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객실/요금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1E8EF-2B0F-487E-8790-AAEBD672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목록, 객실 유형, 요금 캘린더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75AB1-2FC2-4717-AB3F-FC4669F2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52775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Room, RoomType, RateCalendar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CA15B-CC57-4CBA-9721-7449857B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52775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상태, 요금 적용, 미래 예약 가능성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D7C06-6A59-4A4D-9F2F-8D97E347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44E06-8FAF-4936-AAAF-AF460C9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9252FC-B240-4DBE-9FEF-5F739BD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F99120-EC74-45F8-9449-91D5B59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81400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하우스키핑, 시설 보수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E8754-5A0D-4283-B625-276D016C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81400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HousekeepingTask, MaintenanceTicket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71E28E-7E36-4429-8153-1DEC016D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1400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시작/완료, 보수 착수/완료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41B989-CC03-4A09-90FC-1E01E50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11019-14B2-46E6-93F6-2933D9B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A9360B-1176-4C6B-83D6-2875050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B2ADA5-009E-423C-AE31-1A80F33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10025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매출 분석, 정산 목록, 일일 마감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6C1A39-9D2A-4E30-9CB8-3720F31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10025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Folio, Payment, RevenueSummary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7E1A68-0EA2-4A36-9B68-5BF83A88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명세서 발행, 미수금 관리, 마감 검증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B01EFE-B832-4F00-AB1F-097E771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5834E2-6739-43C3-957E-8975030E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9286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3F15A2-7646-49B6-A48B-154AAD2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952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고객/보안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9A15B4-16F4-42D7-B072-D1A321B9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1857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투숙객 관리, 멤버십, 감사 로그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1D591-9E01-4D78-B438-46C47DF0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438650"/>
            <a:ext cx="2143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Guest, Membership, AuditLog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BD75F8-D16D-44E9-83A6-19F51C54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38650"/>
            <a:ext cx="3571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 상세 열람, 엑셀 다운로드, 권한 감사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7DDC35-37EE-4DB1-8ACF-6959DE36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8055C5-F0A9-4AE0-B57B-8362DF2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182C2C-CB50-4928-9E7F-B9C02037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C4504B-18BF-4703-8D85-30F8B639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핵심 원칙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373F11-E98E-4675-AFFD-E71CE8F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화면은 데이터를 보여주는 창이고, 데이터 소유자는 백엔드/API 계약의 기준입니다. 이 기준이 있어야 같은 값이 대시보드, 목록, 팝업, 정산서에서 다르게 보이는 문제를 막을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165864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13625-C5FE-4221-8F2F-5FA4087B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1B39D5-83D4-4DE5-B856-9FB330DD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6476-3851-463D-A542-17110958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대시보드는 오늘 운영 리스크를 먼저 보는 관제 화면입니다.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21853-D8F9-4F19-817D-9DBE408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단순 지표 나열이 아니라, 사용자가 어느 메뉴로 들어가야 하는지 판단하게 해주는 첫 화면입니다.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468DC-5FB8-4321-B8B6-A194170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CE29F-29FE-437A-BE5A-33ACAC3A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18FC6-843E-4028-AC38-6B16DD4A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f37f7fd4b4250"/>
          <a:srcRect xmlns:a="http://schemas.openxmlformats.org/drawingml/2006/main" l="0" t="2455" r="0" b="2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62125"/>
            <a:ext cx="5334000" cy="3381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4B332-852A-4333-B942-E7E8054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53340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1D2F-DBF2-4389-BA85-CE8F9B9C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AC90E-18BD-4982-84FA-9134EF4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5CA1F-705D-499B-BD15-09877B0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192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50CC9-53DC-44E3-B78C-15B9D89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61DED-8269-4EDA-9F1D-422BA8B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C5BE3-58C3-4C74-AF20-00337145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점유율 / ADR / RevPAR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AF996-348B-47C9-B622-47DC2F2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764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운영과 매출 효율을 한 번에 확인하는 상단 KPI입니다.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A3544-E543-4E36-8830-F55BFF5F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4F00D-8106-4D8E-8A51-A1C66A2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1EDB5-7401-4940-B5CA-175B72F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주간 객실 현황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0F949-A829-4E3B-880D-A4641842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336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요일별 객실 흐름을 비교해 특정일 집중이나 공실 리스크를 확인합니다.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BB290-F198-47EA-94DB-F7DAB4D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76A50-2C1B-4569-913B-D3E6376A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87DDA-690C-41EE-A5B3-8F5B43D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오늘 체크인 예정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FB6FA-847D-44E2-A0C7-7512252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프론트가 바로 처리해야 할 고객과 객실을 보여줍니다.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1D2BB7-161A-40E7-B341-35A02063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BD27B-1F4D-4B0A-B782-D194CF44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909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97D06-4045-4131-9C05-0B8AB7F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실시간 활동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FB9102-8BF9-4A58-88A2-A042B67D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480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체크인, 하우스키핑, 체크아웃 같은 운영 이벤트를 시간순으로 보여줍니다.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90948-C4A0-474D-9522-8756731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9B920-5FC5-4639-8019-AE66C29E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8125"/>
            <a:ext cx="4333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3D9C9-D0A5-40B3-996A-9E77F740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119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부가서비스 주문/매출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0D81F1-32D4-47C5-AE99-2EFC220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052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외 매출 흐름이 정산 화면과 연결되는지 확인합니다.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08946A-DDEF-4E20-901A-E940EB6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0532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F3D7F6-4CBD-47FF-A965-F68193D3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3338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0AB917-1EDC-40ED-9B96-9632B6F3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3FB3AE-A61C-4B57-882C-2168541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ED287-9459-4B81-9BF0-E35499E6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5435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대시보드의 값은 단독 샘플이 아니라 예약, 객실, 하우스키핑, 부가서비스, 정산 데이터에서 집계되어야 합니다. 여기서 0이나 공백이 보이면 해당 도메인의 데이터 연결이 끊긴 것으로 봐야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8075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A27B9B-E2E9-492F-BFC0-6D70F250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EF54BA-7F1E-446E-869C-A24A38AB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예약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8E16B-C9DB-487F-BE71-F93514F2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예약은 상태를 직접 고르는 화면이 아니라 업무 단계가 만든 결과여야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E42B0-3511-480D-B361-FA512A3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신규 예약에서 상태/채널을 제거하고, 개인/단체 구분과 체크인 가능 여부를 실제 흐름으로 판단하게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70038-FDD1-4E67-A912-87BFE027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2F81B-A490-4396-8A63-48177E98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2952F-B9E2-42AC-B54A-1FE39B1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055f316e54903"/>
          <a:srcRect xmlns:a="http://schemas.openxmlformats.org/drawingml/2006/main" l="0" t="2926" r="0" b="2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62125"/>
            <a:ext cx="4476750" cy="2809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AC720-8748-4626-85C4-87266DAB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44767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2ADDF-4B60-478A-AC6D-C001889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62125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B4047-9A7E-4BF7-9840-828A9C3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19275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업무 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B4252-B7B2-430E-9B2F-778E200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19275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화면에서 확인해야 하는 내용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7EB21-2B7C-47DE-B7CE-34A6B8F8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6C556-59FF-4E48-96AE-EF92CAF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5B10D-0BCF-447C-A920-26E51C6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47900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A298F-D414-409D-B496-F370655F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47900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고객, 객실 유형, 체크인/체크아웃, 숙박일, 금액을 등록합니다.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A1B48-37A5-4855-9CC9-058CD27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A421B-CD62-4F00-92FA-0F6B2843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0C4C8-39AF-4315-988C-E8EE9112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76525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9D7C9-E24F-4DBD-A793-A4583FE9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76525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선택 가능한 객실만 보여주고, 단체 블록이나 투숙 중 객실은 구분합니다.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4840F-07D0-467A-B8B3-28F5F67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5AB88-F4F7-4AC4-BC2B-02B0158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73004-8A3D-483E-B11B-572DE015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 상세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16A4A-0CFF-4FA8-8BFC-711B0CF4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연락처/특이사항은 목록이 아닌 상세 팝업에서 확인하며 감사 로그를 남깁니다.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8294D7-81D3-4AA6-94FE-D598E1D1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1AEED-0492-4E4A-A381-AEAAF92D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76625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D7289-F2C6-4E17-8EFE-322A441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33775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체크인 처리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A5891-A6B0-47B5-9582-C7CE9CC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33775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미완료는 경고 대상이지 무조건 체크인 차단 조건이 아닙니다.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D094B-711F-44A0-9A20-83B8A59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052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D064C-D0BC-45DB-BBF2-852BBAC7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05250"/>
            <a:ext cx="485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1B57C6-68FD-4DE7-90ED-1AC1FC3A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62400"/>
            <a:ext cx="1333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체크아웃/취소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CAEBE-E9CB-4743-80F0-06A557E7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상태 변경은 액션의 결과로 기록되고 정산/하우스키핑 이벤트로 이어집니다.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59757E-1B34-4432-AF15-7B28EC3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3387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F853E8-5008-400B-9ABC-5A1D36F7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62125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840766-8E47-4924-AACE-05B5744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696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5AC69-CEAF-4BEB-9A40-43877509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단체 예약 처리 원칙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CAB6E7-8252-43BE-A112-59DBB84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2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화면에서 단체 고객 체크박스를 임의로 켜는 방식은 단체관리 데이터와 불일치를 만들 수 있습니다. 단체 예약은 단체/행사 도메인에서 생성된 계약 또는 객실 블록을 참조하는 방식이 더 안전합니다.</a:t>
            </a:r>
          </a:p>
        </p:txBody>
      </p:sp>
    </p:spTree>
    <p:extLst>
      <p:ext uri="{BB962C8B-B14F-4D97-AF65-F5344CB8AC3E}">
        <p14:creationId xmlns:p14="http://schemas.microsoft.com/office/powerpoint/2010/main" val="9090220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FBC041-286B-41E0-A0F9-2977FC4A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52717F-59E0-4550-AA7B-27D5CA8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단체/행사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A6873-181D-4C53-BBE4-4827FAA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단체는 업체, 행사 계약, 객실 배정, 투숙객, 정산이 함께 움직입니다.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341CD-4B52-4038-AEEB-AEAAE1F3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행사 기본 정보에서 등록 업체를 반드시 참조해야 하고, 행사별 할인 정책과 담당 영업 직원은 단체 계약 안에서 관리되어야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C506C-3A85-472B-8B98-2DFA070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C02E4-6E0D-452E-99C6-611C0FC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855EF-5C20-4333-B49F-2F7045BE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43EAD-07C8-492A-9716-49748A3E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19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1937E-42F3-4114-B4A8-F5ADC7A9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구성 요소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26DED-A010-4FB3-8086-A5BE42C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66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무엇을 관리하는가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A0CE2-2146-4234-9905-6689019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DCF0-8B76-4568-A382-3344924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연계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4F0E6-B1C1-4186-A2EA-29FCA691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8E257-2D35-492A-91AE-10F9B598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919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1BE73-E85A-42D3-B5DD-2F2B1AC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등록 업체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D358E-40DF-4154-8C3D-9F5FD44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14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여행사/기업/기타 단체, 업체 담당자, 정산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B2AB2-53CB-4947-AC71-80FAA5AC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146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행사 생성 시 미지정 업체가 생기면 정산 책임이 불명확해집니다.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2BCFE-92A4-4464-81DB-E63759F0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146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단체업체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B2172-8684-4060-8424-5CAC98B1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BD43A-9F9D-455E-8771-33DC8D0B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919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4F71B-BEBE-4FC3-80D9-3FA44CF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행사 계약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0013F-A5C4-47AD-9FF4-E0696E94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62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행사명, 기간, 총 인원, 행사 담당 영업 직원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A9385-9835-444A-BECF-22C94ACC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62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호텔 내부 담당자와 업체 담당자를 구분해야 추적이 가능합니다.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6570B-B9AC-443F-84A1-2E1BCEBA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23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단체/행사 목록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D7C5F-9032-44A0-85CC-9E19F36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AEA7A8-80F9-4F7A-AFA6-0A917CD5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919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4C1E4-AB4B-4941-ADF9-EA783C8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객실/투숙객 배정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AE934-748B-48C2-A4DD-2AFB7153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10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객실, 투숙객, 신분증 확인, 특이사항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3E831-5FE9-4CE1-8B14-01EEADB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00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대량 등록 시 저장 버튼 위치나 긴 목록 문제를 줄여야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FA105-41E5-4BDD-8FB8-7DE06C3B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10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행사 상세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803DE0-198A-49D9-AB51-88C23A86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FB42E-5666-4634-95D5-7FDDE963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9191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CCE7B-30AE-4E19-9BFC-946AB5C4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285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정산 조건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14E3C-CF5E-4B22-AED2-5DC798C0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57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행사별 할인율, Master Folio, 미수금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DACDDA-ACA8-4836-AC2A-A34480B8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577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할인율은 업체 기본값보다 행사 규모와 조건에 따라 달라질 수 있습니다.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3B86F-989D-4421-8B49-5F290076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577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정산 목록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8CC143-6181-4D90-92A6-C94C9F6C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919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79224-1033-4998-93D9-3BEAA47B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191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521C89-643E-435A-9968-03C000A9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6502D3-102B-44A8-A5B6-ACE6A576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B52593-31F0-4C63-B573-D427D27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81650"/>
            <a:ext cx="7715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업체 관리는 마스터 데이터이고, 행사는 거래 데이터입니다. 할인율과 투숙객 배정은 행사마다 달라질 수 있으므로 행사 상세에서 관리하는 구조가 맞습니다.</a:t>
            </a:r>
          </a:p>
        </p:txBody>
      </p:sp>
    </p:spTree>
    <p:extLst>
      <p:ext uri="{BB962C8B-B14F-4D97-AF65-F5344CB8AC3E}">
        <p14:creationId xmlns:p14="http://schemas.microsoft.com/office/powerpoint/2010/main" val="645314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FD8A3-5A64-4A8B-B3CF-84A97090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AED293-1156-4CD6-9495-69B9C7F6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객실 유형과 요금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9777-4EA1-42DE-83B6-6645F375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객실 유형은 고객 입력 데이터이고, 요금 캘린더는 그 유형을 기준으로 작동합니다.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8467D-8BA6-4202-A43A-141DAF9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호텔마다 Standard, Deluxe, Ocean View 같은 표현이 다르므로 억지 번역이나 고정 풀다운보다 등록형 구조가 필요합니다.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A4938-CACF-4D8A-B591-71F5D72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40EEE-7CBB-4E59-B833-CF04FDC5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013A8-5914-4821-9798-392B9EAD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E1EDA-B79F-42BB-8C82-C7AA7E3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0A84-001E-42D5-B14E-26B019A1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02408-1B6F-4DA8-BD3D-51401E7C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669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D055-FF9F-41D2-9206-B9AF258A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66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화면 표시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B12D6-CE3B-42DF-BFD3-4F5424A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66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주의점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C96D2-22EB-4F94-850B-DDD55BF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B1F2D-A694-428D-BA35-9BBC5786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0059B-EB24-4039-AF0D-14671B2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유형명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D1D13-19B7-4020-950D-D3A17BAC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384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호텔이 직접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F6244-10FE-40A0-9730-3DC15DAC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38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입력한 원문 그대로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31733-1929-436A-8FB6-583DC3CE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38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Standard를 스탠다드로 강제 번역하지 않음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1E106-E0E5-44A9-88E3-05E9EFA7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70B5C-D74C-4E18-924B-C382128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2FA7E-6854-4D19-A7B6-F43147D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구분/뷰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0A089-1D80-4190-98D9-08346EAB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유형 안의 세부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61048-C12F-4E3D-81C3-947F646A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09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Standard - Ocean View처럼 묶어서 정렬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D9FEF-B617-4664-82EE-D1CCF87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09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같은 Standard가 떨어져 보이지 않게 정렬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54F36-EE7B-45EB-A27A-FBEE3103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76B8C-BF06-423D-AB70-6F1D8D0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FE37A-BA6C-400E-B119-65B46E36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목록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AF15E-FD33-40A1-9B52-4A8D3816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814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실제 호실과 유형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ED419-CAD5-46C6-92C6-E34D4805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581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객실번호, 건물, 층, 유형, 상태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AFB7BB-D297-46CD-83FE-97B9307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581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등록 버튼은 시연 범위에서 제거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A5AF5-9AC9-411F-9865-6281C043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2ED8B-7D39-4A6A-847D-791937C9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B2FA7-898F-4B17-B7B0-7CBB3AE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요금 캘린더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F227EC-16BE-4A68-81D7-61617F67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29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유형별 날짜 요금 관리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EA750-112E-47B7-A9F8-CAC23B1D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52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여러 미래 월 조회 가능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CDBA8F-1326-45BA-9D17-57459A0C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152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예약은 몇 개월 전에도 가능하므로 현재월+1로 제한하지 않음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86516-BA8B-4256-8495-2D0B1F67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7EF46-144C-45C5-AD55-D78B967D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D9B5E7-1ECB-44D1-B6C8-70CDA646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일괄 수정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790C16-7441-4545-B9D5-925A85F8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2440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유형, 기간, 금액을 한 번에 반영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00E60-382B-4A55-AD29-229C7515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724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유형 풀다운 정렬 규칙 재사용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F28602-BEF2-49F7-B971-0CABB203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24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캘린더와 동일한 정렬 기준 사용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78AC8D-3F9B-4856-BA76-15704D5B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709801-4616-44A1-8B69-4D2E1782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35399D-F8FE-4C80-9C57-1C973CB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3354A4-516A-4926-BF53-DC5E27BD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BA3857-D4E5-4BFC-A730-B7BD82B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29275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유형은 향후 입점형/채널 연동으로 확장될 수 있으므로, 내부 코드가 없어도 운영은 가능하되 API 연계용 식별자는 선택적으로 둘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65431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76181-A376-40A2-A9D8-C7EE914E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E55124-0ED2-4EC4-9231-887310CC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하우스키핑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278E6-2712-4F4E-9775-A16E043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청소 상태는 객실 카드와 KPI, 필터 카운트가 같은 기준으로 계산되어야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9D69-9555-4603-9EE4-E4D31732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객실 카드 디자인의 빈칸을 채우는 것보다 중요한 것은 청소 요청, 청소 시작, 완료 표시가 실제 객실 상태와 일치하는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F944C-F5C4-4FF2-B75E-C5635922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07F57-6D01-4F24-92C9-953BF4D0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CAA21-E557-4CCE-AE97-3E1540C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FF207-75A6-4474-9C04-6B12DB7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FA02-07A4-4073-9030-C6A0054E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3E2F6-8DEE-4A25-8BBF-FF85C59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카드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D95EB-CA2F-429F-8865-E95C2C56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가능한 액션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95BC6-D5AF-4178-865D-0A588B9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데이터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A4475-0A9A-45F8-9F94-B5E0CBC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0D4B7-FD3D-4F98-8238-D93ABD5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E7493-0081-4410-A3FC-72339AE2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요망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DBCB-5342-423D-AD65-B8A79FD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요망 배지와 담당자 미지정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78B25-41D1-46FF-8056-683498C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7F416-0441-4899-82FD-CA7CD54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체크아웃 또는 청소 요청 이벤트에서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22730-092B-47E2-AFF3-9C913F5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4E3C5-C412-475F-BFC5-517D402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3BFE8-B1AA-4E9D-A576-8330107E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요청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0E2B4-7477-4067-9B95-5B5C824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09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재실중이라도 빈칸 없이 상태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675D2-4036-4389-9DE3-6314C3E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투숙중 청소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35B5D-A55D-4FCE-85BA-529C6CD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장기투숙 청소 정책과 연결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EE466-ECE4-4714-9E2E-91F0D64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B30AD4-27D7-433E-9647-D1205E17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0F4AF-BC40-44EA-9F72-2F1968CD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9CCBB-CFCA-40F1-B313-4AF7C94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작업자와 시작 시각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902B7-41EE-427E-9E4C-1308DC6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완료 처리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F12BA-0028-49C5-90D5-8E927F69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작업 시작 로그 기록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C6249-7052-4CEF-BE4D-7CD6802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C9B24D-4F27-4FD7-9206-F953E161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EF90B2-1DBA-40EF-B029-01597BA1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완료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2A244-D3E8-4AAE-B378-71E21126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529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완료자와 완료 상태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B0E7C-E1B7-4891-A2E9-E4B0F235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로그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C4089B-FF8E-4F00-89D6-D70F393B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52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KPI와 필터 카운트에 동일하게 반영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CCB2D-241A-4251-AD8B-B7408CE8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D5FEBD-4770-4333-840E-06CFFF8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41CC48-A1F8-4178-8F69-1F26C8A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DND/청소거부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72BA34-517B-4ACC-A36F-729BC458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244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대상 제외 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98A5AB-7C14-4D9E-9BD6-3F468287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244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정책에 따라 제외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B428BE-6267-4001-9E34-ABEE8896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24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호텔 설정의 청소 정책과 연결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E1E32A-2C6E-48A5-931B-35201BD3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AE1106-75C9-452F-A0AD-38D5978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D173BB-1814-4ECC-9A5D-00516FC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8FF336-662E-46BB-A742-52C1F74E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BA2C2-3873-4E17-B7DB-0E5CDC9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2927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완료 객실이 5개라면 KPI, 필터 버튼, 타워/층별 카드에서도 모두 같은 5개로 보여야 합니다. 화면별 계산식이 다르면 즉시 데이터 불신이 생깁니다.</a:t>
            </a:r>
          </a:p>
        </p:txBody>
      </p:sp>
    </p:spTree>
    <p:extLst>
      <p:ext uri="{BB962C8B-B14F-4D97-AF65-F5344CB8AC3E}">
        <p14:creationId xmlns:p14="http://schemas.microsoft.com/office/powerpoint/2010/main" val="2876975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B9369-3100-47C3-9846-E9BFC173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8164FE-7457-41C6-AB5C-D9E6305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시설 보수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7C2A0-62C7-4DAE-A555-BFF248A4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보수 티켓은 사용자가 객실번호를 입력하는 것이 아니라 실제 객실을 선택해야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E31F3-0766-4371-A043-ACA014F8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입력식 객실번호는 오타와 존재하지 않는 호실을 만들 수 있으므로, 객실 마스터 데이터와 연결된 선택형 구조가 맞습니다.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DD308-957A-449C-B790-315FAD1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980C-3C12-452C-900A-AAD9833F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E4502-7EB7-4BE9-B69A-EB995A3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3662-ED95-482F-9297-EAD54C83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F6B3-09C2-426B-9CD6-6C95AA5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0EA7-22B7-4E91-9047-E9A5FA3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현재 화면에서 필요한 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1466E-DC12-4DAD-A20A-9E25535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이유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48EC6-02C2-47D3-81D7-B6DBBF3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연계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13D6E-D9CF-4EE0-A65B-55B0F21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D10C-A161-44F7-831A-CBB0F8A7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3813C-ABD5-4C38-942E-5FAFF7F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011CD-61B3-42E4-A21E-D400299C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객실번호 직접 입력 대신 객실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F4A25-7A5D-4018-9B34-D89AC5F3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574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오타/없는 객실 방지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E5A64-17CC-4C4B-96BF-3772286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574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C85F1-61C8-46B1-9C6E-1DE3042D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8B45D-55DE-4D89-B9F7-B9F26502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3EE6F-1361-4A3C-8D1D-D3B31A04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티켓 발행 시각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9BD18-51E2-4FC4-B821-44CC159E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등록일이 아니라 발행 일자+시간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5D255-E3AD-40B3-9E0F-13C425F1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480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대응 지연 시간을 계산해야 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0531C-43A4-4375-B9BD-61569D5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480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MaintenanceTicket.createdAt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9CCA5-AB56-4F41-BCB0-5C6A4B0B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853A1-6491-4944-8A27-BF510E7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14ACF-9ADA-4B9F-B220-90EE3E2C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작업 시작 시각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265101-8136-48AE-B0E1-5B4F489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385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착수 버튼 클릭 시 시작 시각 기록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F8099-8EBF-4A6C-B4D9-EC429402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385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진행중 상태의 기준이 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5737B5-D9AA-4D27-8B87-EEAFD8F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6385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MaintenanceTicket.startedAt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5868C-E7AC-49F8-844D-195C546F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F734B6-4B70-4F73-BA00-981C9D3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C360B2-1E0C-447C-A2C7-748792C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완료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83DA3-ECBA-486A-825A-92BD1235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진행중에서 바로 완료가 아니라 완료 확인 버튼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2B6BDC-07FA-4A07-9FD4-0CE44CE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291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실제 작업 완료와 관리자 확인을 구분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7E5ABA-C043-40D1-846B-D91A221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291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completedAt, verifiedAt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682AB-3828-4A34-A99C-21185EF7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DA460B-CCA8-47FC-B809-0306B25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928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871F3B-85FF-4B25-81D0-7F6D262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담당자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0DB78E-53E4-4749-A7F1-0E93931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196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미배정/담당자/우선순위 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8E3452-67D5-4FFC-B0FD-2E3C8D1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196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누가 처리할지 명확해야 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CF8A0A-3E82-4B46-8911-F48F0C3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196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Staff, Role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F1961-C7D1-45F7-95BB-121B0C38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9FD23C-5050-41A8-B5D2-C9EAEBDA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CDBEC6-7987-4176-A837-E2C12E1D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266319-AECA-4D36-A5E4-9B8DE5C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레이아웃 기준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95BBCA-5859-4D17-8993-7268A73F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7524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시간 정보가 추가되어도 오른쪽 관리 버튼이 밀리지 않도록 처리 일시 컬럼은 두 줄 요약 형태로 고정하고, 상세 설명 컬럼은 앞쪽의 넓은 공간을 활용합니다.</a:t>
            </a:r>
          </a:p>
        </p:txBody>
      </p:sp>
    </p:spTree>
    <p:extLst>
      <p:ext uri="{BB962C8B-B14F-4D97-AF65-F5344CB8AC3E}">
        <p14:creationId xmlns:p14="http://schemas.microsoft.com/office/powerpoint/2010/main" val="16599935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938BA-282A-469D-92F3-71373D26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10D0EC-B8EC-43DC-94B0-3A65ABCD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매출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A7924-D621-4796-B7F9-6C0FD725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매출 분석은 선택한 기준일을 포함한 최근 7일 흐름으로 보는 것이 자연스럽습니다.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BC1AA-BDE9-4801-A38C-1F6A1B4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아직 당일 정산 전이라도 운영 중 매출 추이를 보는 분석 화면이므로, 정산 목록과 목적을 분리해 설명해야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B61C8-9AE1-4344-8C8D-509C777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80E5C-2449-4748-B822-C5B76A66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FC6BF-FF4F-49E3-ABE3-269E7B55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d0da57ee04ecb"/>
          <a:srcRect xmlns:a="http://schemas.openxmlformats.org/drawingml/2006/main" l="0" t="990" r="0" b="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33550"/>
            <a:ext cx="4810125" cy="3143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8B761-A30B-4CE3-99D4-19D367B8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20856-E6ED-4154-9815-DE81519B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C7167-AEDF-48A5-86FC-FE0C6CB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285C7-4068-44B1-B9B9-93026323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FEDA8-2545-4674-8AD7-EEA9C9F5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C9098-74D4-4470-A088-5B12AF88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16E0E-E377-475B-BAB8-6CF6DBB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기간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50CD9-192E-4430-BBD7-B85C6FB8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디폴트는 시연 기준일 2026.06.10이며, 주별은 해당일 포함 이전 6일을 보여줍니다.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0A168-01FB-4545-BCD3-30515594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6AE86-4EE7-46F9-8D10-21BEE51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19A1D-E842-471D-AD95-596C400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KPI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1F867-3DF5-4673-9139-EF923269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총 매출, 객실 매출, 부가서비스 매출, 전주 대비를 같은 집계 원본에서 계산합니다.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9F3BC-0158-4E41-A66F-3306D7CE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F1C4F-B75E-4649-B315-294E621C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D158F-D16C-4B86-B864-420D48B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항목별 매출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A8F51-C69F-46D6-A7EE-BE35E46D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객실, 통합 포스, 골프장, 렌터카가 동일한 날짜 기준으로 합산되어야 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589660-0A1C-458F-998F-A7D1290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95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80312-2E0F-4E40-8D1E-FEB7CDA4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19550"/>
            <a:ext cx="4857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770A3-8F25-4858-8AF7-F5AC4082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767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정산 목록과 차이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7776B-33AD-4EC0-A8C5-3887B3E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767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32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매출 분석은 추이와 구조를 보는 화면이고, 정산 목록은 발행/미수금/명세서 처리를 보는 화면입니다.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A7080-97F5-468A-A6DA-80FDA45A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91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04C08-5815-4CD3-944D-5C3E21F3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485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783EE-4826-4697-884F-8BE07BA3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62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78E1C-5BA8-4A57-8B05-4D1E8ED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검증 포인트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19FCD1-2394-4A52-B63B-C4EB9C1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항목별 매출과 상단 KPI가 서로 다르면 고객은 어떤 데이터가 맞는지 판단할 수 없습니다. 따라서 화면의 모든 금액은 같은 RevenueSummary 계산 결과를 사용해야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4927954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F0676-8AC4-47BB-B101-EDE2008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422F5C-9668-4130-A4B0-1C0CBEB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정산 목록과 명세서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8B696-CFE7-4702-A608-C1B06D2E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정산 목록은 금액을 보는 화면이 아니라 발행, 미수금, 증빙을 처리하는 화면입니다.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CFAC5-6298-4BF2-93DE-D63A7F3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매출 분석과 같은 금액 기준을 쓰되, 사용 목적은 명세서 확인과 정산 상태 처리에 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E81E2-8C2A-4E16-9A49-E006A74E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8666C-5044-49FF-A349-AC85CC3A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C555E-2203-42C3-AF29-755401E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442FB-1E0B-4174-B9A8-8CAB9FF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C7BA8-4069-49AF-8FE6-0AC6230F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정산 유형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6A9AD-141E-406E-8A83-5A4BBA12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66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명세서 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D2B75-2993-438E-BDDF-3F5887B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66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반드시 필요한 날짜/상태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0631B-1B45-4C52-AC35-FA19F570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866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E85C7-85F4-46BF-B152-EFF5886E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E72F1-27A4-4DF1-A019-F31B532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82C9F-CA6F-4955-8BDC-76C89F7C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39D59-1C51-4107-A942-FA8A96C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438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객실료, 룸서비스, 보증금, 미수금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6D17C-7DD8-4572-86B4-D8001B81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38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투숙기간, 발행일시, 결제상태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CF84F-DFE1-4DC0-8138-E8B88E99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38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객실명세서와 POS/부가서비스 항목을 구분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A53EC6-F281-43A9-A9C7-7F3C8C0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4C9EA-2EEB-40C5-8504-523B293E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04E6A-EDCC-4F3F-9E8F-41A30FC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통합 POS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219CA-F673-4F7B-ADC1-0D1F11E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09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식음료, 리테일, 수기 오더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7CC7C-BE3B-4EB0-AA0B-953D42CB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주문일시, 완료/미완료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65414-47AA-4CB6-90CD-793DCC4A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9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미완료 건은 처리 가능한 상태로 보여야 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3B340-0601-41C2-8FC5-B06DC97E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B1391-53BD-4F62-A11F-24A7CE63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95A8C-4495-4191-BBAB-5372675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골프장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AD1EC-05CC-4429-A391-D59C939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81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그린피, 카트, 업체명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FB463-CC67-4367-BFF7-77BBDE0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81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예약일, 이용일, 처리상태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3B0538-8C33-459B-A070-7FCF31C4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81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업체가 생성형이면 풀다운으로 관리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96946-C4E5-4978-977E-81A9FC1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9FD194-57AD-441B-95A3-393A704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DBFD4-B4E5-4032-BAF4-0D689DD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렌터카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A22624-3BE7-41D5-B7A1-B6B72D1A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152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차종, 업체, 대여기간, 금액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D7BB7A-3BCE-4170-8A79-BC59457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52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대여 시작/반납 예정, 처리상태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D75F5-E696-4263-8737-983CCCB0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52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차종은 세단/SUV 외 전기차 등 확장 가능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07F45C-E9B1-469D-8ED8-C29E87A0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8BA13-7DB8-44BB-AB27-BF35EE63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AE40F-98E1-457E-9459-3F9C4D0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미수금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C565E4-3D91-4398-B18A-5F4617F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724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미수금 잔액과 원인 항목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554BFF-F4F3-406C-930E-DE7DBEC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24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발생일, 마감 전/후 상태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4306D1-0A58-4E24-BA1B-51C5EAF3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미수금 필터는 다른 정렬 버튼을 누르면 해제되어야 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E43430-DD3B-44B0-A48F-549FD804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27D603-4D0B-4046-8D0F-14F5F746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81D8D-762C-44FB-BE9D-FBD30C6C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9A794F-202D-4DA4-BBC9-88EFACDA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66272B-0509-414B-B621-2E012622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57850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명세서 버튼은 동일한 영수증을 반복 출력하는 것이 아니라 정산 유형별 항목 구조가 달라야 실제 업무 검증이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7440192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19B615-562F-4F4E-84AE-73B06E7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FA7A10-22B9-4139-A47A-66E4E7FC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부가서비스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7F5CB-9996-4134-ABCA-F1DDFE4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통합 POS, 골프, 렌터카는 서로 다른 서비스지만 검색과 처리 문법은 같아야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804D9-6D14-4162-8AC0-890B608E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서비스별 데이터 필드는 다르더라도 목록 화면, 기간 검색, 완료/미완료 처리, 객실/고객 연결 방식은 통일해야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D3FED-F09B-4797-BDC1-8B10713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535B0-9558-4EA9-9C9C-F86043A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D5DFC-6363-4DE2-B2F2-8AD10F6E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38271-EE00-4211-9877-9350B65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8274B-AC67-41CF-879F-77EA400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B5EF2-F031-49F3-A035-3C1448C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66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주요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545B3-7D12-4242-B787-A6554343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66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목록에서 필요한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415EB-D3D5-44F7-831D-65D9EA04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66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정산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F3DAD-CF40-42C6-91B1-124824B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3FC38-8AE4-4CA0-8C71-CC2ED784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CC940-CABB-46E8-8D47-DA3DAE76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통합 POS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7E0B4-3EF2-418C-8DDB-FC5E6FB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38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객실, 고객, 카테고리, 상품, 주문금액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5C201-51B3-4319-A2DF-9AB9AA7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38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완료/미완료, 주문일시, 기간 검색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58CB9-3AF4-4038-B2C2-94753D2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Folio 또는 POS 정산 항목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6BE05-553B-42AB-BC58-FFF44D2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1634A-5309-42D6-AF46-489F8C4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ECFEC-EA0A-4E0C-898C-0A055FFD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골프 예약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DE6E6-7E23-44A3-81B6-A5E3DA7D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업체, 이용일, 예약자, 인원, 금액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187DB-D34B-4B4D-A047-E97F24FD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09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업체 풀다운, 처리상태, 이미지 영역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20148-3F04-4030-B598-F2E11E1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09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골프장 매출 항목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38986-0EC3-47AF-8CDD-2CCD4090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E643F-3F72-4289-A233-D9678B23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A0E07-07F1-49E5-9141-018CE5B4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렌터카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A8C31-F636-4978-94A0-91055EF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81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업체, 차종, 대여기간, 객실, 고객, 금액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2D15A-ACCB-4542-B7C5-E5F1DE2E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81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차종 다양화, 업체 풀다운, 완료/미완료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EB086-9C44-4BD3-B9B3-F6137D47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81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렌터카 매출 항목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62F6A-DA2B-4273-A592-940DD541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6172B-95F2-4AB2-8838-7CA72C7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96DA86-D142-4FFA-A098-3466AE4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공통 검색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C6DEE-838E-47DE-B189-B193746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기간, 객실, 고객명, 상태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525D1-7F45-498E-9D04-F065F888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52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검색 버튼과 정렬 버튼 간격 통일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E153CD-960D-4B07-BCAC-F6799F2F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기간별 누적 매출/미수금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4B268-E9BB-4CEE-ACB3-83A8DE8C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D72DD5-D554-4F2C-B635-D5704B58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646440-32B4-41A2-87A8-C4273EF3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카테고리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99E81A-A304-4025-8A26-7BAEDA4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24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고객이 임의 등록 가능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8DFD3C-8423-4641-8621-C98CD346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24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아이콘 고정 대신 텍스트/풀다운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3370D-25EF-48D2-A796-8A4768B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24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카테고리별 매출 분석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21BD60-86AC-44C9-8125-82F75501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3B2CBE-67E1-4B96-A8AB-F86C703F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C5FC6E-04F5-4C77-BA8B-1B9C7E07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777413-7945-479F-BA14-8A9AC3E3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화면 원칙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3458E5-4C80-41AE-A1D5-A291DED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766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사용자는 서비스마다 다른 화면을 보더라도 검색 위치, 상태 필터, 목록 클릭 동작이 동일하다고 느껴야 합니다. 이 일관성이 실제 시연에서 가장 빨리 체감됩니다.</a:t>
            </a:r>
          </a:p>
        </p:txBody>
      </p:sp>
    </p:spTree>
    <p:extLst>
      <p:ext uri="{BB962C8B-B14F-4D97-AF65-F5344CB8AC3E}">
        <p14:creationId xmlns:p14="http://schemas.microsoft.com/office/powerpoint/2010/main" val="19031751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1F318-C27E-4AE2-8328-2439373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563B3D-3957-4540-B1E5-E65DD7EF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투숙객 CRM과 멤버십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5F44F-473D-40F9-A25A-0227291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고객 목록은 요약을 보여주고, 개인정보는 상세 열람 시에만 노출해야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F760D-7189-4000-88EE-C6508434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연락처가 목록에 노출되면 감사 로그를 남기기 어렵기 때문에 고객명, 국적, 등급, 최근 이용 정보 중심으로 보여주는 것이 안전합니다.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79D1F-DA92-4BE6-BDFF-8CCE177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6B7E0-A098-4BFE-9FD7-473B5FDA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EFFEF-4469-4F4A-BB1B-291C18E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0EB96-219F-4C3E-8016-195A3D28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103C-4B67-49A9-970B-2FB39F08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183F0-AF21-4E14-89C5-58FAE511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목록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678F5-73AB-43C7-8942-8C50ADBB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66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상세 팝업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A7BEE-AB94-45EE-B0AD-A5B85321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감사 로그 필요 여부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A9929-58DB-40AF-AA12-AC2047CB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67304-7177-4CF5-B76B-B173BBD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873AE-AFAB-4E5D-A01F-AC419A7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고객명/등급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F5EB9-E39C-44BC-AF5E-AEE8079D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38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등급 아이콘 + 이름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D5BFF-3D8F-4E95-9562-0E62347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38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등급 변경 이력, 등급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EA021-A2A1-45AC-903C-E061DEAB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38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일반적으로 불필요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EDA92-D3E0-44A5-8404-C0BE712E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D15EF-79C3-4631-BCD3-666BD40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B168E-2EF6-4311-B429-2D0BC68C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국적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B01B0-0E9D-45AF-ACF0-7BD42C70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09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정렬된 국가 목록 기준으로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5287F-FBAB-4DC4-8FF9-EE5997A7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009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여권/신분증 정보와 함께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0C800-5ECA-4B83-AACC-5A16862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민감도에 따라 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D371F-4D1F-464D-858A-18B348A0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517E1-F86D-4574-BD89-2C43850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DF96C-27AE-47FE-B986-B54386CB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B8EFA8-948D-4CC8-8D84-40E968F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목록에서는 제거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4A072-80DF-431A-90F1-0FF53B7C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581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상세 팝업에서만 표시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80EE7F-CAF6-4301-AF8F-822D55E4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81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필수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8D3B1-3761-49BE-8FDB-3AEE3BC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074FA-AFC8-42C8-AC2F-E224D559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B8D711-8344-4225-8CDC-59192215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특이사항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B05FD-8F23-4641-9A5B-58922E0E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529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배지 또는 요약만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20A33-9073-42DB-90BC-F649EED4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52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전체 메모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36911E-28A2-42AC-B3FF-B9485FF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52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개인정보 포함 시 필요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683957-5352-4076-8E30-9EDFE804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9E655-29A5-4500-ADC2-8B6066A8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8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50AA6-1957-4065-AFBB-E112A67B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등급별 혜택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F662B1-A74B-4D01-9D8C-6844F5A0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244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승급기준 관리 데이터 기준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274F9A-E8E9-44F3-9136-2F442A89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244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실제 설정된 혜택만 표시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776FCE-00B0-4EEE-A21B-680A256C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44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불필요한 임의 혜택 제거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ECA264-A512-4CBE-A9D8-090D16F6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FC2AE0-0FB4-41C9-8778-CF7EE102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86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07D75A-BB13-4A54-BB7D-93C98568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5ECF31-B4E8-4167-AE2C-4B30D08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B9C9C6-7AF0-44D0-A89E-5790D1E2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76900"/>
            <a:ext cx="771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 정보는 '많이 보여주는 화면'보다 '필요할 때 열람하고 기록이 남는 화면'이 더 안전합니다. 특히 엑셀 다운로드는 반드시 별도 감사 이벤트가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6008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AF0837-E9FC-47CC-BE80-11FAC13E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D915D4-4328-4BF6-BBF5-D9C30B0B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직원과 권한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D6D68-DD87-416F-9CD2-9A85C70F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직원 목록은 계정 관리, 권한 설정은 역할 정책 관리로 분리해야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C6631-67D7-47C6-B7C3-520AFFB3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Admin은 호텔 설정에서 관리하고, 어떤 경우에도 다중 Admin 부여가 생기지 않도록 역할 제약이 필요합니다.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49225-A7BB-4CB6-B6A2-A29CCD70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DB3C1-5583-4C44-90EC-8E170B4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8164D-B99B-4641-A33C-3AE16139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AD92D-1216-4167-B55B-974024B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E42AE-09C6-43A5-8376-CC17D024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관리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F94FB-CC06-4DD0-9E75-0D79B4F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669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화면 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AE0C8-8A15-4D37-8399-7039039F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66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정책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3249-922B-47F0-AFF0-78D6594C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비고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C1044-EB98-4F3E-A02E-6CCFA035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CE1A8-57CD-4B72-A940-7DF9390E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30CE2-5F63-4370-848D-58E9DDCC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직원 목록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B19AD-F8FD-46AA-8ECF-8CA9835B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384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이름, 이메일, 역할, 근무상태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1F0AA-7FD2-4291-8512-D6C91BB1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38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역할 변경 가능하되 Admin은 변경 금지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2221F-AA68-4AA6-B105-CC1020E5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38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프로필 약어 원형은 삭제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8E533-D994-4BDA-B81E-62C21F48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BF94C-CCC3-416A-9163-1061D95D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B60A8-9933-461A-AFA9-9CC33E3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B47B5-218D-4325-84BF-517748CA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초기화가 아니라 재설정 플로우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18290-962D-4E3C-8A58-DB99146C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임시 비밀번호 이메일 발송 또는 새 비밀번호 입력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7E725-1AE4-4E77-A04F-70BAB25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로그인 정책과 연결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6F7B6-F629-480C-BC69-97B2A423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C69D9-333D-455E-8364-3C2F08C7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2B1425-B552-4F58-88DF-2E273B4F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역할 목록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3144F-CE44-44C4-A669-D4916C14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814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역할별 권한 확인/수정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1D6DE4-7ED1-47C2-8200-113A11F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81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역할 색상은 중복 선택 불가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04CF7-7F69-49BE-89F0-3F001AE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색상은 식별 보조 수단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E8703-EA37-4151-B653-83D8F150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B458-32C4-4E68-A456-B61C6B9E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0AB83-D332-433B-8BF8-9189B42A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40A3C8-ECA3-40AB-BA6D-45D09D4A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529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시스템 최고 관리자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46C241-1518-4F9A-9E61-0AC6124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1529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한 명만 존재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177B79-4CFB-48B7-A001-43BEEF4E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529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직원 목록에서 변경 불가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FBC6A3-B1D4-4B02-BE55-521DD11F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50AC4C-8EE1-462C-8F7C-830DA7B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923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A8A5E-2790-4717-9FDC-9490DEDA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감사 로그 접근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862C4-9C15-4E88-BF1A-7A5B712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244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개인정보 열람 기록 확인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4590B7-95E0-4F99-98E2-062B2AA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7244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Admin 전용 메뉴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04BE35-A755-478D-9052-8395CE3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24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권한 없는 직접 접근 차단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4172EF-5E35-4A2F-A9D3-797DE86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E04C16-6948-4C9A-8FC1-4C8BF179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AF1C00-487F-43E7-AAF6-89816DD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37D77D-777C-48A3-B48F-D73348D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00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운영 리스크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6EE4B1-ED69-4529-BB32-51E77541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781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권한 관리가 느슨하면 화면 개선보다 더 큰 문제가 생깁니다. 개인정보 열람, 엑셀 다운로드, 역할 변경은 반드시 누가 수행했는지 추적 가능해야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769027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7466B6-5126-4627-B031-380C146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099029-82FB-4F99-A96F-562C03B9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감사 로그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93D20-E0D6-4440-BDC0-968A5C78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개인정보 열람은 기능이 아니라 보안 통제 항목으로 관리해야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15F25-8CF2-413C-8758-B4AD778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투숙객 상세, 예약 화면 고객정보, 엑셀 다운로드처럼 개인정보가 노출되는 순간을 별도 이벤트로 기록합니다.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1159-FE16-40F8-A145-6DDEDDB7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BDB16-883E-4EB3-93EA-37FB9122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6A3AD-9CE5-429F-9F44-A4FA224E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ce35195b54413"/>
          <a:srcRect xmlns:a="http://schemas.openxmlformats.org/drawingml/2006/main" l="0" t="3030" r="0" b="3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33550"/>
            <a:ext cx="4714875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DCFB-8028-4158-9EBE-0FC591D7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47148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F21A8-5B09-4F45-AB3B-236AB563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3FC35-C5E9-42FB-A30B-496C9F1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감사 이벤트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E9191-0628-4EAB-9979-26090877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기록 내용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FD9C5-E884-407F-B3AA-0A0FBC46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CCBDD-883D-4CFE-B340-FBABA441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288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9410A-98BE-49C7-9A95-1C07C18A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guest.detail.view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94CA8-3F67-4C06-BFA2-E7C871D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투숙객 상세에서 연락처/특이사항 등 개인정보 필드 열람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C1A1D-7128-4608-9392-452EB572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23447-8B21-4AAE-AE38-B3D07087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FF983-8B8E-4F39-B102-674B69D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813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reservation.guest_detail.view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810CF-5A59-4FFC-B42C-C7F2259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관리 또는 타임라인에서 고객정보 팝업 열람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1E0D5-8976-4210-A335-E4ACFC6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8016A-D959-4DE1-95DD-977B1544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DD613-2339-455D-BB0A-EFE7F5E2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guest.export.download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DD965-8853-466A-A0EA-324EC90B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투숙객 목록 엑셀 다운로드 수행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672A91-A08F-4E8D-BA89-D2D91D0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5B1B5-AEA7-457D-8113-04D852D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88345-B4A5-4ED6-AC07-4539F8CA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719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reservation.export.download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792B9-0193-402C-A5FE-DA8660F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데이터 다운로드 수행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58536-BE17-4B4C-BBA7-8BCD5E8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9F5FD-6D64-4D2D-ADCC-BFF9280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8FBCEA-AC32-4E04-A20F-D09A266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67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로그 보존 원칙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298568-BED8-495F-AE7F-081253F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818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전화번호 원문은 저장하지 않고 대상 ID, 필드명, 사용자, 시각만 기록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3B0E2C-F383-421C-8FC1-C9E0EB2B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8C886D-7B92-49B3-B905-6CE25CE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4857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A523C-CCBC-4E01-AFA5-0584537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A4D420-77F3-4A60-ADD1-F93D74DB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관리자 전용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F3741E-E49E-4CAF-9919-2E31B6A9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48275"/>
            <a:ext cx="752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감사 로그 메뉴는 Admin만 볼 수 있어야 합니다. 일반 직원이 개인정보를 열람할 수는 있어도, 누가 열람했는지를 확인하는 권한은 운영 관리자에게 제한하는 것이 맞습니다.</a:t>
            </a:r>
          </a:p>
        </p:txBody>
      </p:sp>
    </p:spTree>
    <p:extLst>
      <p:ext uri="{BB962C8B-B14F-4D97-AF65-F5344CB8AC3E}">
        <p14:creationId xmlns:p14="http://schemas.microsoft.com/office/powerpoint/2010/main" val="6246529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168EB-A863-4B38-B340-BFA9A73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78F7BC-DDAC-44AD-B8FD-8F832D0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외부 API 연계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D8B15-8C89-42D2-B6CF-877D5AA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"/>
            <a:ext cx="7905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프론트가 정리되면 백엔드는 화면 뒤가 아니라 데이터 계약을 구현합니다.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850A7-87A4-48E9-9CCE-64DD4B5E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API 구현 전에 화면별 데이터 소유자, 입력값, 상태 이벤트, 실패 처리, 감사 로그 기준을 명확히 고정해야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C4206-1320-4F15-A0F3-80834C8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3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AC8AF-B1B4-4FD7-8788-8B548954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685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Hotel PMS 통합 운영 대시보드 보고서 | 2026.06.10 시연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0233F-337D-4431-BADA-3427E31D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53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C332A-002C-4B33-88CA-E328E449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1DBD6-740D-4627-8284-1EF100F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연계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484F2-DF99-46DC-ABDD-0E36477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66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들어오는 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F0719-A69C-4F43-8C89-184567A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669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나가는 이벤트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84E8A-613E-4D66-B7F4-713DAC01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669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실패/보안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F2ED7-9298-4267-910D-D9585C92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73E78-9720-42F5-B354-8020507D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DBDFC-B2A9-4D80-8013-B7505340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 OTA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9FD98-E3BA-496C-8440-425BA384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193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예약자, 일정, 객실유형, 결제/보증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EDE22-C3E9-4EAB-9456-959AEA7D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체크인, 취소, 객실 배정 변경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AA2F2-4FEF-4C8B-863D-25A12C6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중복 예약, 객실 불가, 개인정보 마스킹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E9930-50F4-410E-B26C-A8CBD7BF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83FD9-0727-4853-99D4-3DC6BF9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ABF5B-0A54-4517-8F96-AD4B7041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결제/정산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0E685-1459-4173-8B53-AE99E024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71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승인/취소/환불/미수금 정보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FD1C7-020F-48C2-B1F4-94A6E61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명세서 발행, 일일 마감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0B8DA-16CE-475F-885C-C1894886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718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금액 불일치, 재시도, 감사 추적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9DECE3-6F7F-422D-9CFE-24E8516A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A2520-77CF-4655-A61F-13BCB10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9B081-8C3C-4661-B3F4-A1DEDC4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POS/부가서비스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D46B2-9E81-4717-B32F-1B6AE6E2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242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주문, 완료상태, 금액, 객실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18B9D-C72F-4934-B464-C7E1294F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242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Folio 반영, 미완료 처리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F4B59-334F-4E92-8714-8D7D7AD7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미연결, 완료 전 정산 방지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2627B-0367-4D16-8AD8-CC6E1334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BB024-2AF6-4053-A31A-5DF4155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E6044-9987-480A-9928-0F566A7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객실/운영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333F79-399C-4E69-9D08-3CA0EDA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767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객실 상태, 청소/보수 작업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FC6D3-D0AA-48C6-85B6-0AB5854E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청소 완료, 보수 완료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F8643C-234D-4206-81AC-C86A91C7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767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존재하지 않는 객실 차단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54081F-CE37-4076-A81C-998A202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0DFAE5-8E6F-4F7D-9E18-CCE95FAE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D6172-10DF-407B-BEED-C5C4EEF8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고객/권한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FC7376-8DC7-4F84-9B88-0C804451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고객 프로필, 멤버십, 직원 역할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9DC296-7A0F-4C7D-9FFA-95091FC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개인정보 열람 로그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21D41C-ED4E-459B-899E-B480DB5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291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780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Admin 단일성, 권한별 화면 접근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35EBCD-D271-4C13-8D7B-1574DB9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923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84AFE0-66DE-48DE-A68C-61184D3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239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E97BEB-CD85-48CD-9A91-B88E4AC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62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A47BB9-31AC-44F8-9E24-46847BAE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다음 작업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3E3AEA-AF67-4F20-BB0B-97DE3D0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334155"/>
                </a:solidFill>
                <a:latin typeface="Malgun Gothic"/>
                <a:ea typeface="Malgun Gothic"/>
                <a:cs typeface="Malgun Gothic"/>
              </a:rPr>
              <a:t>1) API 스키마 확정  2) 날짜/통화/상태 코드 표준화  3) 실패/재시도 정책 정의  4) 실제 데이터 리허설  5) 시연 시나리오 고정</a:t>
            </a:r>
          </a:p>
        </p:txBody>
      </p:sp>
    </p:spTree>
    <p:extLst>
      <p:ext uri="{BB962C8B-B14F-4D97-AF65-F5344CB8AC3E}">
        <p14:creationId xmlns:p14="http://schemas.microsoft.com/office/powerpoint/2010/main" val="839110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2026-06-09T06:52:15.6500000Z</dcterms:created>
  <dcterms:modified xsi:type="dcterms:W3CDTF">2026-06-09T06:52:15.6500000Z</dcterms:modified>
</coreProperties>
</file>