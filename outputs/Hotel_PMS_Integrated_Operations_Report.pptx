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796f0ab66049b0" /><Relationship Type="http://schemas.openxmlformats.org/officeDocument/2006/relationships/extended-properties" Target="/docProps/app.xml" Id="Rab957af60953439b" /><Relationship Type="http://schemas.openxmlformats.org/officeDocument/2006/relationships/officeDocument" Target="/ppt/presentation.xml" Id="R184ee961dd1b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65ff57701549e7"/>
  </p:sldMasterIdLst>
  <p:notesMasterIdLst>
    <p:notesMasterId xmlns:r="http://schemas.openxmlformats.org/officeDocument/2006/relationships" r:id="R5b4d33eef5e14734"/>
  </p:notesMasterIdLst>
  <p:sldIdLst>
    <p:sldId xmlns:r="http://schemas.openxmlformats.org/officeDocument/2006/relationships" id="256" r:id="Rd329705f7c2a467e"/>
    <p:sldId xmlns:r="http://schemas.openxmlformats.org/officeDocument/2006/relationships" id="257" r:id="Rfaa3db95554d4f98"/>
    <p:sldId xmlns:r="http://schemas.openxmlformats.org/officeDocument/2006/relationships" id="258" r:id="Rf543fc560d4d40fb"/>
    <p:sldId xmlns:r="http://schemas.openxmlformats.org/officeDocument/2006/relationships" id="259" r:id="R3cd040f7504943f6"/>
    <p:sldId xmlns:r="http://schemas.openxmlformats.org/officeDocument/2006/relationships" id="260" r:id="Re212fcdc2992471d"/>
    <p:sldId xmlns:r="http://schemas.openxmlformats.org/officeDocument/2006/relationships" id="261" r:id="R509df6d77c114064"/>
    <p:sldId xmlns:r="http://schemas.openxmlformats.org/officeDocument/2006/relationships" id="262" r:id="R858edda555be4144"/>
    <p:sldId xmlns:r="http://schemas.openxmlformats.org/officeDocument/2006/relationships" id="263" r:id="Re1ea16362cd247f1"/>
    <p:sldId xmlns:r="http://schemas.openxmlformats.org/officeDocument/2006/relationships" id="264" r:id="Re201ff15bc1b4f21"/>
    <p:sldId xmlns:r="http://schemas.openxmlformats.org/officeDocument/2006/relationships" id="265" r:id="Rb167ebfa34804715"/>
    <p:sldId xmlns:r="http://schemas.openxmlformats.org/officeDocument/2006/relationships" id="266" r:id="Rf9e2b4c970244511"/>
    <p:sldId xmlns:r="http://schemas.openxmlformats.org/officeDocument/2006/relationships" id="267" r:id="Re7296bb0a6634c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ca50c67b6431c" /><Relationship Type="http://schemas.openxmlformats.org/officeDocument/2006/relationships/slideMaster" Target="/ppt/slideMasters/slideMaster1.xml" Id="R0865ff57701549e7" /><Relationship Type="http://schemas.openxmlformats.org/officeDocument/2006/relationships/notesMaster" Target="/ppt/notesMasters/notesMaster1.xml" Id="R5b4d33eef5e14734" /><Relationship Type="http://schemas.openxmlformats.org/officeDocument/2006/relationships/presProps" Target="/ppt/presProps.xml" Id="Rfb997950b5364dde" /><Relationship Type="http://schemas.openxmlformats.org/officeDocument/2006/relationships/viewProps" Target="/ppt/viewProps.xml" Id="Rcc7667d453334563" /><Relationship Type="http://schemas.openxmlformats.org/officeDocument/2006/relationships/tableStyles" Target="/ppt/tableStyles.xml" Id="R5bdcfb5df3d04a3e" /><Relationship Type="http://schemas.openxmlformats.org/officeDocument/2006/relationships/slide" Target="/ppt/slides/slide1.xml" Id="Rd329705f7c2a467e" /><Relationship Type="http://schemas.openxmlformats.org/officeDocument/2006/relationships/slide" Target="/ppt/slides/slide2.xml" Id="Rfaa3db95554d4f98" /><Relationship Type="http://schemas.openxmlformats.org/officeDocument/2006/relationships/slide" Target="/ppt/slides/slide3.xml" Id="Rf543fc560d4d40fb" /><Relationship Type="http://schemas.openxmlformats.org/officeDocument/2006/relationships/slide" Target="/ppt/slides/slide4.xml" Id="R3cd040f7504943f6" /><Relationship Type="http://schemas.openxmlformats.org/officeDocument/2006/relationships/slide" Target="/ppt/slides/slide5.xml" Id="Re212fcdc2992471d" /><Relationship Type="http://schemas.openxmlformats.org/officeDocument/2006/relationships/slide" Target="/ppt/slides/slide6.xml" Id="R509df6d77c114064" /><Relationship Type="http://schemas.openxmlformats.org/officeDocument/2006/relationships/slide" Target="/ppt/slides/slide7.xml" Id="R858edda555be4144" /><Relationship Type="http://schemas.openxmlformats.org/officeDocument/2006/relationships/slide" Target="/ppt/slides/slide8.xml" Id="Re1ea16362cd247f1" /><Relationship Type="http://schemas.openxmlformats.org/officeDocument/2006/relationships/slide" Target="/ppt/slides/slide9.xml" Id="Re201ff15bc1b4f21" /><Relationship Type="http://schemas.openxmlformats.org/officeDocument/2006/relationships/slide" Target="/ppt/slides/slide10.xml" Id="Rb167ebfa34804715" /><Relationship Type="http://schemas.openxmlformats.org/officeDocument/2006/relationships/slide" Target="/ppt/slides/slide11.xml" Id="Rf9e2b4c970244511" /><Relationship Type="http://schemas.openxmlformats.org/officeDocument/2006/relationships/slide" Target="/ppt/slides/slide12.xml" Id="Re7296bb0a6634c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98f24607c2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1fee8ba3e34b98" /><Relationship Type="http://schemas.openxmlformats.org/officeDocument/2006/relationships/notesMaster" Target="/ppt/notesMasters/notesMaster1.xml" Id="Rb97f75b26e4246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e5818870674771" /><Relationship Type="http://schemas.openxmlformats.org/officeDocument/2006/relationships/notesMaster" Target="/ppt/notesMasters/notesMaster1.xml" Id="R234a18cb7dae4f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9e150474cd493e" /><Relationship Type="http://schemas.openxmlformats.org/officeDocument/2006/relationships/notesMaster" Target="/ppt/notesMasters/notesMaster1.xml" Id="R4d4983ea41104c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6a4959f384a75" /><Relationship Type="http://schemas.openxmlformats.org/officeDocument/2006/relationships/notesMaster" Target="/ppt/notesMasters/notesMaster1.xml" Id="R72dc6faf48bd47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d604c50b82422e" /><Relationship Type="http://schemas.openxmlformats.org/officeDocument/2006/relationships/notesMaster" Target="/ppt/notesMasters/notesMaster1.xml" Id="Rbed3a4e969ed41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55d5f7079f462b" /><Relationship Type="http://schemas.openxmlformats.org/officeDocument/2006/relationships/notesMaster" Target="/ppt/notesMasters/notesMaster1.xml" Id="R8732e04a47684e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06c5fd30dc406a" /><Relationship Type="http://schemas.openxmlformats.org/officeDocument/2006/relationships/notesMaster" Target="/ppt/notesMasters/notesMaster1.xml" Id="Rd2d3dc5dc27245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59c70411204aa1" /><Relationship Type="http://schemas.openxmlformats.org/officeDocument/2006/relationships/notesMaster" Target="/ppt/notesMasters/notesMaster1.xml" Id="R9a09146379d448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f39c7e3b7f488a" /><Relationship Type="http://schemas.openxmlformats.org/officeDocument/2006/relationships/notesMaster" Target="/ppt/notesMasters/notesMaster1.xml" Id="Rde17889f9adb49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7c0d73362941d0" /><Relationship Type="http://schemas.openxmlformats.org/officeDocument/2006/relationships/notesMaster" Target="/ppt/notesMasters/notesMaster1.xml" Id="Rc0f8df1186654e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aba0025400402d" /><Relationship Type="http://schemas.openxmlformats.org/officeDocument/2006/relationships/notesMaster" Target="/ppt/notesMasters/notesMaster1.xml" Id="Rc4ae6c08c9f847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0302b67ab143dc" /><Relationship Type="http://schemas.openxmlformats.org/officeDocument/2006/relationships/notesMaster" Target="/ppt/notesMasters/notesMaster1.xml" Id="Reb3e5c39106e4e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a8093f84743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dc155122d64ec5" /><Relationship Type="http://schemas.openxmlformats.org/officeDocument/2006/relationships/slideLayout" Target="/ppt/slideLayouts/slideLayout1.xml" Id="R05116019b3f24a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116019b3f24a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594d64d40479c" /><Relationship Type="http://schemas.openxmlformats.org/officeDocument/2006/relationships/image" Target="/ppt/media/image.png" Id="R310a3d81dd634487" /><Relationship Type="http://schemas.openxmlformats.org/officeDocument/2006/relationships/image" Target="/ppt/media/image.svg" Id="R59da6c66f114415f" /><Relationship Type="http://schemas.openxmlformats.org/officeDocument/2006/relationships/image" Target="/ppt/media/image2.png" Id="Ra4e2d5df37ef4f30" /><Relationship Type="http://schemas.openxmlformats.org/officeDocument/2006/relationships/notesSlide" Target="/ppt/notesSlides/notesSlide1.xml" Id="R3ac7e264d7bf4b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9193d216d41da" /><Relationship Type="http://schemas.openxmlformats.org/officeDocument/2006/relationships/image" Target="/ppt/media/image3.png" Id="Rdfd0c80796d54a89" /><Relationship Type="http://schemas.openxmlformats.org/officeDocument/2006/relationships/image" Target="/ppt/media/image2.svg" Id="Raa73294c375c4d9c" /><Relationship Type="http://schemas.openxmlformats.org/officeDocument/2006/relationships/image" Target="/ppt/media/image4.png" Id="R97f1a26b446941a8" /><Relationship Type="http://schemas.openxmlformats.org/officeDocument/2006/relationships/image" Target="/ppt/media/image3.svg" Id="R15783f748dd44e6d" /><Relationship Type="http://schemas.openxmlformats.org/officeDocument/2006/relationships/image" Target="/ppt/media/image5.png" Id="Ra0e0b790a042415c" /><Relationship Type="http://schemas.openxmlformats.org/officeDocument/2006/relationships/image" Target="/ppt/media/image4.svg" Id="R08fe5a692aee4df0" /><Relationship Type="http://schemas.openxmlformats.org/officeDocument/2006/relationships/image" Target="/ppt/media/image6.png" Id="R9de9a061a52e4085" /><Relationship Type="http://schemas.openxmlformats.org/officeDocument/2006/relationships/image" Target="/ppt/media/image5.svg" Id="Rf7fcf26c3eae4075" /><Relationship Type="http://schemas.openxmlformats.org/officeDocument/2006/relationships/notesSlide" Target="/ppt/notesSlides/notesSlide2.xml" Id="R4db85d23e87142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106bcb9a64b08" /><Relationship Type="http://schemas.openxmlformats.org/officeDocument/2006/relationships/image" Target="/ppt/media/image7.png" Id="R76a117ed96154613" /><Relationship Type="http://schemas.openxmlformats.org/officeDocument/2006/relationships/image" Target="/ppt/media/image6.svg" Id="R0c19d970cf504f45" /><Relationship Type="http://schemas.openxmlformats.org/officeDocument/2006/relationships/image" Target="/ppt/media/image8.png" Id="Re45dd53711db46f7" /><Relationship Type="http://schemas.openxmlformats.org/officeDocument/2006/relationships/image" Target="/ppt/media/image7.svg" Id="Rac85ffd7afa1415c" /><Relationship Type="http://schemas.openxmlformats.org/officeDocument/2006/relationships/image" Target="/ppt/media/image9.png" Id="R7d2d1207c6b34f4e" /><Relationship Type="http://schemas.openxmlformats.org/officeDocument/2006/relationships/image" Target="/ppt/media/image8.svg" Id="R62dd207063354853" /><Relationship Type="http://schemas.openxmlformats.org/officeDocument/2006/relationships/image" Target="/ppt/media/image10.png" Id="Rdcc4308c49384084" /><Relationship Type="http://schemas.openxmlformats.org/officeDocument/2006/relationships/image" Target="/ppt/media/image9.svg" Id="Rdfae85f79f984bea" /><Relationship Type="http://schemas.openxmlformats.org/officeDocument/2006/relationships/image" Target="/ppt/media/image11.png" Id="Rcd4bf7a4212c4fd9" /><Relationship Type="http://schemas.openxmlformats.org/officeDocument/2006/relationships/image" Target="/ppt/media/image10.svg" Id="R36e1fe20c6fb4c3d" /><Relationship Type="http://schemas.openxmlformats.org/officeDocument/2006/relationships/image" Target="/ppt/media/image12.png" Id="Rc1b8d4a539964af5" /><Relationship Type="http://schemas.openxmlformats.org/officeDocument/2006/relationships/image" Target="/ppt/media/image11.svg" Id="Rd013ecf087364a38" /><Relationship Type="http://schemas.openxmlformats.org/officeDocument/2006/relationships/image" Target="/ppt/media/image13.png" Id="Rf0fbd7edb7f94e65" /><Relationship Type="http://schemas.openxmlformats.org/officeDocument/2006/relationships/image" Target="/ppt/media/image12.svg" Id="Rb71f8fc17e4245ed" /><Relationship Type="http://schemas.openxmlformats.org/officeDocument/2006/relationships/image" Target="/ppt/media/image14.png" Id="Rcb33e2a0289b41d6" /><Relationship Type="http://schemas.openxmlformats.org/officeDocument/2006/relationships/image" Target="/ppt/media/image13.svg" Id="R324e4a3b8a22441c" /><Relationship Type="http://schemas.openxmlformats.org/officeDocument/2006/relationships/notesSlide" Target="/ppt/notesSlides/notesSlide3.xml" Id="Rabf2586571334d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bf6387bcf4378" /><Relationship Type="http://schemas.openxmlformats.org/officeDocument/2006/relationships/image" Target="/ppt/media/image15.png" Id="R4873500f0e9d475b" /><Relationship Type="http://schemas.openxmlformats.org/officeDocument/2006/relationships/image" Target="/ppt/media/image14.svg" Id="R2024b8043c6f40fc" /><Relationship Type="http://schemas.openxmlformats.org/officeDocument/2006/relationships/image" Target="/ppt/media/image16.png" Id="R2a0bc20022174048" /><Relationship Type="http://schemas.openxmlformats.org/officeDocument/2006/relationships/notesSlide" Target="/ppt/notesSlides/notesSlide4.xml" Id="R2121feadece14d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4ad932d704694" /><Relationship Type="http://schemas.openxmlformats.org/officeDocument/2006/relationships/image" Target="/ppt/media/image17.png" Id="Rcbdd66abae3346f4" /><Relationship Type="http://schemas.openxmlformats.org/officeDocument/2006/relationships/image" Target="/ppt/media/image15.svg" Id="Rf07b1425b1af49fa" /><Relationship Type="http://schemas.openxmlformats.org/officeDocument/2006/relationships/image" Target="/ppt/media/image18.png" Id="R03004c52d9944404" /><Relationship Type="http://schemas.openxmlformats.org/officeDocument/2006/relationships/image" Target="/ppt/media/image16.svg" Id="Rdcfcc6b96dd34e99" /><Relationship Type="http://schemas.openxmlformats.org/officeDocument/2006/relationships/image" Target="/ppt/media/image19.png" Id="Ra7937bfcf3014d83" /><Relationship Type="http://schemas.openxmlformats.org/officeDocument/2006/relationships/image" Target="/ppt/media/image17.svg" Id="R37a758f2d7d245b4" /><Relationship Type="http://schemas.openxmlformats.org/officeDocument/2006/relationships/image" Target="/ppt/media/image20.png" Id="R21c57252070848bd" /><Relationship Type="http://schemas.openxmlformats.org/officeDocument/2006/relationships/image" Target="/ppt/media/image18.svg" Id="R8b9d9b13c7974f42" /><Relationship Type="http://schemas.openxmlformats.org/officeDocument/2006/relationships/image" Target="/ppt/media/image21.png" Id="Rda970d26095d44a8" /><Relationship Type="http://schemas.openxmlformats.org/officeDocument/2006/relationships/image" Target="/ppt/media/image19.svg" Id="R4fd1d3c8ac934567" /><Relationship Type="http://schemas.openxmlformats.org/officeDocument/2006/relationships/image" Target="/ppt/media/image22.png" Id="R0d6987b8aa5647f2" /><Relationship Type="http://schemas.openxmlformats.org/officeDocument/2006/relationships/image" Target="/ppt/media/image20.svg" Id="R5dd4d9f4fa5e4044" /><Relationship Type="http://schemas.openxmlformats.org/officeDocument/2006/relationships/image" Target="/ppt/media/image23.png" Id="R96d2cdb04a8149fe" /><Relationship Type="http://schemas.openxmlformats.org/officeDocument/2006/relationships/image" Target="/ppt/media/image21.svg" Id="R8f22d065d9484815" /><Relationship Type="http://schemas.openxmlformats.org/officeDocument/2006/relationships/notesSlide" Target="/ppt/notesSlides/notesSlide5.xml" Id="Rf7300573155942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e0236d37d4372" /><Relationship Type="http://schemas.openxmlformats.org/officeDocument/2006/relationships/image" Target="/ppt/media/image24.png" Id="R15c1742300c04b1c" /><Relationship Type="http://schemas.openxmlformats.org/officeDocument/2006/relationships/image" Target="/ppt/media/image22.svg" Id="Rfea8a70c12d04fbd" /><Relationship Type="http://schemas.openxmlformats.org/officeDocument/2006/relationships/image" Target="/ppt/media/image25.png" Id="R8b6d6af8c4734474" /><Relationship Type="http://schemas.openxmlformats.org/officeDocument/2006/relationships/image" Target="/ppt/media/image23.svg" Id="Re65181e3166a4cc4" /><Relationship Type="http://schemas.openxmlformats.org/officeDocument/2006/relationships/image" Target="/ppt/media/image26.png" Id="Rf48e7c253a3641b1" /><Relationship Type="http://schemas.openxmlformats.org/officeDocument/2006/relationships/image" Target="/ppt/media/image24.svg" Id="R78d23b49b18d4b91" /><Relationship Type="http://schemas.openxmlformats.org/officeDocument/2006/relationships/image" Target="/ppt/media/image27.png" Id="Re4515d0a1d4e4955" /><Relationship Type="http://schemas.openxmlformats.org/officeDocument/2006/relationships/image" Target="/ppt/media/image25.svg" Id="R773475414fb648b9" /><Relationship Type="http://schemas.openxmlformats.org/officeDocument/2006/relationships/image" Target="/ppt/media/image28.png" Id="R86cf58b97c344640" /><Relationship Type="http://schemas.openxmlformats.org/officeDocument/2006/relationships/image" Target="/ppt/media/image26.svg" Id="R790eea97501942c9" /><Relationship Type="http://schemas.openxmlformats.org/officeDocument/2006/relationships/notesSlide" Target="/ppt/notesSlides/notesSlide6.xml" Id="R36a184277a5c47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2e3d5336f4bfc" /><Relationship Type="http://schemas.openxmlformats.org/officeDocument/2006/relationships/image" Target="/ppt/media/image29.png" Id="R4ac2be37d83e4deb" /><Relationship Type="http://schemas.openxmlformats.org/officeDocument/2006/relationships/image" Target="/ppt/media/image27.svg" Id="Rcd37d3ca4b3b436d" /><Relationship Type="http://schemas.openxmlformats.org/officeDocument/2006/relationships/image" Target="/ppt/media/image30.png" Id="Rbbd91e07de784083" /><Relationship Type="http://schemas.openxmlformats.org/officeDocument/2006/relationships/image" Target="/ppt/media/image28.svg" Id="R85908497908d4315" /><Relationship Type="http://schemas.openxmlformats.org/officeDocument/2006/relationships/image" Target="/ppt/media/image31.png" Id="Rd5804deb5ef94170" /><Relationship Type="http://schemas.openxmlformats.org/officeDocument/2006/relationships/image" Target="/ppt/media/image29.svg" Id="Re929a39b8c5b4f8a" /><Relationship Type="http://schemas.openxmlformats.org/officeDocument/2006/relationships/notesSlide" Target="/ppt/notesSlides/notesSlide7.xml" Id="Rf1c0dabdfa6442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5b62a5dcc4043" /><Relationship Type="http://schemas.openxmlformats.org/officeDocument/2006/relationships/image" Target="/ppt/media/image32.png" Id="R79b3f672d725416f" /><Relationship Type="http://schemas.openxmlformats.org/officeDocument/2006/relationships/image" Target="/ppt/media/image30.svg" Id="Rec7153ad425040e3" /><Relationship Type="http://schemas.openxmlformats.org/officeDocument/2006/relationships/image" Target="/ppt/media/image33.png" Id="Rf2a465b1039b41f7" /><Relationship Type="http://schemas.openxmlformats.org/officeDocument/2006/relationships/image" Target="/ppt/media/image31.svg" Id="Rf955b5d305d742bb" /><Relationship Type="http://schemas.openxmlformats.org/officeDocument/2006/relationships/image" Target="/ppt/media/image34.png" Id="R1b9a90f19192411a" /><Relationship Type="http://schemas.openxmlformats.org/officeDocument/2006/relationships/image" Target="/ppt/media/image32.svg" Id="Rd82e8b25e2754b01" /><Relationship Type="http://schemas.openxmlformats.org/officeDocument/2006/relationships/notesSlide" Target="/ppt/notesSlides/notesSlide8.xml" Id="R0e8d66d11ae547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c4c78d4104752" /><Relationship Type="http://schemas.openxmlformats.org/officeDocument/2006/relationships/image" Target="/ppt/media/image35.png" Id="Rddcbc09c3ce84dd2" /><Relationship Type="http://schemas.openxmlformats.org/officeDocument/2006/relationships/image" Target="/ppt/media/image33.svg" Id="R6c889880db814eb4" /><Relationship Type="http://schemas.openxmlformats.org/officeDocument/2006/relationships/notesSlide" Target="/ppt/notesSlides/notesSlide9.xml" Id="Re6af48d1cb8f45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9fa4e98204cc6" /><Relationship Type="http://schemas.openxmlformats.org/officeDocument/2006/relationships/image" Target="/ppt/media/image36.png" Id="Rff69c273f4a84859" /><Relationship Type="http://schemas.openxmlformats.org/officeDocument/2006/relationships/image" Target="/ppt/media/image34.svg" Id="R8736bf0d329142d0" /><Relationship Type="http://schemas.openxmlformats.org/officeDocument/2006/relationships/image" Target="/ppt/media/image37.png" Id="Rb8fc80b0def54158" /><Relationship Type="http://schemas.openxmlformats.org/officeDocument/2006/relationships/image" Target="/ppt/media/image35.svg" Id="Reefb24e86ade4655" /><Relationship Type="http://schemas.openxmlformats.org/officeDocument/2006/relationships/image" Target="/ppt/media/image38.png" Id="R30e0ca29aaf44b5f" /><Relationship Type="http://schemas.openxmlformats.org/officeDocument/2006/relationships/image" Target="/ppt/media/image36.svg" Id="R38d3a8739a614a93" /><Relationship Type="http://schemas.openxmlformats.org/officeDocument/2006/relationships/image" Target="/ppt/media/image39.png" Id="Rafed4cefaf904090" /><Relationship Type="http://schemas.openxmlformats.org/officeDocument/2006/relationships/image" Target="/ppt/media/image37.svg" Id="R782d6ab66f984eae" /><Relationship Type="http://schemas.openxmlformats.org/officeDocument/2006/relationships/notesSlide" Target="/ppt/notesSlides/notesSlide10.xml" Id="Rd0e54d98c4af41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651b4ea4341c6" /><Relationship Type="http://schemas.openxmlformats.org/officeDocument/2006/relationships/image" Target="/ppt/media/image40.png" Id="Ra48426a45f42452d" /><Relationship Type="http://schemas.openxmlformats.org/officeDocument/2006/relationships/image" Target="/ppt/media/image38.svg" Id="R6027dd4af00f4017" /><Relationship Type="http://schemas.openxmlformats.org/officeDocument/2006/relationships/image" Target="/ppt/media/image41.png" Id="R8eee043b330e472a" /><Relationship Type="http://schemas.openxmlformats.org/officeDocument/2006/relationships/image" Target="/ppt/media/image39.svg" Id="R907c6dc0298d4da6" /><Relationship Type="http://schemas.openxmlformats.org/officeDocument/2006/relationships/notesSlide" Target="/ppt/notesSlides/notesSlide11.xml" Id="R1c8dec1c74414a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09b53925f4190" /><Relationship Type="http://schemas.openxmlformats.org/officeDocument/2006/relationships/image" Target="/ppt/media/image42.png" Id="R8c601e11afd342e7" /><Relationship Type="http://schemas.openxmlformats.org/officeDocument/2006/relationships/image" Target="/ppt/media/image40.svg" Id="Re05f260833d04383" /><Relationship Type="http://schemas.openxmlformats.org/officeDocument/2006/relationships/image" Target="/ppt/media/image43.png" Id="R1eeb189095dc482d" /><Relationship Type="http://schemas.openxmlformats.org/officeDocument/2006/relationships/image" Target="/ppt/media/image41.svg" Id="R744cebd2bf3b4507" /><Relationship Type="http://schemas.openxmlformats.org/officeDocument/2006/relationships/image" Target="/ppt/media/image44.png" Id="R35e69c9ec3b14147" /><Relationship Type="http://schemas.openxmlformats.org/officeDocument/2006/relationships/image" Target="/ppt/media/image42.svg" Id="Rffd83158ab9048bb" /><Relationship Type="http://schemas.openxmlformats.org/officeDocument/2006/relationships/image" Target="/ppt/media/image45.png" Id="R29e83ec13edd49a6" /><Relationship Type="http://schemas.openxmlformats.org/officeDocument/2006/relationships/image" Target="/ppt/media/image43.svg" Id="R8c4fc6741af34482" /><Relationship Type="http://schemas.openxmlformats.org/officeDocument/2006/relationships/notesSlide" Target="/ppt/notesSlides/notesSlide12.xml" Id="R2690e99613eb4b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B8288-0764-4D92-A766-BED52BD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a3d81dd634487">
            <a:extLst>
              <a:ext uri="{96DAC541-7B7A-43D3-8B79-37D633B846F1}">
                <asvg:svgBlip xmlns:asvg="http://schemas.microsoft.com/office/drawing/2016/SVG/main" r:embed="R59da6c66f11441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048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BEE5D1C-AD19-45B0-9833-DBF67E7B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5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PRODUCT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67656-AF08-402A-A9EA-6F6D4EDE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28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Hotel PMS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통합 운영 대시보드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05C1C-93C7-4846-80F7-D5BA759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561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운영, 정산, 고객정보 감사 로그를 하나의 호텔 업무 흐름으로 묶은 시연 보고서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1C98F-6E0D-4716-A50F-A25177B1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340A8-10A1-4834-BEF3-233EAEEB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54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2BE9B-3BCE-4DD9-ACF0-8132736E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검증된 주요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EC15D-8494-41ED-90ED-4337DAAB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72009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1A318-AC32-4462-8690-445B4365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BE4B1-8AEF-42F8-8513-7F89DAC5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2026.06.10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26EA5-4EFE-4717-9ED2-6DECD5B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시연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ED497-DA29-4709-BDA3-548A47A0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8801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DDB9C-16E8-4D56-9CE1-76D8E994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0CD26-96EE-4031-81A2-1E563F1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API-ready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94E3A-DEDF-4A24-9327-A419BA12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33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핵심 원칙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AD440-5423-4F53-A846-9BCB9B6C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57700"/>
            <a:ext cx="6400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2d5df37ef4f30"/>
          <a:srcRect xmlns:a="http://schemas.openxmlformats.org/drawingml/2006/main" l="14015" t="0" r="140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838200"/>
            <a:ext cx="4524375" cy="4191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70A53-E501-41EA-9304-7B27258A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8200"/>
            <a:ext cx="45243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4A4A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44CB3-C135-4BD3-97F5-16E2EF19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197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D414B-1989-4D8B-A4F8-E371D751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10200"/>
            <a:ext cx="4524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Design language: Apple-inspired editorial product tile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CFD46-EB2B-435C-ACCC-D6A0F4F8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4F5AA-1CAC-4699-831E-069FB010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D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BDBDC2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98930-1CCF-43B5-81C6-D9FB6D84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48921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7F189B-80D9-4ED8-B4EB-EBC17B7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0c80796d54a89">
            <a:extLst>
              <a:ext uri="{96DAC541-7B7A-43D3-8B79-37D633B846F1}">
                <asvg:svgBlip xmlns:asvg="http://schemas.microsoft.com/office/drawing/2016/SVG/main" r:embed="Raa73294c375c4d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2C7F8E2-6A42-44AF-B068-B8A4EF7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656D3-C795-4906-B3FB-A21F4287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화면을 더 늘리는 것이 아니라,</a:t>
            </a:r>
          </a:p>
          <a:p xmlns:a="http://schemas.openxmlformats.org/drawingml/2006/main">
            <a:pPr algn="l">
              <a:defRPr sz="3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운영 흐름을 정렬했습니다.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44F45-9130-4F15-A348-23B7CA81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반복 지적된 공백, 버튼 조건, 날짜 기준, 다국어 혼용, 개인정보 노출 문제를 화면 단위가 아니라 업무 규칙 단위로 다시 묶었습니다.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6E11F-D675-46AD-8C90-45D25225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190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1a26b446941a8">
            <a:extLst>
              <a:ext uri="{96DAC541-7B7A-43D3-8B79-37D633B846F1}">
                <asvg:svgBlip xmlns:asvg="http://schemas.microsoft.com/office/drawing/2016/SVG/main" r:embed="R15783f748dd44e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33147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8EB05-39B4-4386-9FFB-E12AF060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733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흐름 우선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7BDB4-D619-4708-B161-EF0A8A43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2733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예약 생성부터 체크인, 객실 준비, 체크아웃까지 상태를 임의 선택하지 않고 실제 업무 단계로 이어지게 정리.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3977E-E34C-4662-B240-37CAAA87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3190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0b790a042415c">
            <a:extLst>
              <a:ext uri="{96DAC541-7B7A-43D3-8B79-37D633B846F1}">
                <asvg:svgBlip xmlns:asvg="http://schemas.microsoft.com/office/drawing/2016/SVG/main" r:embed="R08fe5a692aee4d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24400" y="33147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FC23A-CC44-42F8-8757-5E52975F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2733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데이터 연계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0FFB2-BCD5-4CA2-B003-C25D46D2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76700"/>
            <a:ext cx="2733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객실, 투숙객, 단체, 포스, 골프, 렌터카, 정산 데이터가 단독으로 튀어나오지 않도록 참조 관계를 점검.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0B660-1903-4F47-AEC3-E691569A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3190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9a061a52e4085">
            <a:extLst>
              <a:ext uri="{96DAC541-7B7A-43D3-8B79-37D633B846F1}">
                <asvg:svgBlip xmlns:asvg="http://schemas.microsoft.com/office/drawing/2016/SVG/main" r:embed="Rf7fcf26c3eae40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53450" y="33147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1D2A2-FE6A-4353-B540-9DAD12CA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2733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감사 가능성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96FB3-8C23-4E66-99DD-AE96C92C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76700"/>
            <a:ext cx="2733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개인정보 상세조회와 엑셀 다운로드는 감사 로그 이벤트로 남겨 관리자만 확인하도록 분리.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F92F9-974D-4F92-9208-A57B52EF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0638A-8C80-4FC4-B637-6D78ACB6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핵심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56355-B144-4D46-992E-ABCAE2E8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912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프론트가 API 계약서 역할을 하도록 고객 입력 데이터, 코드성 마스터, 운영 이벤트, 정산 데이터를 구분했습니다.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1DF71-F597-42DB-BBAB-39B8F106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F4D20-5D30-45E1-B897-E8B3B7AE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52735-3904-44D5-8A65-4B2E279E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913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B19BA-C7A3-4B99-BC0A-E67C44C1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117ed96154613">
            <a:extLst>
              <a:ext uri="{96DAC541-7B7A-43D3-8B79-37D633B846F1}">
                <asvg:svgBlip xmlns:asvg="http://schemas.microsoft.com/office/drawing/2016/SVG/main" r:embed="R0c19d970cf504f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6DE1A4-E00A-4200-AD0B-C5EF5C6F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PRODUCT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B2B7D-5D49-4C20-AE98-2BF5E752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메뉴는 호텔 운영 도메인을 따라</a:t>
            </a:r>
          </a:p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프론트에서 정산까지 이어집니다.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B7979-9BAC-4AD0-BC0F-4A750CB6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좌측 메뉴는 기능 나열이 아니라 호텔 업무 흐름의 레이어입니다. 각 화면은 한 도메인의 데이터 소유자를 갖고 다음 도메인으로 이벤트를 넘깁니다.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dd53711db46f7">
            <a:extLst>
              <a:ext uri="{96DAC541-7B7A-43D3-8B79-37D633B846F1}">
                <asvg:svgBlip xmlns:asvg="http://schemas.microsoft.com/office/drawing/2016/SVG/main" r:embed="Rac85ffd7afa141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0289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9A2B-E345-4F82-A68C-BE4FE6D5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프론트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C180C-F43C-4CF7-9640-CD7F6349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예약 타임라인 / 예약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46D73-F073-4945-A923-35211C52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527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680EE-79EE-4EC4-87D8-107F922F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14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d1207c6b34f4e">
            <a:extLst>
              <a:ext uri="{96DAC541-7B7A-43D3-8B79-37D633B846F1}">
                <asvg:svgBlip xmlns:asvg="http://schemas.microsoft.com/office/drawing/2016/SVG/main" r:embed="R62dd2070633548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00300" y="30289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87ACD-6448-4365-8435-4D5D028A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48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단체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492A6-CF57-4686-ABBF-C755366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719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단체/행사 목록 / 업체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4810B-5560-41DA-969B-64C86CD7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527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1CB21-6040-4F54-829A-010148C6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14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4308c49384084">
            <a:extLst>
              <a:ext uri="{96DAC541-7B7A-43D3-8B79-37D633B846F1}">
                <asvg:svgBlip xmlns:asvg="http://schemas.microsoft.com/office/drawing/2016/SVG/main" r:embed="Rdfae85f79f984b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48100" y="30289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CF346-BA84-42B1-AF6D-928DA1AB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48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객실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AE315-D7D2-4011-8FCD-07D817FA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719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객실 목록 / 유형 / 요금 캘린더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47ECC-0BE4-43E1-B428-070C0A27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527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FC53E-2BA4-471C-9501-1D6A4AD1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14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bf7a4212c4fd9">
            <a:extLst>
              <a:ext uri="{96DAC541-7B7A-43D3-8B79-37D633B846F1}">
                <asvg:svgBlip xmlns:asvg="http://schemas.microsoft.com/office/drawing/2016/SVG/main" r:embed="R36e1fe20c6fb4c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95900" y="30289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8BB86-9A6F-4879-94DB-7DB9EA1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48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FA55F-3209-4E54-A900-803DD1B8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하우스키핑 / 시설 보수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DB193-5DC2-4D01-8912-24E40694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6A050-30B0-464F-8AE9-1A3B8DDF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14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8d4a539964af5">
            <a:extLst>
              <a:ext uri="{96DAC541-7B7A-43D3-8B79-37D633B846F1}">
                <asvg:svgBlip xmlns:asvg="http://schemas.microsoft.com/office/drawing/2016/SVG/main" r:embed="Rd013ecf087364a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43700" y="30289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65203E-13DE-4C59-B64B-33F1A72D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정산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55DEF2-D398-4E92-ABEF-9DEB3E13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매출 분석 / 정산 목록 / 일일 마감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9396C9-59EE-4CC1-8B50-892CEF41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527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95CBA8-497C-44CD-8974-F35BFED3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bd7edb7f94e65">
            <a:extLst>
              <a:ext uri="{96DAC541-7B7A-43D3-8B79-37D633B846F1}">
                <asvg:svgBlip xmlns:asvg="http://schemas.microsoft.com/office/drawing/2016/SVG/main" r:embed="Rb71f8fc17e4245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0" y="30289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E4154-7FA9-4850-B9A8-69BAF0FE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확장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24D508-FA8D-490C-BAA5-EC465B5B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719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통합 POS / 골프 / 렌터카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5A1D87-ECAA-4295-9B93-3B40B784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527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61A69D-C4E5-41F4-8732-8E307153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3e2a0289b41d6">
            <a:extLst>
              <a:ext uri="{96DAC541-7B7A-43D3-8B79-37D633B846F1}">
                <asvg:svgBlip xmlns:asvg="http://schemas.microsoft.com/office/drawing/2016/SVG/main" r:embed="R324e4a3b8a2244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39300" y="30289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CE78C-6875-4766-AA4F-4E4C6A36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48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F11CDD-5737-4B56-80FA-5025373F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719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투숙객 / 멤버십 / 감사 로그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EF9104-22BD-4A00-8A2E-9D40CA54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382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A55355-4458-4188-8722-95296DD0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8F0F01-A493-4A5C-84CF-6D81A6DC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운영 이벤트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1EDDB6-8C9D-4A7E-A895-834C1D5F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72075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예약 확정 -&gt; 객실 배정 -&gt; 고객 확인 -&gt; 객실 준비 -&gt; 서비스 주문 -&gt; 정산 -&gt; 감사 로그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43B364-3020-4C5A-BCE5-E247EDEB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2F593A-A853-48D5-A8B4-38056372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309737-E2AC-4DD8-A2ED-3AFD0C42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34862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C411D-0FB2-46F3-8E9C-9B674935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3500f0e9d475b">
            <a:extLst>
              <a:ext uri="{96DAC541-7B7A-43D3-8B79-37D633B846F1}">
                <asvg:svgBlip xmlns:asvg="http://schemas.microsoft.com/office/drawing/2016/SVG/main" r:embed="R2024b8043c6f40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ADF36A-F384-44A4-BE38-83E7C574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4F620-A15B-44EE-A044-1776B2E7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66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대시보드는 금일 운영 리스크를</a:t>
            </a:r>
          </a:p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먼저 확인하는 관제 화면입니다.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5D21F-9D71-4898-A3A3-F3540FB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742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객실 현황, 요일별 상태, 오늘 부가서비스 주문, 하우스키핑 현황을 한 화면에 배치해 사용자가 페이지를 이동하기 전 이상 신호를 먼저 봅니다.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bc20022174048"/>
          <a:srcRect xmlns:a="http://schemas.openxmlformats.org/drawingml/2006/main" l="0" t="20000" r="0" b="2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914650"/>
            <a:ext cx="7381875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D4221-5F06-429D-BC44-F050CA4B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73818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61D11-5A85-45FF-A2F3-C305F87F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5CEF8-3D5B-4F6A-9C88-E34C2B68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4 streams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B4624-A3AA-4BFE-89AD-D9AE2B88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대시보드가 모으는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C8354-D5FC-450D-BD22-1878ABBC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92011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51CF2-5AD1-4F8E-8C9D-D059DDD8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2CF2E-8200-435D-8FB3-E4B54814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06.10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0172A-91AF-458C-99A5-50E9E538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수요일 시연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BB3DC-2785-428F-AD3E-73B00C32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92011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A59D0-B4BB-4898-A68C-12AB36B4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DCF6F-322C-469E-9708-FC82689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72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7-day window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EDCAA-5F70-4C07-BBD0-B182402E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34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최근 매출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1AEDB-9384-4840-8226-9799E1A6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57900"/>
            <a:ext cx="92011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EC6BA-1089-4B8E-8FA1-4A77F3F4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B6102-D826-4EE8-BD49-8171981E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37FEE-A59C-4B4F-9BBE-7DD8112E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15245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16EB2-2B4B-49FF-91AB-1EE9E756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d66abae3346f4">
            <a:extLst>
              <a:ext uri="{96DAC541-7B7A-43D3-8B79-37D633B846F1}">
                <asvg:svgBlip xmlns:asvg="http://schemas.microsoft.com/office/drawing/2016/SVG/main" r:embed="Rf07b1425b1af49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1B7ECA-5FBC-4A4B-80C0-F540B7E4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RESERVATION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78058-3A04-4439-897F-3C0F4D82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33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예약 상태는 임의 선택이 아니라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 단계에서 만들어집니다.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B6095-0721-4AD2-B869-9A9433D8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신규 예약에서 상태와 채널 입력을 빼고, 개인/단체 구분과 객실 배정, 청소 준비 확인, 체크인 처리로 이어지는 흐름을 명확히 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4FA40-4FD0-4CE3-BB8D-0E73393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9525">
            <a:solidFill>
              <a:srgbClr val="4A4A4D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04c52d9944404">
            <a:extLst>
              <a:ext uri="{96DAC541-7B7A-43D3-8B79-37D633B846F1}">
                <asvg:svgBlip xmlns:asvg="http://schemas.microsoft.com/office/drawing/2016/SVG/main" r:embed="Rdcfcc6b96dd34e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" y="3533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6FFB5-0C8C-4C35-92CF-2C990F3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6A156-09E5-497A-9296-31E3B3BE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예약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9537B-1CE0-4C4D-91A4-7834DB92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480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85BC6-2B94-468A-A662-CA31A3A4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24975-2EE6-4F13-82FD-71DC0CB4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9525">
            <a:solidFill>
              <a:srgbClr val="4A4A4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37bfcf3014d83">
            <a:extLst>
              <a:ext uri="{96DAC541-7B7A-43D3-8B79-37D633B846F1}">
                <asvg:svgBlip xmlns:asvg="http://schemas.microsoft.com/office/drawing/2016/SVG/main" r:embed="R37a758f2d7d245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14625" y="3533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1B991-48A2-4CD4-AF82-F8C7FE75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A2EB8-34B9-408B-B62D-68C76900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386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개인/단체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AD071-2218-4A87-ADF1-FEEA5ABA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480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BE60D-E2A1-4C50-8E22-1B369F9C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06550-A621-460A-84E9-F80A2CCA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9525">
            <a:solidFill>
              <a:srgbClr val="4A4A4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57252070848bd">
            <a:extLst>
              <a:ext uri="{96DAC541-7B7A-43D3-8B79-37D633B846F1}">
                <asvg:svgBlip xmlns:asvg="http://schemas.microsoft.com/office/drawing/2016/SVG/main" r:embed="R8b9d9b13c7974f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10075" y="3533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4AEC0-4E9D-4500-8DFA-E1BD9FD9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762F1-E9E3-45A8-8594-694B576E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386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객실 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DDAF4-308E-400E-ADCF-857B6DC7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480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49D98-294A-4B84-9A23-F8116BEF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E1F22-1798-4067-8E3F-721B0329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90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9525">
            <a:solidFill>
              <a:srgbClr val="4A4A4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70d26095d44a8">
            <a:extLst>
              <a:ext uri="{96DAC541-7B7A-43D3-8B79-37D633B846F1}">
                <asvg:svgBlip xmlns:asvg="http://schemas.microsoft.com/office/drawing/2016/SVG/main" r:embed="R4fd1d3c8ac9345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05525" y="3533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9C730-CF7F-4FFB-B488-F2C03219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051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DC3FB-F1C2-4023-98B8-C62E01DA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386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상세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4A168-CE52-4375-9B7A-BC7E8325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480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9929C-4821-4D33-B674-325989EF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A219CD-B4BA-4FCE-B393-21A0F83E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90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9525">
            <a:solidFill>
              <a:srgbClr val="4A4A4D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987b8aa5647f2">
            <a:extLst>
              <a:ext uri="{96DAC541-7B7A-43D3-8B79-37D633B846F1}">
                <asvg:svgBlip xmlns:asvg="http://schemas.microsoft.com/office/drawing/2016/SVG/main" r:embed="R5dd4d9f4fa5e40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00975" y="3533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EF324-828A-4582-AE67-6175FA30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051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0E3659-FE79-4DE2-AD43-E28F64CC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386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체크인 진행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D42B0-0DE5-4889-87C0-D6A5F42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480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78E468-9595-4B17-9442-8CDC772F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5346E5-E483-4C5D-B19F-51935074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90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9525">
            <a:solidFill>
              <a:srgbClr val="4A4A4D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2cdb04a8149fe">
            <a:extLst>
              <a:ext uri="{96DAC541-7B7A-43D3-8B79-37D633B846F1}">
                <asvg:svgBlip xmlns:asvg="http://schemas.microsoft.com/office/drawing/2016/SVG/main" r:embed="R8f22d065d94848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96425" y="35337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89AEAD-1D7C-4A46-AB84-0265D0F2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B550FB-7FC8-470B-87E0-3636125F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386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 로그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7BE454-7761-49C4-A1FE-A6402BE0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8985E8-D0D3-4E3F-9EC2-5A1A277F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9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997FF"/>
                </a:solidFill>
                <a:latin typeface="Malgun Gothic"/>
                <a:ea typeface="Malgun Gothic"/>
                <a:cs typeface="Malgun Gothic"/>
              </a:rPr>
              <a:t>업무 규칙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9B4474-27A5-4B31-BC6C-EA7299F2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388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청소 미완료는 체크인을 막는 절대 조건이 아니라 확인 대상입니다. 고객 응대는 진행하고 객실 준비 리스크는 하우스키핑 이벤트로 남깁니다.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77798D-9939-4074-B2B3-87C6DD64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55AE31-0F5E-4CEE-B920-27C03FF3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D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BDBDC2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3E4C10-8544-4A24-9BA2-A318A25A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88886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8A4650-A2C6-44B7-8895-5FDB1943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1742300c04b1c">
            <a:extLst>
              <a:ext uri="{96DAC541-7B7A-43D3-8B79-37D633B846F1}">
                <asvg:svgBlip xmlns:asvg="http://schemas.microsoft.com/office/drawing/2016/SVG/main" r:embed="Rfea8a70c12d04f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F8F02C-6939-49B4-8868-CE24E983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GROUPS &amp;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C6D6F-A5C6-430B-8B49-6B5F6C90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단체는 업체, 계약, 객실,</a:t>
            </a:r>
          </a:p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투숙객, 정산을 한 단위로 묶습니다.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EC1E7-9F7F-4309-8520-51213CC5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업체 관리가 따로 있는데 행사에서 미지정 업체를 저장하게 두면 구조가 무너집니다. 행사 등록은 등록 업체를 반드시 참조하고, 할인 정책은 행사 단위로 이동했습니다.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29774-68B7-4778-ACB2-97519A61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d6af8c4734474">
            <a:extLst>
              <a:ext uri="{96DAC541-7B7A-43D3-8B79-37D633B846F1}">
                <asvg:svgBlip xmlns:asvg="http://schemas.microsoft.com/office/drawing/2016/SVG/main" r:embed="Re65181e3166a4c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371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0B4EC-2F06-48A3-9EE3-036875E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등록 업체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378B9-E165-4D45-9900-D1552176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여행사/기업/기타 단체</a:t>
            </a:r>
          </a:p>
          <a:p xmlns:a="http://schemas.openxmlformats.org/drawingml/2006/main">
            <a:pPr algn="l">
              <a:def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담당자, 정산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88C8E-9B5D-4DB7-B6B3-65A6CD63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e7c253a3641b1">
            <a:extLst>
              <a:ext uri="{96DAC541-7B7A-43D3-8B79-37D633B846F1}">
                <asvg:svgBlip xmlns:asvg="http://schemas.microsoft.com/office/drawing/2016/SVG/main" r:embed="R78d23b49b18d4b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62350" y="3371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D6CB7-6D5B-4490-9ADB-CD8A17E6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행사 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32D7C-B444-4E46-A708-503EF4A8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767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행사명, 일정, PAX</a:t>
            </a:r>
          </a:p>
          <a:p xmlns:a="http://schemas.openxmlformats.org/drawingml/2006/main">
            <a:pPr algn="l">
              <a:def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행사 담당 영업 직원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CFA5C-50B5-473E-A455-E346F80C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43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15d0a1d4e4955">
            <a:extLst>
              <a:ext uri="{96DAC541-7B7A-43D3-8B79-37D633B846F1}">
                <asvg:svgBlip xmlns:asvg="http://schemas.microsoft.com/office/drawing/2016/SVG/main" r:embed="R773475414fb648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86475" y="3371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9429B-AEE4-43AD-9B08-DE49A37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71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객실 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754AC-FD11-4253-B402-C568F1C0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767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객실/투숙객 등록</a:t>
            </a:r>
          </a:p>
          <a:p xmlns:a="http://schemas.openxmlformats.org/drawingml/2006/main">
            <a:pPr algn="l">
              <a:def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신분증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8325D-82B5-443D-9CEA-BD1F063F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f58b97c344640">
            <a:extLst>
              <a:ext uri="{96DAC541-7B7A-43D3-8B79-37D633B846F1}">
                <asvg:svgBlip xmlns:asvg="http://schemas.microsoft.com/office/drawing/2016/SVG/main" r:embed="R790eea97501942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10600" y="3371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2F9CF-1213-466D-A253-4AE75FE2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71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정산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5C37A-3344-4839-9F24-C2E25D6D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767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Master Folio</a:t>
            </a:r>
          </a:p>
          <a:p xmlns:a="http://schemas.openxmlformats.org/drawingml/2006/main">
            <a:pPr algn="l">
              <a:def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미수금/발행일시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19018-87E1-465C-9586-562D56B7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11B3F-E87A-4445-900D-53C8A598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07AE96-2106-4CF5-AFDE-2D41168D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57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51D855-BBA6-4F10-8247-790CBEE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C6C34-86CE-4B2A-9192-0AF8F4DB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94910-0CEF-42D0-A687-92A0E7BC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2D65D-3C92-4177-BB3B-FA6105C2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715C8D-C045-4F8E-9C87-722BB409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006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단체 체크박스식 기능은 예약 화면에서 제거하고, 단체는 전용 도메인에서 생성된 계약만 예약과 연결되게 하는 편이 논리적입니다.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73C0AE-236C-4EAE-86C2-A0EB6936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7C6165-4F1F-48C0-8BE6-FBCF6D79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25490F-3119-41B5-8AFD-B847BD7E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71446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E7B36-240E-49C8-8CF7-0BDA0562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2be37d83e4deb">
            <a:extLst>
              <a:ext uri="{96DAC541-7B7A-43D3-8B79-37D633B846F1}">
                <asvg:svgBlip xmlns:asvg="http://schemas.microsoft.com/office/drawing/2016/SVG/main" r:embed="Rcd37d3ca4b3b43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C7647B-232F-4DF4-9752-CF80ADFC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ROOM &amp; RATE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F338B-E17D-4C80-ADDE-EE00291A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객실 유형은 호텔이 만드는 데이터,</a:t>
            </a:r>
          </a:p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요금 캘린더는 그 데이터를 소비합니다.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43A5C-1D9E-4C22-9A50-15C04DD3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47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Standard, Deluxe 같은 이름은 고객 입력 원문을 보존하고, 분류/구분은 요금과 재고를 나누는 확장 필드로 둡니다. 코드는 필수가 아니라 내부 연동용 선택값이어야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F11A0-B8ED-4285-B94E-7BB2C8BF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953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91e07de784083">
            <a:extLst>
              <a:ext uri="{96DAC541-7B7A-43D3-8B79-37D633B846F1}">
                <asvg:svgBlip xmlns:asvg="http://schemas.microsoft.com/office/drawing/2016/SVG/main" r:embed="R85908497908d43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33909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FF0B1-3507-4954-AB74-1BA80B02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객실 유형 마스터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FB0A5-3CEA-45B0-BBA5-E36FDF4A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429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2174E-F0FC-437B-BED7-6BB82EBC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719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객실명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EF1FD-65C0-4B1C-A26C-D3B300EA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719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14947-CEC3-4137-A726-3EC79BA9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719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2BA5E-DC04-4A6D-8B07-BDDF8181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42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D4674-7327-46A8-A8E6-0EEFDA9F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CAC9E-6A1A-442F-BCA8-DC60621E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9577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City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A3F07-172F-4243-A3B5-79B6035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957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Standard - City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C84C7-1188-4AFC-AC73-3AEBAE3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42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4BF99-AD73-4F13-AABD-C1025C4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96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Standard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AA253-D462-415C-89C1-E3702304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9625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Ocean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DBE10-4B89-4BBC-95A4-C0620294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196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Standard - Ocean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0D500-987D-4515-8B24-1AD323B2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429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3CCE7-72E5-4A2C-82A4-4430504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45243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04deb5ef94170">
            <a:extLst>
              <a:ext uri="{96DAC541-7B7A-43D3-8B79-37D633B846F1}">
                <asvg:svgBlip xmlns:asvg="http://schemas.microsoft.com/office/drawing/2016/SVG/main" r:embed="Re929a39b8c5b4f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91300" y="33909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56198-622C-4486-9AA7-BCFC8CDC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71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요금 캘린더 소비 구조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3653C-633D-4234-BF05-A633CD7C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1. 객실 유형 정렬: 이름 + 구분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445F1-21CD-47E6-86DE-FE44B51E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672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2. 다개월 예약 대비: 미래 월 범위 조회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7E803-0E3B-4AB7-968D-438F1B1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3. 일괄 수정: 같은 정렬 규칙 재사용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0CDE3-0D99-40EE-8966-C38E5A2A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827583-FAB5-404B-B941-912B1CAB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2CCE6C-A8B2-438D-B2A7-E003077C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50013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5759F7-A068-42AE-BA9D-F408DEA0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3f672d725416f">
            <a:extLst>
              <a:ext uri="{96DAC541-7B7A-43D3-8B79-37D633B846F1}">
                <asvg:svgBlip xmlns:asvg="http://schemas.microsoft.com/office/drawing/2016/SVG/main" r:embed="Rec7153ad425040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7722C8D-A1B0-4A1E-94AC-E6392448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218F5-6756-482C-9A6A-7954F0B6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42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객실 준비와 시설 보수는</a:t>
            </a:r>
          </a:p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입력 오류 없는 운영 티켓이어야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C9D78-7810-41A2-B6E0-66782FD7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하우스키핑 완료 수량, KPI, 정렬 카운트는 같은 필터 결과를 써야 하고 시설보수는 객실번호 입력 대신 실제 객실 선택으로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F98E4-CB0F-4956-BC38-C4DFA123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465b1039b41f7">
            <a:extLst>
              <a:ext uri="{96DAC541-7B7A-43D3-8B79-37D633B846F1}">
                <asvg:svgBlip xmlns:asvg="http://schemas.microsoft.com/office/drawing/2016/SVG/main" r:embed="Rf955b5d305d742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314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30D43-A27E-481B-BA23-EFEF2BD2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하우스키핑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1EEB5-FA86-4BAF-A6C4-BDD10D62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BFF0A-17C0-430E-8799-E7DC6DD9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FC1A6-0F5B-411E-B72B-F79596E2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147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73CD6-5FAA-41AB-ABAA-7AFA45B2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14775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행동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A2920-6C7F-490E-8805-AF545FB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EAF9B-7CDA-4AA6-9BF5-1C19D71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57675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청소 완료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48971-50D0-4896-BA03-6D1D697C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576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카운트/KPI 일치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564AE-972C-421F-AF4F-EA8DF44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57675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로그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57182-15BC-45B7-9CD9-64FC4DD7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76A53-755B-417B-BDD0-E84B87DD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청소 요망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2C37F-68FE-45A3-B900-1B5F018D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005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요청 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DE301-F614-4714-B3F1-A3D9E71F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00575"/>
            <a:ext cx="1285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청소 시작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25576-6DF3-4E6C-B634-B161D69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58C67-0409-4B82-9C1E-BEC00C93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a90f19192411a">
            <a:extLst>
              <a:ext uri="{96DAC541-7B7A-43D3-8B79-37D633B846F1}">
                <asvg:svgBlip xmlns:asvg="http://schemas.microsoft.com/office/drawing/2016/SVG/main" r:embed="Rd82e8b25e2754b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57950" y="33147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58697C-FA49-4688-A96C-7586D253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956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시설 보수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DC1EA-0067-4665-B001-15A0238F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0ADD8-E7C5-480E-8616-00C18C18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147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시점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2C26E-C1D4-4807-B7E6-84466F9C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147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필드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D041E-3795-4E16-856B-F1B90E9B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91477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0BC1D-3456-491D-BC41-2BED27BC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CD0C3-BA5F-4A86-94C6-178A1C2D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발행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052E01-64C2-444C-8A26-19C3BAFB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576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일자+시간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9875AA-31D0-488F-94E6-3AD435E8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5767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티켓 생성 시각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1A1E05-1B13-4B03-8754-D0A2C5E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AFAFE5-51B0-459C-9C7F-F9C90C3E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005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착수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CC4AB4-673A-49BE-9E46-4295FE80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005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작업 시작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D6DA6D-0D1E-4EE3-8D84-D245AAC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0057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진행중 전환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8C41D9-6F38-4136-B7B7-126CFE8E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995E86-4D75-4B71-9A86-C8F38815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434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C3EBD8-2F1E-443E-96EF-A6BA6E30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434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완료 확인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06CCF4-DB1C-4C6B-96E6-EEC408B9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94347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관리자 혼동 방지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8D4B20-7F7D-4AF8-A9D2-754026C6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DA3649-635F-4097-B46D-F50A772E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FF49D5-03E5-4F3A-8AED-1089FC0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FD47B4-31AA-4579-9A71-1E11C8E8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70722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1B087-2095-4C5F-ABC9-A1864C16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bc09c3ce84dd2">
            <a:extLst>
              <a:ext uri="{96DAC541-7B7A-43D3-8B79-37D633B846F1}">
                <asvg:svgBlip xmlns:asvg="http://schemas.microsoft.com/office/drawing/2016/SVG/main" r:embed="R6c889880db814e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334BAD5-8A69-44DF-AA96-ED414E61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REVENUE &amp; 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FE630-0676-415A-830D-2E0FD1BD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매출 분석은 기준일 포함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최근 7일을 한 번에 읽습니다.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026AE-E5FC-41C9-9F0A-2C595A0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정산 목록, 매출 분석, 통합 POS, 렌터카의 '오늘' 기준을 수요일 시연일에 맞추고, 항목별 매출과 KPI가 같은 집계 데이터를 보게 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58824-625A-45C2-B13E-FC5D90E3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3952"/>
            <a:ext cx="552450" cy="1735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8FD63-757F-43F9-8802-ACE9B3A2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06.04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F99EB-B4DA-4BA5-8701-FE66324F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7252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$41.2k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F433A-0C3D-451F-8024-A8BD9EE9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16544"/>
            <a:ext cx="552450" cy="1803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9F10E-1D55-4BD0-A829-2E9B6CF7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911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06.05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CF714-7908-4D32-9D97-4E5A65C7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9844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$42.8k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047FB-090F-4D35-80D1-3C3250A0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47147"/>
            <a:ext cx="552450" cy="167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E1CE0-155D-4001-A9AD-95A9EB92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911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06.06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BD8A9-39BF-4CE2-ADD8-45F76AA5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80447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$39.7k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6BAA2-D07B-4BDE-9F03-29C99942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61775"/>
            <a:ext cx="552450" cy="1857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A0411-CA8F-4993-A716-058A9BC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911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06.07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824BA-E6B8-49DB-9121-C4DC37A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9507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$44.1k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C0BF6-FBDF-47EB-A66F-91967A2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23859"/>
            <a:ext cx="552450" cy="1895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FAE6F-48BB-4AD8-9739-F6284036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911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06.08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6FF51-4AB1-4B46-8A21-9C0C78F1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57159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$45.0k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D5156-DC8B-4A05-9006-17007C75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43812"/>
            <a:ext cx="552450" cy="1975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0831C-920B-425E-885D-2D0631B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911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06.09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740D7-0C66-476C-A3ED-E048BE16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77112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$46.9k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21D6F-5566-40BF-A9DE-8A9CF14E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55339"/>
            <a:ext cx="552450" cy="2064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8F3D8-3099-4905-9CCF-618AF073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911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06.10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3DF3DB-0FBF-4007-A0C7-432FC8DD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88639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$49.0k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41828-5E15-45DE-9B48-259CBAB3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15B827-5F77-4495-A36A-0994A39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4DCED-CE42-4E7A-A42E-B0ED82E1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71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$49.0k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A172E-3972-4F6B-9BB6-0851333A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33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06.10 총 매출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52A556-6A02-4A62-BDB6-FFA19699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57650"/>
            <a:ext cx="76009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12AED0-83CD-4C68-85B4-27810115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005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F9CBDC-B6C2-4C5E-98B6-3A146C24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529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객실 + 부가서비스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90AA92-F0ED-4F26-B1FC-E2517375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14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항목별 집계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70586E-4057-4149-87BE-FF6A102F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38750"/>
            <a:ext cx="92011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FAA089-E7C9-4443-AA2F-6F04828D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5478FC-D7C6-43F0-8854-A94C90C7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D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BDBDC2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36E61D-EEBD-490A-9BEE-2AC574C2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66694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E07995-AB1F-46C3-9520-220E3E5C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9c273f4a84859">
            <a:extLst>
              <a:ext uri="{96DAC541-7B7A-43D3-8B79-37D633B846F1}">
                <asvg:svgBlip xmlns:asvg="http://schemas.microsoft.com/office/drawing/2016/SVG/main" r:embed="R8736bf0d329142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C1EEBC-116E-488A-9B96-35F76195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ANCILLARY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ABD4F-E021-4C49-8943-4FF1EFDF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부가서비스는 채널이 달라도</a:t>
            </a:r>
          </a:p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같은 처리 상태로 누적됩니다.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CA821-98BA-4D79-8255-2437F1B5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통합 POS, 골프 예약, 렌터카는 검색 영역과 처리상태 구분을 맞추고, 생성형 카테고리/업체 필드는 풀다운으로 관리해 시연 데이터가 충분히 쌓이도록 구성했습니다.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DC98C-9AE9-4248-831A-B6EB10D1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c80b0def54158">
            <a:extLst>
              <a:ext uri="{96DAC541-7B7A-43D3-8B79-37D633B846F1}">
                <asvg:svgBlip xmlns:asvg="http://schemas.microsoft.com/office/drawing/2016/SVG/main" r:embed="Reefb24e86ade46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33432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34D3B-E767-4EAA-8865-508EE431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통합 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3476B-632C-4051-BD8F-24CC5270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242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식음료 / 리테일 / 수기 오더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E1546-E194-4C8C-9373-267B447B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F1D4C-EEA5-43F1-B0A7-561873E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188214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3547A-B460-415E-B10F-85DA0EC0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76%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5092A-7417-4636-8B28-4DEFD211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0ca29aaf44b5f">
            <a:extLst>
              <a:ext uri="{96DAC541-7B7A-43D3-8B79-37D633B846F1}">
                <asvg:svgBlip xmlns:asvg="http://schemas.microsoft.com/office/drawing/2016/SVG/main" r:embed="R38d3a8739a614a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41624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A32BF-4279-46BE-A1AE-A2B59E4A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골프 예약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C9A6C-AE3D-4A06-9E25-A74FF2A4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433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업체 풀다운 / 미완료 / 완료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BBE09-1EBE-4813-B0D9-F0602986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971A0-9B3D-47DE-8172-190FC389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143637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CC832-8EF1-4C01-A86D-785646FB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58%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16366-B7AB-406A-9BE0-DE859B95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d4cefaf904090">
            <a:extLst>
              <a:ext uri="{96DAC541-7B7A-43D3-8B79-37D633B846F1}">
                <asvg:svgBlip xmlns:asvg="http://schemas.microsoft.com/office/drawing/2016/SVG/main" r:embed="R782d6ab66f984e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49815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A03AF-0685-46EF-AF1C-2705F449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53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렌터카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52285-622F-4C26-BABE-F0C82C0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625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업체 풀다운 / 차종 다양화 / 객실 연동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5F08C-8D05-4C34-9DA5-5AD5AAA3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3872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E3A5C-74D9-4ED8-B0F4-69E224C8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38725"/>
            <a:ext cx="11887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D825BB-E76E-495C-81E4-D71E88F1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48%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7000E9-D0A1-44FD-8968-0EA9ED8C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CC42C-6365-4864-8282-F9BAAB5A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066CC"/>
                </a:solidFill>
                <a:latin typeface="Malgun Gothic"/>
                <a:ea typeface="Malgun Gothic"/>
                <a:cs typeface="Malgun Gothic"/>
              </a:rPr>
              <a:t>설계 기준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FEC24-0F93-44BC-824C-3F9D4D80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000750"/>
            <a:ext cx="809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서비스별 화면은 달라도 검색, 기간, 정렬, 완료/미완료 처리 문법은 동일해야 사용자가 헷갈리지 않습니다.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0DE09-636C-445F-8674-08C1B8DC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9DD36D-569A-4F58-81B3-BB7ABABB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818760-128E-43DE-81D8-E13ED6F9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66602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A5A0B0-2E40-41BA-BF71-C5F65652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426a45f42452d">
            <a:extLst>
              <a:ext uri="{96DAC541-7B7A-43D3-8B79-37D633B846F1}">
                <asvg:svgBlip xmlns:asvg="http://schemas.microsoft.com/office/drawing/2016/SVG/main" r:embed="R6027dd4af00f40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2FEFC0-ED96-42DB-8363-13559DA4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CRM &amp; PRIVACY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FFEF1-90A0-4354-8834-2C3E2D6B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고객정보는 보여주는 순간부터</a:t>
            </a:r>
          </a:p>
          <a:p xmlns:a="http://schemas.openxmlformats.org/drawingml/2006/main">
            <a:pPr algn="l">
              <a:def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감사 가능한 데이터가 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198E8-E380-4B93-95CB-4E64493A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847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투숙객 목록에서 연락처를 제거하고 상세조회, 예약 화면 고객정보 확인, 엑셀 다운로드는 모두 감사 로그 이벤트로 남기도록 분리했습니다.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6CC7A-3925-49CA-922B-FEB3991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990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e043b330e472a">
            <a:extLst>
              <a:ext uri="{96DAC541-7B7A-43D3-8B79-37D633B846F1}">
                <asvg:svgBlip xmlns:asvg="http://schemas.microsoft.com/office/drawing/2016/SVG/main" r:embed="R907c6dc0298d4d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" y="32956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EA98F-6032-469A-8364-87762ED4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개인정보 열람 감사 로그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1126B-17D6-4E95-A7E4-B11492A4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923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8F69A-97FA-4A95-9D9E-A9888D14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이벤트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0F6B7-6EE4-4E23-91B8-A73A1240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2430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트리거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3BFB5-6B34-4DA6-A8F7-10D5C9E7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243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로그에 남기는 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AEE1B-BC79-4B41-8586-8E53F9E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243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2D04D-0BCE-4869-8F71-446D402C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10112-2EB5-440C-8A70-D6805DBC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767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guest.detail.view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BE0C4-FAB8-48FA-B0D4-7B62384D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7672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투숙객 상세 열람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D3F7D-B7E2-4FEA-84FC-24F0660F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7672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대상 ID, 필드명, 사용자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C378A-F9C8-4865-9C3C-CE823B3A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767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EF130-6DA2-4F2C-8035-9AEFD219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14CCE-1262-444F-92F2-0E88A54E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577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reservation.guest_detail.view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C3834-AA26-4097-8343-17BE6E42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5772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예약/타임라인 고객정보 열람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3F935-41C3-488B-B4EB-75FD9778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5772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예약번호, 고객 ID, 사용자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357D4-6531-4662-8253-1E4395BE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577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48158-F77C-4AFB-99E6-BBAC7126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5AB4E-FFAE-489B-96DC-7089C2DE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387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guest.export.download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C6EC2-021B-4995-9760-351488DA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3872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엑셀 다운로드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BF964-36A6-4D4C-B020-2D0D5AF2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3872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범위, 건수, 사용자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EA2C40-1DF8-4788-BBB7-12B03328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387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1C1414-C937-40CE-A62B-5B834654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A2FD6F-1E1C-4C84-AFD1-639F5225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0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07A0BC-B4FF-428A-9841-20830D54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626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개인정보 원문은 로그에 저장하지 않고, 누가 어떤 대상의 어떤 필드를 열람했는지만 남기는 구조입니다.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A79ACA-892B-46C2-A514-9D56F7FA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BCD54C-6943-420E-9F93-022B8198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A7A7A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48779E-AF3B-495C-AC93-C5FD600E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D1D1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538608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D11974-34E1-453E-8660-490E55C5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01e11afd342e7">
            <a:extLst>
              <a:ext uri="{96DAC541-7B7A-43D3-8B79-37D633B846F1}">
                <asvg:svgBlip xmlns:asvg="http://schemas.microsoft.com/office/drawing/2016/SVG/main" r:embed="Re05f260833d043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4286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9FF01C8-B867-40AC-9C35-6F1FB832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API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2DC5E-AA62-4086-972C-014F06FC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백엔드는 화면 뒤가 아니라,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이미 정리된 데이터 계약을 구현합니다.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C1418-7B0B-4999-976F-59CE4272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847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프론트에서 고객 입력값, 마스터 코드, 운영 이벤트, 정산 집계를 구분해 두면 외부 API 연계는 화면을 다시 만드는 일이 아니라 계약을 연결하는 일이 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E5E4A-58CE-4522-BA4A-5D62A456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b189095dc482d">
            <a:extLst>
              <a:ext uri="{96DAC541-7B7A-43D3-8B79-37D633B846F1}">
                <asvg:svgBlip xmlns:asvg="http://schemas.microsoft.com/office/drawing/2016/SVG/main" r:embed="R744cebd2bf3b45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3600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87076-C106-4464-B0F7-84C16397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외부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2FF0D-DE86-4CE1-B2B9-FE171BA8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예약 OTA, 결제, POS, 골프, 렌터카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F1705-154B-4793-A3D4-00FF7794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9EB68-72DA-4524-BD82-B93D98D4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FD8B1-ECCB-4507-BA60-937C7E6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1470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6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69c9ec3b14147">
            <a:extLst>
              <a:ext uri="{96DAC541-7B7A-43D3-8B79-37D633B846F1}">
                <asvg:svgBlip xmlns:asvg="http://schemas.microsoft.com/office/drawing/2016/SVG/main" r:embed="Rffd83158ab9048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81525" y="3600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CDA15-2A46-49F9-AA1B-E7B668BE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3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도메인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C6FE9-6B94-464F-A063-DF12C1F3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005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Reservation, Guest, Room, Folio, AuditLog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49861-8C7B-4034-B646-9EEE5EB7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386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CC1C5-A3A5-43A6-B5A7-B426F23E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9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36F6A-AE40-402E-AE65-A4CB7112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2714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C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83ec13edd49a6">
            <a:extLst>
              <a:ext uri="{96DAC541-7B7A-43D3-8B79-37D633B846F1}">
                <asvg:svgBlip xmlns:asvg="http://schemas.microsoft.com/office/drawing/2016/SVG/main" r:embed="R8c4fc6741af344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62900" y="3600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F0CEE-634B-490B-9B55-ACC4B737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3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경험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CA98FD-9CDA-481B-ADD6-B3C3D9CE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CCCCC"/>
                </a:solidFill>
                <a:latin typeface="Malgun Gothic"/>
                <a:ea typeface="Malgun Gothic"/>
                <a:cs typeface="Malgun Gothic"/>
              </a:rPr>
              <a:t>대시보드, 관리 목록, 팝업, 정산서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DD0F1-B48B-4315-9007-E0D5A0A0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97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997FF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87EF8-44AD-43BE-B9AF-05EE7D83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828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 스키마 확정 -&gt; 실패/권한/감사 정책 구현 -&gt; 실제 운영 데이터 리허설 -&gt; 고객 시연용 시나리오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1DCC8-A81B-467C-A909-46E494F7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DC4FF-DA26-4B55-926F-22C4C50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DC2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BDBDC2"/>
                </a:solidFill>
                <a:latin typeface="Malgun Gothic"/>
                <a:ea typeface="Malgun Gothic"/>
                <a:cs typeface="Malgun Gothic"/>
              </a:rPr>
              <a:t>Hotel PMS 통합 운영 대시보드 보고 - 2026.06 시연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F76A51-7E3B-4C84-A9D6-AB923F75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34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39620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2026-06-09T06:27:51.6090000Z</dcterms:created>
  <dcterms:modified xsi:type="dcterms:W3CDTF">2026-06-09T06:27:51.6090000Z</dcterms:modified>
</coreProperties>
</file>